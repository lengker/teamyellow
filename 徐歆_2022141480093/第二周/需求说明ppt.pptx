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handoutMasterIdLst>
    <p:handoutMasterId r:id="rId15"/>
  </p:handoutMasterIdLst>
  <p:sldIdLst>
    <p:sldId id="706" r:id="rId2"/>
    <p:sldId id="796" r:id="rId3"/>
    <p:sldId id="798" r:id="rId4"/>
    <p:sldId id="805" r:id="rId5"/>
    <p:sldId id="807" r:id="rId6"/>
    <p:sldId id="812" r:id="rId7"/>
    <p:sldId id="813" r:id="rId8"/>
    <p:sldId id="808" r:id="rId9"/>
    <p:sldId id="809" r:id="rId10"/>
    <p:sldId id="810" r:id="rId11"/>
    <p:sldId id="811" r:id="rId12"/>
    <p:sldId id="761" r:id="rId13"/>
  </p:sldIdLst>
  <p:sldSz cx="12195175" cy="6859588"/>
  <p:notesSz cx="6858000" cy="9144000"/>
  <p:embeddedFontLst>
    <p:embeddedFont>
      <p:font typeface="微软雅黑" panose="020B0503020204020204" pitchFamily="34" charset="-122"/>
      <p:regular r:id="rId16"/>
      <p:bold r:id="rId17"/>
    </p:embeddedFont>
  </p:embeddedFontLst>
  <p:custDataLst>
    <p:tags r:id="rId18"/>
  </p:custDataLst>
  <p:defaultTextStyle>
    <a:defPPr>
      <a:defRPr lang="zh-CN"/>
    </a:defPPr>
    <a:lvl1pPr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1pPr>
    <a:lvl2pPr marL="555625" indent="-9842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2pPr>
    <a:lvl3pPr marL="1113155" indent="-198755"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3pPr>
    <a:lvl4pPr marL="1670050" indent="-29845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4pPr>
    <a:lvl5pPr marL="2227580" indent="-398780" algn="l" defTabSz="1112520" rtl="0" fontAlgn="base">
      <a:spcBef>
        <a:spcPct val="0"/>
      </a:spcBef>
      <a:spcAft>
        <a:spcPct val="0"/>
      </a:spcAft>
      <a:defRPr sz="2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sz="2200"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48">
          <p15:clr>
            <a:srgbClr val="A4A3A4"/>
          </p15:clr>
        </p15:guide>
        <p15:guide id="2" pos="3840">
          <p15:clr>
            <a:srgbClr val="A4A3A4"/>
          </p15:clr>
        </p15:guide>
      </p15:sldGuideLst>
    </p:ext>
    <p:ext uri="{2D200454-40CA-4A62-9FC3-DE9A4176ACB9}">
      <p15:notesGuideLst xmlns:p15="http://schemas.microsoft.com/office/powerpoint/2012/main">
        <p15:guide id="1" orient="horz" pos="2879">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9694"/>
    <a:srgbClr val="F2DCDB"/>
    <a:srgbClr val="C0504D"/>
    <a:srgbClr val="B3A8A7"/>
    <a:srgbClr val="AC3719"/>
    <a:srgbClr val="7BF831"/>
    <a:srgbClr val="00FF00"/>
    <a:srgbClr val="57E6D7"/>
    <a:srgbClr val="3366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1" autoAdjust="0"/>
    <p:restoredTop sz="96208" autoAdjust="0"/>
  </p:normalViewPr>
  <p:slideViewPr>
    <p:cSldViewPr>
      <p:cViewPr>
        <p:scale>
          <a:sx n="87" d="100"/>
          <a:sy n="87" d="100"/>
        </p:scale>
        <p:origin x="52" y="148"/>
      </p:cViewPr>
      <p:guideLst>
        <p:guide orient="horz" pos="3748"/>
        <p:guide pos="384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p:cViewPr varScale="1">
        <p:scale>
          <a:sx n="94" d="100"/>
          <a:sy n="94" d="100"/>
        </p:scale>
        <p:origin x="3568" y="184"/>
      </p:cViewPr>
      <p:guideLst>
        <p:guide orient="horz" pos="2879"/>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9F92240-AAD8-8A40-B472-4B2BB0E3C869}" type="datetimeFigureOut">
              <a:rPr kumimoji="1" lang="zh-CN" altLang="en-US" smtClean="0"/>
              <a:t>2026/3/24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AC3428E-1752-044E-8E84-1206952236C4}" type="slidenum">
              <a:rPr kumimoji="1" lang="zh-CN" altLang="en-US" smtClean="0"/>
              <a:t>‹#›</a:t>
            </a:fld>
            <a:endParaRPr kumimoji="1" lang="zh-CN" altLang="en-US"/>
          </a:p>
        </p:txBody>
      </p:sp>
    </p:spTree>
    <p:extLst>
      <p:ext uri="{BB962C8B-B14F-4D97-AF65-F5344CB8AC3E}">
        <p14:creationId xmlns:p14="http://schemas.microsoft.com/office/powerpoint/2010/main" val="18659659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1113790" eaLnBrk="1" fontAlgn="auto" hangingPunct="1">
              <a:spcBef>
                <a:spcPts val="0"/>
              </a:spcBef>
              <a:spcAft>
                <a:spcPts val="0"/>
              </a:spcAft>
              <a:defRPr sz="1200">
                <a:latin typeface="+mn-lt"/>
                <a:ea typeface="+mn-ea"/>
              </a:defRPr>
            </a:lvl1pPr>
          </a:lstStyle>
          <a:p>
            <a:pPr>
              <a:defRPr/>
            </a:pPr>
            <a:fld id="{AA96FE60-AC88-4099-828E-6EAB92C99598}" type="datetimeFigureOut">
              <a:rPr lang="zh-CN" altLang="en-US"/>
              <a:t>2026/3/24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1113790"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ea typeface="宋体" panose="02010600030101010101" pitchFamily="2" charset="-122"/>
              </a:defRPr>
            </a:lvl1pPr>
          </a:lstStyle>
          <a:p>
            <a:pPr>
              <a:defRPr/>
            </a:pPr>
            <a:fld id="{8174F2B2-5209-471A-A08A-9815279348B7}" type="slidenum">
              <a:rPr lang="zh-CN" altLang="en-US"/>
              <a:t>‹#›</a:t>
            </a:fld>
            <a:endParaRPr lang="zh-CN" altLang="en-US"/>
          </a:p>
        </p:txBody>
      </p:sp>
    </p:spTree>
    <p:extLst>
      <p:ext uri="{BB962C8B-B14F-4D97-AF65-F5344CB8AC3E}">
        <p14:creationId xmlns:p14="http://schemas.microsoft.com/office/powerpoint/2010/main" val="36709120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4BE79-06FF-1B0E-30AD-428CFEA0E3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21BC3C-FB54-3CB5-2DD8-C73A3557133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F48EB43-CE3A-71A8-4B29-6565E650D61E}"/>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8961659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6C711-F0C7-E496-22F8-3362069C0E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C8A415-3D16-021D-DBE3-B7394770F5A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E2E0A1D-53BB-B273-789E-699FC5B4F840}"/>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680582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7AD8F-08E5-DB54-3E7F-F37F529371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A20643-99D2-CCF2-350E-256C6576509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45BC9A5-19DE-54ED-F3C6-471900980C2D}"/>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1208784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B0A2-BF49-B89C-9258-7D67FD5351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4B9B219-EDC4-E870-A42A-3BA1E752425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53F2E81-E8A7-6F23-1659-2E5B0017B2D2}"/>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4709571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A7890-4BED-C535-B8AC-29676E7628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BEC0A8-899E-2FD9-2148-4F4F17E3257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821CA98-81AD-0C4B-D04E-16FA50573B11}"/>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28426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89CFC-FCF8-5E84-081E-56D8476602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B99BBE-B420-19B3-DC4B-BA765B8961E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4541E09-E132-4F2A-3C79-17EC3106E538}"/>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127171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93710-10F0-BB93-0379-E624B1C22A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BCF978-2439-C142-6AC7-C243B01B9AC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0C1333D-A1A2-9381-CF42-678144FDD6CC}"/>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215960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EE85-E2B2-E0AF-800D-6760813243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752C80-275C-DC0F-384B-0C6D39AA912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B797F08-62D5-F751-6A0F-2F632D5543B8}"/>
              </a:ext>
            </a:extLst>
          </p:cNvPr>
          <p:cNvSpPr>
            <a:spLocks noGrp="1"/>
          </p:cNvSpPr>
          <p:nvPr>
            <p:ph type="body" idx="3"/>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895774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641" y="2130922"/>
            <a:ext cx="10365898" cy="1470365"/>
          </a:xfrm>
        </p:spPr>
        <p:txBody>
          <a:bodyPr/>
          <a:lstStyle>
            <a:lvl1pPr>
              <a:defRPr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击此处编辑母版标题样式</a:t>
            </a:r>
          </a:p>
        </p:txBody>
      </p:sp>
      <p:sp>
        <p:nvSpPr>
          <p:cNvPr id="3" name="副标题 2"/>
          <p:cNvSpPr>
            <a:spLocks noGrp="1"/>
          </p:cNvSpPr>
          <p:nvPr>
            <p:ph type="subTitle" idx="1"/>
          </p:nvPr>
        </p:nvSpPr>
        <p:spPr>
          <a:xfrm>
            <a:off x="1829278" y="3887101"/>
            <a:ext cx="8536623" cy="1753005"/>
          </a:xfrm>
        </p:spPr>
        <p:txBody>
          <a:bodyPr/>
          <a:lstStyle>
            <a:lvl1pPr marL="0" indent="0" algn="ctr">
              <a:buNone/>
              <a:defRPr b="1">
                <a:solidFill>
                  <a:schemeClr val="bg1">
                    <a:lumMod val="85000"/>
                  </a:schemeClr>
                </a:solidFill>
                <a:latin typeface="微软雅黑" panose="020B0503020204020204" pitchFamily="34" charset="-122"/>
                <a:ea typeface="微软雅黑" panose="020B0503020204020204" pitchFamily="34" charset="-122"/>
              </a:defRPr>
            </a:lvl1pPr>
            <a:lvl2pPr marL="556895" indent="0" algn="ctr">
              <a:buNone/>
              <a:defRPr>
                <a:solidFill>
                  <a:schemeClr val="tx1">
                    <a:tint val="75000"/>
                  </a:schemeClr>
                </a:solidFill>
              </a:defRPr>
            </a:lvl2pPr>
            <a:lvl3pPr marL="1114425" indent="0" algn="ctr">
              <a:buNone/>
              <a:defRPr>
                <a:solidFill>
                  <a:schemeClr val="tx1">
                    <a:tint val="75000"/>
                  </a:schemeClr>
                </a:solidFill>
              </a:defRPr>
            </a:lvl3pPr>
            <a:lvl4pPr marL="1671320" indent="0" algn="ctr">
              <a:buNone/>
              <a:defRPr>
                <a:solidFill>
                  <a:schemeClr val="tx1">
                    <a:tint val="75000"/>
                  </a:schemeClr>
                </a:solidFill>
              </a:defRPr>
            </a:lvl4pPr>
            <a:lvl5pPr marL="2228215" indent="0" algn="ctr">
              <a:buNone/>
              <a:defRPr>
                <a:solidFill>
                  <a:schemeClr val="tx1">
                    <a:tint val="75000"/>
                  </a:schemeClr>
                </a:solidFill>
              </a:defRPr>
            </a:lvl5pPr>
            <a:lvl6pPr marL="2785745" indent="0" algn="ctr">
              <a:buNone/>
              <a:defRPr>
                <a:solidFill>
                  <a:schemeClr val="tx1">
                    <a:tint val="75000"/>
                  </a:schemeClr>
                </a:solidFill>
              </a:defRPr>
            </a:lvl6pPr>
            <a:lvl7pPr marL="3342640" indent="0" algn="ctr">
              <a:buNone/>
              <a:defRPr>
                <a:solidFill>
                  <a:schemeClr val="tx1">
                    <a:tint val="75000"/>
                  </a:schemeClr>
                </a:solidFill>
              </a:defRPr>
            </a:lvl7pPr>
            <a:lvl8pPr marL="3899535" indent="0" algn="ctr">
              <a:buNone/>
              <a:defRPr>
                <a:solidFill>
                  <a:schemeClr val="tx1">
                    <a:tint val="75000"/>
                  </a:schemeClr>
                </a:solidFill>
              </a:defRPr>
            </a:lvl8pPr>
            <a:lvl9pPr marL="4457065" indent="0" algn="ctr">
              <a:buNone/>
              <a:defRPr>
                <a:solidFill>
                  <a:schemeClr val="tx1">
                    <a:tint val="75000"/>
                  </a:schemeClr>
                </a:solidFill>
              </a:defRPr>
            </a:lvl9pPr>
          </a:lstStyle>
          <a:p>
            <a:r>
              <a:rPr lang="zh-CN" altLang="en-US" dirty="0"/>
              <a:t>单击此处编辑母版副标题样式</a:t>
            </a:r>
          </a:p>
        </p:txBody>
      </p:sp>
      <p:pic>
        <p:nvPicPr>
          <p:cNvPr id="4" name="Picture 2"/>
          <p:cNvPicPr>
            <a:picLocks noChangeAspect="1" noChangeArrowheads="1"/>
          </p:cNvPicPr>
          <p:nvPr userDrawn="1"/>
        </p:nvPicPr>
        <p:blipFill>
          <a:blip r:embed="rId2"/>
          <a:srcRect l="24357" t="20841" r="9236" b="13012"/>
          <a:stretch>
            <a:fillRect/>
          </a:stretch>
        </p:blipFill>
        <p:spPr bwMode="auto">
          <a:xfrm>
            <a:off x="-46081" y="770"/>
            <a:ext cx="12241256" cy="6858818"/>
          </a:xfrm>
          <a:prstGeom prst="rect">
            <a:avLst/>
          </a:prstGeom>
          <a:ln>
            <a:noFill/>
          </a:ln>
          <a:effectLst>
            <a:outerShdw blurRad="292100" dist="139700" dir="2700000" algn="tl" rotWithShape="0">
              <a:srgbClr val="333333">
                <a:alpha val="65000"/>
              </a:srgbClr>
            </a:outerShdw>
          </a:effectLst>
        </p:spPr>
      </p:pic>
      <p:pic>
        <p:nvPicPr>
          <p:cNvPr id="7" name="图片 6"/>
          <p:cNvPicPr>
            <a:picLocks noChangeAspect="1"/>
          </p:cNvPicPr>
          <p:nvPr userDrawn="1"/>
        </p:nvPicPr>
        <p:blipFill>
          <a:blip r:embed="rId3"/>
          <a:stretch>
            <a:fillRect/>
          </a:stretch>
        </p:blipFill>
        <p:spPr>
          <a:xfrm>
            <a:off x="35370" y="5662042"/>
            <a:ext cx="12159806" cy="1080120"/>
          </a:xfrm>
          <a:prstGeom prst="rect">
            <a:avLst/>
          </a:prstGeom>
        </p:spPr>
      </p:pic>
      <p:pic>
        <p:nvPicPr>
          <p:cNvPr id="8" name="图片 7" descr="图片包含 游戏机, 画&#10;&#10;描述已自动生成">
            <a:extLst>
              <a:ext uri="{FF2B5EF4-FFF2-40B4-BE49-F238E27FC236}">
                <a16:creationId xmlns:a16="http://schemas.microsoft.com/office/drawing/2014/main" id="{362473A1-D8EB-F942-B9AB-8A07F0463A6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69995" y="5925920"/>
            <a:ext cx="2164554" cy="551842"/>
          </a:xfrm>
          <a:prstGeom prst="rect">
            <a:avLst/>
          </a:prstGeom>
        </p:spPr>
      </p:pic>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pic>
        <p:nvPicPr>
          <p:cNvPr id="38913" name="Picture 1"/>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 y="0"/>
            <a:ext cx="12218268" cy="798230"/>
          </a:xfrm>
          <a:prstGeom prst="rect">
            <a:avLst/>
          </a:prstGeom>
          <a:noFill/>
          <a:ln w="9525">
            <a:noFill/>
            <a:miter lim="800000"/>
            <a:headEnd/>
            <a:tailEnd/>
          </a:ln>
          <a:effectLst/>
        </p:spPr>
      </p:pic>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5" name="文本框 7"/>
          <p:cNvSpPr txBox="1"/>
          <p:nvPr userDrawn="1"/>
        </p:nvSpPr>
        <p:spPr bwMode="auto">
          <a:xfrm>
            <a:off x="2065139" y="119167"/>
            <a:ext cx="7560840" cy="646331"/>
          </a:xfrm>
          <a:prstGeom prst="rect">
            <a:avLst/>
          </a:prstGeom>
          <a:noFill/>
          <a:ln w="9525">
            <a:noFill/>
            <a:prstDash val="lgDash"/>
            <a:miter lim="800000"/>
          </a:ln>
          <a:effectLst>
            <a:glow rad="63500">
              <a:schemeClr val="accent1">
                <a:satMod val="175000"/>
                <a:alpha val="40000"/>
              </a:schemeClr>
            </a:glow>
          </a:effectLst>
        </p:spPr>
        <p:txBody>
          <a:bodyPr>
            <a:spAutoFit/>
          </a:bodyPr>
          <a:lstStyle/>
          <a:p>
            <a:pPr algn="ctr">
              <a:defRPr/>
            </a:pPr>
            <a:endParaRPr lang="zh-CN" altLang="en-US" sz="3600" b="1" dirty="0">
              <a:solidFill>
                <a:srgbClr val="00B0F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标题 1"/>
          <p:cNvSpPr>
            <a:spLocks noGrp="1"/>
          </p:cNvSpPr>
          <p:nvPr>
            <p:ph type="title"/>
          </p:nvPr>
        </p:nvSpPr>
        <p:spPr>
          <a:xfrm>
            <a:off x="336948" y="802071"/>
            <a:ext cx="7056784" cy="611034"/>
          </a:xfrm>
        </p:spPr>
        <p:txBody>
          <a:bodyPr>
            <a:noAutofit/>
          </a:bodyPr>
          <a:lstStyle>
            <a:lvl1pPr algn="l">
              <a:defRPr sz="3600" b="1" u="none">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7" name="内容占位符 2"/>
          <p:cNvSpPr>
            <a:spLocks noGrp="1"/>
          </p:cNvSpPr>
          <p:nvPr>
            <p:ph idx="1"/>
          </p:nvPr>
        </p:nvSpPr>
        <p:spPr>
          <a:xfrm>
            <a:off x="336949" y="1557586"/>
            <a:ext cx="11593286" cy="4714478"/>
          </a:xfrm>
        </p:spPr>
        <p:txBody>
          <a:bodyPr>
            <a:normAutofit/>
          </a:bodyPr>
          <a:lstStyle>
            <a:lvl1pPr>
              <a:defRPr sz="2200">
                <a:solidFill>
                  <a:schemeClr val="tx1"/>
                </a:solidFill>
                <a:latin typeface="微软雅黑" panose="020B0503020204020204" pitchFamily="34" charset="-122"/>
                <a:ea typeface="微软雅黑" panose="020B0503020204020204" pitchFamily="34" charset="-122"/>
              </a:defRPr>
            </a:lvl1pPr>
            <a:lvl2pPr>
              <a:defRPr sz="2200">
                <a:solidFill>
                  <a:schemeClr val="tx1"/>
                </a:solidFill>
                <a:latin typeface="微软雅黑" panose="020B0503020204020204" pitchFamily="34" charset="-122"/>
                <a:ea typeface="微软雅黑" panose="020B0503020204020204" pitchFamily="34" charset="-122"/>
              </a:defRPr>
            </a:lvl2pPr>
            <a:lvl3pPr>
              <a:defRPr sz="2200">
                <a:solidFill>
                  <a:schemeClr val="tx1"/>
                </a:solidFill>
                <a:latin typeface="微软雅黑" panose="020B0503020204020204" pitchFamily="34" charset="-122"/>
                <a:ea typeface="微软雅黑" panose="020B0503020204020204" pitchFamily="34" charset="-122"/>
              </a:defRPr>
            </a:lvl3pPr>
            <a:lvl4pPr marL="1671320" marR="0" indent="0" algn="l" defTabSz="1112520" rtl="0" eaLnBrk="0" fontAlgn="base" latinLnBrk="0" hangingPunct="0">
              <a:lnSpc>
                <a:spcPct val="100000"/>
              </a:lnSpc>
              <a:spcBef>
                <a:spcPct val="20000"/>
              </a:spcBef>
              <a:spcAft>
                <a:spcPct val="0"/>
              </a:spcAft>
              <a:buClrTx/>
              <a:buSzTx/>
              <a:buFont typeface="Arial" panose="020B0604020202020204" pitchFamily="34" charset="0"/>
              <a:buNone/>
              <a:defRPr sz="2200">
                <a:solidFill>
                  <a:schemeClr val="tx1"/>
                </a:solidFill>
                <a:latin typeface="微软雅黑" panose="020B0503020204020204" pitchFamily="34" charset="-122"/>
                <a:ea typeface="微软雅黑" panose="020B0503020204020204" pitchFamily="34" charset="-122"/>
              </a:defRPr>
            </a:lvl4pPr>
            <a:lvl5pPr>
              <a:defRPr sz="2200">
                <a:solidFill>
                  <a:schemeClr val="bg1"/>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en-US" altLang="zh-CN" dirty="0"/>
              <a:t>From KPI to ROI </a:t>
            </a:r>
          </a:p>
          <a:p>
            <a:pPr lvl="3"/>
            <a:endParaRPr lang="zh-CN" altLang="en-US" dirty="0"/>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文本框 6"/>
          <p:cNvSpPr txBox="1">
            <a:spLocks noChangeArrowheads="1"/>
          </p:cNvSpPr>
          <p:nvPr userDrawn="1"/>
        </p:nvSpPr>
        <p:spPr bwMode="auto">
          <a:xfrm>
            <a:off x="10650538" y="6540500"/>
            <a:ext cx="1558925" cy="338138"/>
          </a:xfrm>
          <a:prstGeom prst="rect">
            <a:avLst/>
          </a:prstGeom>
          <a:noFill/>
          <a:ln>
            <a:noFill/>
          </a:ln>
        </p:spPr>
        <p:txBody>
          <a:bodyPr wrap="none">
            <a:spAutoFit/>
          </a:bodyPr>
          <a:lstStyle>
            <a:lvl1pPr>
              <a:defRPr sz="2200">
                <a:solidFill>
                  <a:schemeClr val="tx1"/>
                </a:solidFill>
                <a:latin typeface="Calibri" panose="020F0502020204030204" pitchFamily="34" charset="0"/>
                <a:ea typeface="宋体" panose="02010600030101010101" pitchFamily="2" charset="-122"/>
              </a:defRPr>
            </a:lvl1pPr>
            <a:lvl2pPr marL="742950" indent="-285750">
              <a:defRPr sz="2200">
                <a:solidFill>
                  <a:schemeClr val="tx1"/>
                </a:solidFill>
                <a:latin typeface="Calibri" panose="020F0502020204030204" pitchFamily="34" charset="0"/>
                <a:ea typeface="宋体" panose="02010600030101010101" pitchFamily="2" charset="-122"/>
              </a:defRPr>
            </a:lvl2pPr>
            <a:lvl3pPr marL="1143000" indent="-228600">
              <a:defRPr sz="2200">
                <a:solidFill>
                  <a:schemeClr val="tx1"/>
                </a:solidFill>
                <a:latin typeface="Calibri" panose="020F0502020204030204" pitchFamily="34" charset="0"/>
                <a:ea typeface="宋体" panose="02010600030101010101" pitchFamily="2" charset="-122"/>
              </a:defRPr>
            </a:lvl3pPr>
            <a:lvl4pPr marL="1600200" indent="-228600">
              <a:defRPr sz="2200">
                <a:solidFill>
                  <a:schemeClr val="tx1"/>
                </a:solidFill>
                <a:latin typeface="Calibri" panose="020F0502020204030204" pitchFamily="34" charset="0"/>
                <a:ea typeface="宋体" panose="02010600030101010101" pitchFamily="2" charset="-122"/>
              </a:defRPr>
            </a:lvl4pPr>
            <a:lvl5pPr marL="2057400" indent="-228600">
              <a:defRPr sz="2200">
                <a:solidFill>
                  <a:schemeClr val="tx1"/>
                </a:solidFill>
                <a:latin typeface="Calibri" panose="020F0502020204030204" pitchFamily="34" charset="0"/>
                <a:ea typeface="宋体" panose="02010600030101010101" pitchFamily="2" charset="-122"/>
              </a:defRPr>
            </a:lvl5pPr>
            <a:lvl6pPr marL="25146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6pPr>
            <a:lvl7pPr marL="29718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7pPr>
            <a:lvl8pPr marL="34290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8pPr>
            <a:lvl9pPr marL="3886200" indent="-228600" defTabSz="1112520" eaLnBrk="0" fontAlgn="base" hangingPunct="0">
              <a:spcBef>
                <a:spcPct val="0"/>
              </a:spcBef>
              <a:spcAft>
                <a:spcPct val="0"/>
              </a:spcAft>
              <a:defRPr sz="2200">
                <a:solidFill>
                  <a:schemeClr val="tx1"/>
                </a:solidFill>
                <a:latin typeface="Calibri" panose="020F0502020204030204" pitchFamily="34" charset="0"/>
                <a:ea typeface="宋体" panose="02010600030101010101" pitchFamily="2" charset="-122"/>
              </a:defRPr>
            </a:lvl9pPr>
          </a:lstStyle>
          <a:p>
            <a:pPr>
              <a:defRPr/>
            </a:pPr>
            <a:r>
              <a:rPr lang="en-US" altLang="zh-CN" sz="1600">
                <a:solidFill>
                  <a:schemeClr val="bg1"/>
                </a:solidFill>
              </a:rPr>
              <a:t>From KPI To ROI </a:t>
            </a:r>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a:defRPr/>
            </a:pPr>
            <a:fld id="{E302B5DB-DC4A-471D-8BB5-DE1AA9BABD40}" type="datetimeFigureOut">
              <a:rPr lang="zh-CN" altLang="en-US" smtClean="0"/>
              <a:t>2026/3/24</a:t>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470F5791-85C4-45CA-BC8F-4EAC80EBF0A6}" type="slidenum">
              <a:rPr lang="zh-CN" altLang="en-US" smtClean="0"/>
              <a:t>‹#›</a:t>
            </a:fld>
            <a:endParaRPr lang="zh-CN" alt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E302B5DB-DC4A-471D-8BB5-DE1AA9BABD40}" type="datetimeFigureOut">
              <a:rPr lang="zh-CN" altLang="en-US"/>
              <a:t>2026/3/24</a:t>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470F5791-85C4-45CA-BC8F-4EAC80EBF0A6}" type="slidenum">
              <a:rPr lang="zh-CN" altLang="en-US"/>
              <a:t>‹#›</a:t>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5975" cy="1143000"/>
          </a:xfrm>
          <a:prstGeom prst="rect">
            <a:avLst/>
          </a:prstGeom>
          <a:noFill/>
          <a:ln>
            <a:noFill/>
          </a:ln>
        </p:spPr>
        <p:txBody>
          <a:bodyPr vert="horz" wrap="square" lIns="111420" tIns="55710" rIns="111420" bIns="5571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0"/>
            <a:ext cx="10975975" cy="4527550"/>
          </a:xfrm>
          <a:prstGeom prst="rect">
            <a:avLst/>
          </a:prstGeom>
          <a:noFill/>
          <a:ln>
            <a:noFill/>
          </a:ln>
        </p:spPr>
        <p:txBody>
          <a:bodyPr vert="horz" wrap="square" lIns="111420" tIns="55710" rIns="111420" bIns="5571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7938"/>
            <a:ext cx="2846388" cy="365125"/>
          </a:xfrm>
          <a:prstGeom prst="rect">
            <a:avLst/>
          </a:prstGeom>
        </p:spPr>
        <p:txBody>
          <a:bodyPr vert="horz" lIns="111420" tIns="55710" rIns="111420" bIns="55710" rtlCol="0" anchor="ctr"/>
          <a:lstStyle>
            <a:lvl1pPr algn="l" defTabSz="1113790" eaLnBrk="1" fontAlgn="auto" hangingPunct="1">
              <a:spcBef>
                <a:spcPts val="0"/>
              </a:spcBef>
              <a:spcAft>
                <a:spcPts val="0"/>
              </a:spcAft>
              <a:defRPr sz="1500">
                <a:solidFill>
                  <a:schemeClr val="tx1">
                    <a:tint val="75000"/>
                  </a:schemeClr>
                </a:solidFill>
                <a:latin typeface="+mn-lt"/>
                <a:ea typeface="+mn-ea"/>
              </a:defRPr>
            </a:lvl1pPr>
          </a:lstStyle>
          <a:p>
            <a:pPr>
              <a:defRPr/>
            </a:pPr>
            <a:fld id="{E302B5DB-DC4A-471D-8BB5-DE1AA9BABD40}" type="datetimeFigureOut">
              <a:rPr lang="zh-CN" altLang="en-US"/>
              <a:t>2026/3/24</a:t>
            </a:fld>
            <a:endParaRPr lang="zh-CN" altLang="en-US"/>
          </a:p>
        </p:txBody>
      </p:sp>
      <p:sp>
        <p:nvSpPr>
          <p:cNvPr id="5" name="页脚占位符 4"/>
          <p:cNvSpPr>
            <a:spLocks noGrp="1"/>
          </p:cNvSpPr>
          <p:nvPr>
            <p:ph type="ftr" sz="quarter" idx="3"/>
          </p:nvPr>
        </p:nvSpPr>
        <p:spPr>
          <a:xfrm>
            <a:off x="4167188" y="6357938"/>
            <a:ext cx="3860800" cy="365125"/>
          </a:xfrm>
          <a:prstGeom prst="rect">
            <a:avLst/>
          </a:prstGeom>
        </p:spPr>
        <p:txBody>
          <a:bodyPr vert="horz" lIns="111420" tIns="55710" rIns="111420" bIns="55710" rtlCol="0" anchor="ctr"/>
          <a:lstStyle>
            <a:lvl1pPr algn="ctr" defTabSz="1113790" eaLnBrk="1" fontAlgn="auto" hangingPunct="1">
              <a:spcBef>
                <a:spcPts val="0"/>
              </a:spcBef>
              <a:spcAft>
                <a:spcPts val="0"/>
              </a:spcAft>
              <a:defRPr sz="15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9188" y="6357938"/>
            <a:ext cx="2846387" cy="365125"/>
          </a:xfrm>
          <a:prstGeom prst="rect">
            <a:avLst/>
          </a:prstGeom>
        </p:spPr>
        <p:txBody>
          <a:bodyPr vert="horz" wrap="square" lIns="111420" tIns="55710" rIns="111420" bIns="55710" numCol="1" anchor="ctr" anchorCtr="0" compatLnSpc="1"/>
          <a:lstStyle>
            <a:lvl1pPr algn="r" eaLnBrk="1" hangingPunct="1">
              <a:defRPr sz="1500">
                <a:solidFill>
                  <a:srgbClr val="898989"/>
                </a:solidFill>
                <a:ea typeface="宋体" panose="02010600030101010101" pitchFamily="2" charset="-122"/>
              </a:defRPr>
            </a:lvl1pPr>
          </a:lstStyle>
          <a:p>
            <a:pPr>
              <a:defRPr/>
            </a:pPr>
            <a:fld id="{470F5791-85C4-45CA-BC8F-4EAC80EBF0A6}"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slow">
    <p:push dir="u"/>
  </p:transition>
  <p:txStyles>
    <p:titleStyle>
      <a:lvl1pPr algn="ctr" defTabSz="1112520" rtl="0" eaLnBrk="0" fontAlgn="base" hangingPunct="0">
        <a:spcBef>
          <a:spcPct val="0"/>
        </a:spcBef>
        <a:spcAft>
          <a:spcPct val="0"/>
        </a:spcAft>
        <a:defRPr sz="5400" kern="1200">
          <a:solidFill>
            <a:schemeClr val="tx1"/>
          </a:solidFill>
          <a:latin typeface="+mj-lt"/>
          <a:ea typeface="+mj-ea"/>
          <a:cs typeface="+mj-cs"/>
        </a:defRPr>
      </a:lvl1pPr>
      <a:lvl2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2pPr>
      <a:lvl3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3pPr>
      <a:lvl4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4pPr>
      <a:lvl5pPr algn="ctr" defTabSz="1112520" rtl="0" eaLnBrk="0" fontAlgn="base" hangingPunct="0">
        <a:spcBef>
          <a:spcPct val="0"/>
        </a:spcBef>
        <a:spcAft>
          <a:spcPct val="0"/>
        </a:spcAft>
        <a:defRPr sz="5400">
          <a:solidFill>
            <a:schemeClr val="tx1"/>
          </a:solidFill>
          <a:latin typeface="Calibri" panose="020F0502020204030204" pitchFamily="34" charset="0"/>
          <a:ea typeface="宋体" panose="02010600030101010101" pitchFamily="2" charset="-122"/>
        </a:defRPr>
      </a:lvl5pPr>
      <a:lvl6pPr marL="4572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6pPr>
      <a:lvl7pPr marL="9144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7pPr>
      <a:lvl8pPr marL="13716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8pPr>
      <a:lvl9pPr marL="1828800" algn="ctr" defTabSz="1112520" rtl="0" fontAlgn="base">
        <a:spcBef>
          <a:spcPct val="0"/>
        </a:spcBef>
        <a:spcAft>
          <a:spcPct val="0"/>
        </a:spcAft>
        <a:defRPr sz="5400">
          <a:solidFill>
            <a:schemeClr val="tx1"/>
          </a:solidFill>
          <a:latin typeface="Calibri" panose="020F0502020204030204" pitchFamily="34" charset="0"/>
          <a:ea typeface="宋体" panose="02010600030101010101" pitchFamily="2" charset="-122"/>
        </a:defRPr>
      </a:lvl9pPr>
    </p:titleStyle>
    <p:bodyStyle>
      <a:lvl1pPr marL="417830" indent="-417830" algn="l" defTabSz="1112520" rtl="0" eaLnBrk="0" fontAlgn="base" hangingPunct="0">
        <a:spcBef>
          <a:spcPct val="20000"/>
        </a:spcBef>
        <a:spcAft>
          <a:spcPct val="0"/>
        </a:spcAft>
        <a:buFont typeface="Arial" panose="020B0604020202020204" pitchFamily="34" charset="0"/>
        <a:buChar char="•"/>
        <a:defRPr sz="3900" kern="1200">
          <a:solidFill>
            <a:schemeClr val="tx1"/>
          </a:solidFill>
          <a:latin typeface="+mn-lt"/>
          <a:ea typeface="+mn-ea"/>
          <a:cs typeface="+mn-cs"/>
        </a:defRPr>
      </a:lvl1pPr>
      <a:lvl2pPr marL="904875" indent="-347980" algn="l" defTabSz="1112520" rtl="0" eaLnBrk="0" fontAlgn="base" hangingPunct="0">
        <a:spcBef>
          <a:spcPct val="20000"/>
        </a:spcBef>
        <a:spcAft>
          <a:spcPct val="0"/>
        </a:spcAft>
        <a:buFont typeface="Arial" panose="020B0604020202020204" pitchFamily="34" charset="0"/>
        <a:buChar char="–"/>
        <a:defRPr sz="3400" kern="1200">
          <a:solidFill>
            <a:schemeClr val="tx1"/>
          </a:solidFill>
          <a:latin typeface="+mn-lt"/>
          <a:ea typeface="+mn-ea"/>
          <a:cs typeface="+mn-cs"/>
        </a:defRPr>
      </a:lvl2pPr>
      <a:lvl3pPr marL="1392555" indent="-278130" algn="l" defTabSz="1112520"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4945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506980" indent="-278130" algn="l" defTabSz="111252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306387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62140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178300"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735195" indent="-278765" algn="l" defTabSz="11137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113790" rtl="0" eaLnBrk="1" latinLnBrk="0" hangingPunct="1">
        <a:defRPr sz="2200" kern="1200">
          <a:solidFill>
            <a:schemeClr val="tx1"/>
          </a:solidFill>
          <a:latin typeface="+mn-lt"/>
          <a:ea typeface="+mn-ea"/>
          <a:cs typeface="+mn-cs"/>
        </a:defRPr>
      </a:lvl1pPr>
      <a:lvl2pPr marL="556895" algn="l" defTabSz="1113790" rtl="0" eaLnBrk="1" latinLnBrk="0" hangingPunct="1">
        <a:defRPr sz="2200" kern="1200">
          <a:solidFill>
            <a:schemeClr val="tx1"/>
          </a:solidFill>
          <a:latin typeface="+mn-lt"/>
          <a:ea typeface="+mn-ea"/>
          <a:cs typeface="+mn-cs"/>
        </a:defRPr>
      </a:lvl2pPr>
      <a:lvl3pPr marL="1114425" algn="l" defTabSz="1113790" rtl="0" eaLnBrk="1" latinLnBrk="0" hangingPunct="1">
        <a:defRPr sz="2200" kern="1200">
          <a:solidFill>
            <a:schemeClr val="tx1"/>
          </a:solidFill>
          <a:latin typeface="+mn-lt"/>
          <a:ea typeface="+mn-ea"/>
          <a:cs typeface="+mn-cs"/>
        </a:defRPr>
      </a:lvl3pPr>
      <a:lvl4pPr marL="1671320" algn="l" defTabSz="1113790" rtl="0" eaLnBrk="1" latinLnBrk="0" hangingPunct="1">
        <a:defRPr sz="2200" kern="1200">
          <a:solidFill>
            <a:schemeClr val="tx1"/>
          </a:solidFill>
          <a:latin typeface="+mn-lt"/>
          <a:ea typeface="+mn-ea"/>
          <a:cs typeface="+mn-cs"/>
        </a:defRPr>
      </a:lvl4pPr>
      <a:lvl5pPr marL="2228215" algn="l" defTabSz="1113790" rtl="0" eaLnBrk="1" latinLnBrk="0" hangingPunct="1">
        <a:defRPr sz="2200" kern="1200">
          <a:solidFill>
            <a:schemeClr val="tx1"/>
          </a:solidFill>
          <a:latin typeface="+mn-lt"/>
          <a:ea typeface="+mn-ea"/>
          <a:cs typeface="+mn-cs"/>
        </a:defRPr>
      </a:lvl5pPr>
      <a:lvl6pPr marL="2785745" algn="l" defTabSz="1113790" rtl="0" eaLnBrk="1" latinLnBrk="0" hangingPunct="1">
        <a:defRPr sz="2200" kern="1200">
          <a:solidFill>
            <a:schemeClr val="tx1"/>
          </a:solidFill>
          <a:latin typeface="+mn-lt"/>
          <a:ea typeface="+mn-ea"/>
          <a:cs typeface="+mn-cs"/>
        </a:defRPr>
      </a:lvl6pPr>
      <a:lvl7pPr marL="3342640" algn="l" defTabSz="1113790" rtl="0" eaLnBrk="1" latinLnBrk="0" hangingPunct="1">
        <a:defRPr sz="2200" kern="1200">
          <a:solidFill>
            <a:schemeClr val="tx1"/>
          </a:solidFill>
          <a:latin typeface="+mn-lt"/>
          <a:ea typeface="+mn-ea"/>
          <a:cs typeface="+mn-cs"/>
        </a:defRPr>
      </a:lvl7pPr>
      <a:lvl8pPr marL="3899535" algn="l" defTabSz="1113790" rtl="0" eaLnBrk="1" latinLnBrk="0" hangingPunct="1">
        <a:defRPr sz="2200" kern="1200">
          <a:solidFill>
            <a:schemeClr val="tx1"/>
          </a:solidFill>
          <a:latin typeface="+mn-lt"/>
          <a:ea typeface="+mn-ea"/>
          <a:cs typeface="+mn-cs"/>
        </a:defRPr>
      </a:lvl8pPr>
      <a:lvl9pPr marL="4457065" algn="l" defTabSz="1113790" rtl="0" eaLnBrk="1" latinLnBrk="0" hangingPunct="1">
        <a:defRPr sz="2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5091E0A-E1FE-2B30-1BA4-E1085CFF17DE}"/>
              </a:ext>
            </a:extLst>
          </p:cNvPr>
          <p:cNvSpPr/>
          <p:nvPr/>
        </p:nvSpPr>
        <p:spPr>
          <a:xfrm>
            <a:off x="9625979" y="5778608"/>
            <a:ext cx="2448272" cy="86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52971" y="2133650"/>
            <a:ext cx="11161240" cy="1428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可视化 </a:t>
            </a:r>
            <a:r>
              <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ATC </a:t>
            </a: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地空通话语音标注系统 （</a:t>
            </a:r>
            <a:r>
              <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A-2</a:t>
            </a: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模块）</a:t>
            </a:r>
            <a:endParaRPr lang="en-US" altLang="zh-CN"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endParaRPr>
          </a:p>
          <a:p>
            <a:pPr algn="ctr"/>
            <a:r>
              <a:rPr lang="zh-CN" alt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itchFamily="34" charset="-122"/>
                <a:ea typeface="微软雅黑" pitchFamily="34" charset="-122"/>
              </a:rPr>
              <a:t>需求规格说明</a:t>
            </a:r>
          </a:p>
        </p:txBody>
      </p:sp>
      <p:pic>
        <p:nvPicPr>
          <p:cNvPr id="2" name="图片 1">
            <a:extLst>
              <a:ext uri="{FF2B5EF4-FFF2-40B4-BE49-F238E27FC236}">
                <a16:creationId xmlns:a16="http://schemas.microsoft.com/office/drawing/2014/main" id="{A061C46B-54FE-858E-B17A-D39082501C2F}"/>
              </a:ext>
            </a:extLst>
          </p:cNvPr>
          <p:cNvPicPr>
            <a:picLocks noChangeAspect="1"/>
          </p:cNvPicPr>
          <p:nvPr/>
        </p:nvPicPr>
        <p:blipFill>
          <a:blip r:embed="rId2"/>
          <a:stretch>
            <a:fillRect/>
          </a:stretch>
        </p:blipFill>
        <p:spPr>
          <a:xfrm>
            <a:off x="10764365" y="5763183"/>
            <a:ext cx="949846" cy="949846"/>
          </a:xfrm>
          <a:prstGeom prst="rect">
            <a:avLst/>
          </a:prstGeom>
        </p:spPr>
      </p:pic>
      <p:sp>
        <p:nvSpPr>
          <p:cNvPr id="4" name="文本框 3">
            <a:extLst>
              <a:ext uri="{FF2B5EF4-FFF2-40B4-BE49-F238E27FC236}">
                <a16:creationId xmlns:a16="http://schemas.microsoft.com/office/drawing/2014/main" id="{06BA7E08-9006-E245-F503-DDD80340230C}"/>
              </a:ext>
            </a:extLst>
          </p:cNvPr>
          <p:cNvSpPr txBox="1"/>
          <p:nvPr/>
        </p:nvSpPr>
        <p:spPr bwMode="auto">
          <a:xfrm>
            <a:off x="9193931" y="5013970"/>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汇报人：徐歆</a:t>
            </a:r>
          </a:p>
        </p:txBody>
      </p:sp>
      <p:sp>
        <p:nvSpPr>
          <p:cNvPr id="5" name="文本框 4">
            <a:extLst>
              <a:ext uri="{FF2B5EF4-FFF2-40B4-BE49-F238E27FC236}">
                <a16:creationId xmlns:a16="http://schemas.microsoft.com/office/drawing/2014/main" id="{FEB180F6-1F0E-EB19-AF62-249449C5F2BB}"/>
              </a:ext>
            </a:extLst>
          </p:cNvPr>
          <p:cNvSpPr txBox="1"/>
          <p:nvPr/>
        </p:nvSpPr>
        <p:spPr bwMode="auto">
          <a:xfrm>
            <a:off x="9193931" y="4631651"/>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组   别：第</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组</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D4849A6A-EC27-D9DC-F601-C7F6F943E42D}"/>
              </a:ext>
            </a:extLst>
          </p:cNvPr>
          <p:cNvSpPr/>
          <p:nvPr/>
        </p:nvSpPr>
        <p:spPr>
          <a:xfrm>
            <a:off x="2903033" y="5454198"/>
            <a:ext cx="8568952" cy="79208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9E4E62CF-7E47-CFC0-2530-06C825AE0832}"/>
              </a:ext>
            </a:extLst>
          </p:cNvPr>
          <p:cNvSpPr/>
          <p:nvPr/>
        </p:nvSpPr>
        <p:spPr>
          <a:xfrm>
            <a:off x="2897409" y="3474079"/>
            <a:ext cx="8568952" cy="134920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DA668421-31F1-7D40-E43F-FE5956D2DFEB}"/>
              </a:ext>
            </a:extLst>
          </p:cNvPr>
          <p:cNvSpPr/>
          <p:nvPr/>
        </p:nvSpPr>
        <p:spPr>
          <a:xfrm>
            <a:off x="2929235" y="1341562"/>
            <a:ext cx="8568952" cy="160481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2" name="矩形 25"/>
          <p:cNvSpPr/>
          <p:nvPr/>
        </p:nvSpPr>
        <p:spPr>
          <a:xfrm>
            <a:off x="697609" y="1764977"/>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p:cNvSpPr/>
          <p:nvPr/>
        </p:nvSpPr>
        <p:spPr>
          <a:xfrm>
            <a:off x="942862" y="1870923"/>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编写目的</a:t>
            </a:r>
          </a:p>
        </p:txBody>
      </p:sp>
      <p:sp>
        <p:nvSpPr>
          <p:cNvPr id="1048765" name="TextBox 11"/>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文档介绍</a:t>
            </a:r>
          </a:p>
        </p:txBody>
      </p:sp>
      <p:sp>
        <p:nvSpPr>
          <p:cNvPr id="6" name="矩形 1"/>
          <p:cNvSpPr/>
          <p:nvPr/>
        </p:nvSpPr>
        <p:spPr>
          <a:xfrm>
            <a:off x="3145259" y="1403179"/>
            <a:ext cx="8208912" cy="1477328"/>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本文档把前期可行性分析和实施方案里的高层业务描述全部转化成开发团队可以直接编码、度量和测试的工程细节。它是可视化</a:t>
            </a:r>
            <a:r>
              <a:rPr lang="en-US" altLang="zh-CN" sz="1800" dirty="0">
                <a:latin typeface="微软雅黑" panose="020B0503020204020204" pitchFamily="34" charset="-122"/>
                <a:ea typeface="微软雅黑" panose="020B0503020204020204" pitchFamily="34" charset="-122"/>
              </a:rPr>
              <a:t>ATC</a:t>
            </a:r>
            <a:r>
              <a:rPr lang="zh-CN" altLang="zh-CN" sz="1800" dirty="0">
                <a:latin typeface="微软雅黑" panose="020B0503020204020204" pitchFamily="34" charset="-122"/>
                <a:ea typeface="微软雅黑" panose="020B0503020204020204" pitchFamily="34" charset="-122"/>
              </a:rPr>
              <a:t>地空通话语音标注系统中语音处理模块（</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）模块从概念到落地的唯一技术契约，后端开发人员用它编写核心脚本和接口，测试团队用它搭建单元测试和集成测试用例，运维人员用它设定监控阈值，从而彻底消除多团队并行开发时的架构不一致问题。</a:t>
            </a:r>
          </a:p>
        </p:txBody>
      </p:sp>
      <p:sp>
        <p:nvSpPr>
          <p:cNvPr id="2" name="矩形 25">
            <a:extLst>
              <a:ext uri="{FF2B5EF4-FFF2-40B4-BE49-F238E27FC236}">
                <a16:creationId xmlns:a16="http://schemas.microsoft.com/office/drawing/2014/main" id="{75B94AF9-1E0B-E7DC-E408-036AED41737C}"/>
              </a:ext>
            </a:extLst>
          </p:cNvPr>
          <p:cNvSpPr/>
          <p:nvPr/>
        </p:nvSpPr>
        <p:spPr>
          <a:xfrm>
            <a:off x="696987" y="3762401"/>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4">
            <a:extLst>
              <a:ext uri="{FF2B5EF4-FFF2-40B4-BE49-F238E27FC236}">
                <a16:creationId xmlns:a16="http://schemas.microsoft.com/office/drawing/2014/main" id="{92867ACA-E303-0D41-B81B-1C369B073370}"/>
              </a:ext>
            </a:extLst>
          </p:cNvPr>
          <p:cNvSpPr/>
          <p:nvPr/>
        </p:nvSpPr>
        <p:spPr>
          <a:xfrm>
            <a:off x="942242" y="3868347"/>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文档范围</a:t>
            </a:r>
          </a:p>
        </p:txBody>
      </p:sp>
      <p:sp>
        <p:nvSpPr>
          <p:cNvPr id="5" name="矩形 25">
            <a:extLst>
              <a:ext uri="{FF2B5EF4-FFF2-40B4-BE49-F238E27FC236}">
                <a16:creationId xmlns:a16="http://schemas.microsoft.com/office/drawing/2014/main" id="{321B4BF8-620A-F923-A200-D6B38073E27C}"/>
              </a:ext>
            </a:extLst>
          </p:cNvPr>
          <p:cNvSpPr/>
          <p:nvPr/>
        </p:nvSpPr>
        <p:spPr>
          <a:xfrm>
            <a:off x="702611" y="5575756"/>
            <a:ext cx="1701094"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4">
            <a:extLst>
              <a:ext uri="{FF2B5EF4-FFF2-40B4-BE49-F238E27FC236}">
                <a16:creationId xmlns:a16="http://schemas.microsoft.com/office/drawing/2014/main" id="{DA2B8596-FD7E-0F45-DC9A-338B2636712E}"/>
              </a:ext>
            </a:extLst>
          </p:cNvPr>
          <p:cNvSpPr/>
          <p:nvPr/>
        </p:nvSpPr>
        <p:spPr>
          <a:xfrm>
            <a:off x="947867" y="5681702"/>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读者对象</a:t>
            </a:r>
          </a:p>
        </p:txBody>
      </p:sp>
      <p:sp>
        <p:nvSpPr>
          <p:cNvPr id="4" name="矩形 1">
            <a:extLst>
              <a:ext uri="{FF2B5EF4-FFF2-40B4-BE49-F238E27FC236}">
                <a16:creationId xmlns:a16="http://schemas.microsoft.com/office/drawing/2014/main" id="{46FE7D0E-E059-6732-BF4C-0AC7C685B8BD}"/>
              </a:ext>
            </a:extLst>
          </p:cNvPr>
          <p:cNvSpPr/>
          <p:nvPr/>
        </p:nvSpPr>
        <p:spPr>
          <a:xfrm>
            <a:off x="2997413" y="3565685"/>
            <a:ext cx="8208912" cy="1200329"/>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本文档限定在</a:t>
            </a:r>
            <a:r>
              <a:rPr lang="en-US" altLang="zh-CN" sz="1800" dirty="0">
                <a:latin typeface="微软雅黑" panose="020B0503020204020204" pitchFamily="34" charset="-122"/>
                <a:ea typeface="微软雅黑" panose="020B0503020204020204" pitchFamily="34" charset="-122"/>
              </a:rPr>
              <a:t>A-2</a:t>
            </a:r>
            <a:r>
              <a:rPr lang="zh-CN" altLang="zh-CN" sz="1800" dirty="0">
                <a:latin typeface="微软雅黑" panose="020B0503020204020204" pitchFamily="34" charset="-122"/>
                <a:ea typeface="微软雅黑" panose="020B0503020204020204" pitchFamily="34" charset="-122"/>
              </a:rPr>
              <a:t>模块内部业务流转和与</a:t>
            </a:r>
            <a:r>
              <a:rPr lang="en-US" altLang="zh-CN" sz="1800" dirty="0">
                <a:latin typeface="微软雅黑" panose="020B0503020204020204" pitchFamily="34" charset="-122"/>
                <a:ea typeface="微软雅黑" panose="020B0503020204020204" pitchFamily="34" charset="-122"/>
              </a:rPr>
              <a:t>A-3</a:t>
            </a:r>
            <a:r>
              <a:rPr lang="zh-CN"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A-5</a:t>
            </a:r>
            <a:r>
              <a:rPr lang="zh-CN" altLang="zh-CN" sz="1800" dirty="0">
                <a:latin typeface="微软雅黑" panose="020B0503020204020204" pitchFamily="34" charset="-122"/>
                <a:ea typeface="微软雅黑" panose="020B0503020204020204" pitchFamily="34" charset="-122"/>
              </a:rPr>
              <a:t>的边界交互上。它主要包括了项目介绍，需求说明和项目的功能模块需求。它详细规定了自动录音抓取引擎的底层实现、极低内存下的非阻塞音频流控制、异步通信机制、返回数据解析算法以及入库数据格式。</a:t>
            </a:r>
          </a:p>
        </p:txBody>
      </p:sp>
      <p:sp>
        <p:nvSpPr>
          <p:cNvPr id="8" name="矩形 1">
            <a:extLst>
              <a:ext uri="{FF2B5EF4-FFF2-40B4-BE49-F238E27FC236}">
                <a16:creationId xmlns:a16="http://schemas.microsoft.com/office/drawing/2014/main" id="{654101B5-1D98-185C-9638-94867EA9B30E}"/>
              </a:ext>
            </a:extLst>
          </p:cNvPr>
          <p:cNvSpPr/>
          <p:nvPr/>
        </p:nvSpPr>
        <p:spPr>
          <a:xfrm>
            <a:off x="3083053" y="5541425"/>
            <a:ext cx="8208912" cy="646331"/>
          </a:xfrm>
          <a:prstGeom prst="rect">
            <a:avLst/>
          </a:prstGeom>
        </p:spPr>
        <p:txBody>
          <a:bodyPr wrap="square">
            <a:spAutoFit/>
          </a:bodyPr>
          <a:lstStyle/>
          <a:p>
            <a:pPr algn="just"/>
            <a:r>
              <a:rPr lang="zh-CN" altLang="zh-CN" sz="1800" dirty="0">
                <a:latin typeface="微软雅黑" panose="020B0503020204020204" pitchFamily="34" charset="-122"/>
                <a:ea typeface="微软雅黑" panose="020B0503020204020204" pitchFamily="34" charset="-122"/>
              </a:rPr>
              <a:t>本文档的主要读者包括项目开发人员、系统架构设计人员、项目管理人员、测试人员和项目评审人员。</a:t>
            </a:r>
          </a:p>
        </p:txBody>
      </p:sp>
    </p:spTree>
    <p:extLst>
      <p:ext uri="{BB962C8B-B14F-4D97-AF65-F5344CB8AC3E}">
        <p14:creationId xmlns:p14="http://schemas.microsoft.com/office/powerpoint/2010/main" val="332004193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8503AD12-9E9C-3306-66C6-7E0199704825}"/>
              </a:ext>
            </a:extLst>
          </p:cNvPr>
          <p:cNvSpPr/>
          <p:nvPr/>
        </p:nvSpPr>
        <p:spPr>
          <a:xfrm>
            <a:off x="1021023" y="1735642"/>
            <a:ext cx="4176464" cy="4971615"/>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2" name="矩形 25"/>
          <p:cNvSpPr/>
          <p:nvPr/>
        </p:nvSpPr>
        <p:spPr>
          <a:xfrm>
            <a:off x="1633091" y="977529"/>
            <a:ext cx="295232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p:cNvSpPr/>
          <p:nvPr/>
        </p:nvSpPr>
        <p:spPr>
          <a:xfrm>
            <a:off x="1963901" y="1083474"/>
            <a:ext cx="2189469" cy="400110"/>
          </a:xfrm>
          <a:prstGeom prst="rect">
            <a:avLst/>
          </a:prstGeom>
        </p:spPr>
        <p:txBody>
          <a:bodyPr wrap="squar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整体需求</a:t>
            </a:r>
          </a:p>
        </p:txBody>
      </p:sp>
      <p:sp>
        <p:nvSpPr>
          <p:cNvPr id="1048765" name="TextBox 11"/>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需求说明</a:t>
            </a:r>
          </a:p>
        </p:txBody>
      </p:sp>
      <p:sp>
        <p:nvSpPr>
          <p:cNvPr id="6" name="矩形 1"/>
          <p:cNvSpPr/>
          <p:nvPr/>
        </p:nvSpPr>
        <p:spPr>
          <a:xfrm>
            <a:off x="1234291" y="1936944"/>
            <a:ext cx="3749927" cy="4708981"/>
          </a:xfrm>
          <a:prstGeom prst="rect">
            <a:avLst/>
          </a:prstGeom>
          <a:ln>
            <a:noFill/>
            <a:prstDash val="dash"/>
          </a:ln>
        </p:spPr>
        <p:txBody>
          <a:bodyPr wrap="square">
            <a:spAutoFit/>
          </a:bodyPr>
          <a:lstStyle/>
          <a:p>
            <a:r>
              <a:rPr lang="zh-CN" altLang="zh-CN" sz="2000" dirty="0"/>
              <a:t>根据项目整体规划，可视化</a:t>
            </a:r>
            <a:r>
              <a:rPr lang="en-US" altLang="zh-CN" sz="2000" dirty="0"/>
              <a:t>ATC</a:t>
            </a:r>
            <a:r>
              <a:rPr lang="zh-CN" altLang="zh-CN" sz="2000" dirty="0"/>
              <a:t>地空通话语音标注系统的建设存在明确的业务范围与技术约束。系统各模块规定以香港赤鱲角国际机场为数据采集与处理对象。后端服务要求遵循《</a:t>
            </a:r>
            <a:r>
              <a:rPr lang="en-US" altLang="zh-CN" sz="2000" dirty="0"/>
              <a:t>2026</a:t>
            </a:r>
            <a:r>
              <a:rPr lang="zh-CN" altLang="zh-CN" sz="2000" dirty="0"/>
              <a:t>选件项目综合实践》文档规范，采用</a:t>
            </a:r>
            <a:r>
              <a:rPr lang="en-US" altLang="zh-CN" sz="2000" dirty="0"/>
              <a:t>Python</a:t>
            </a:r>
            <a:r>
              <a:rPr lang="zh-CN" altLang="zh-CN" sz="2000" dirty="0"/>
              <a:t>语言与</a:t>
            </a:r>
            <a:r>
              <a:rPr lang="en-US" altLang="zh-CN" sz="2000" dirty="0" err="1"/>
              <a:t>FastAPI</a:t>
            </a:r>
            <a:r>
              <a:rPr lang="zh-CN" altLang="zh-CN" sz="2000" dirty="0"/>
              <a:t>框架开发。系统需在</a:t>
            </a:r>
            <a:r>
              <a:rPr lang="en-US" altLang="zh-CN" sz="2000" dirty="0"/>
              <a:t>Debian x64</a:t>
            </a:r>
            <a:r>
              <a:rPr lang="zh-CN" altLang="zh-CN" sz="2000" dirty="0"/>
              <a:t>操作系统、单核</a:t>
            </a:r>
            <a:r>
              <a:rPr lang="en-US" altLang="zh-CN" sz="2000" dirty="0"/>
              <a:t>CPU</a:t>
            </a:r>
            <a:r>
              <a:rPr lang="zh-CN" altLang="zh-CN" sz="2000" dirty="0"/>
              <a:t>、</a:t>
            </a:r>
            <a:r>
              <a:rPr lang="en-US" altLang="zh-CN" sz="2000" dirty="0"/>
              <a:t>512MB</a:t>
            </a:r>
            <a:r>
              <a:rPr lang="zh-CN" altLang="zh-CN" sz="2000" dirty="0"/>
              <a:t>运行内存及</a:t>
            </a:r>
            <a:r>
              <a:rPr lang="en-US" altLang="zh-CN" sz="2000" dirty="0"/>
              <a:t>10GB</a:t>
            </a:r>
            <a:r>
              <a:rPr lang="zh-CN" altLang="zh-CN" sz="2000" dirty="0"/>
              <a:t>本地存储空间的限制下，实现网络流监听、历史文件拉取、本地存储生命周期管理以及对外音频服务接口的开发。</a:t>
            </a:r>
          </a:p>
          <a:p>
            <a:endParaRPr lang="zh-CN" altLang="en-US" sz="2000" dirty="0">
              <a:latin typeface="微软雅黑" panose="020B0503020204020204" pitchFamily="34" charset="-122"/>
              <a:ea typeface="微软雅黑" panose="020B0503020204020204" pitchFamily="34" charset="-122"/>
            </a:endParaRPr>
          </a:p>
        </p:txBody>
      </p:sp>
      <p:sp>
        <p:nvSpPr>
          <p:cNvPr id="2" name="矩形 25">
            <a:extLst>
              <a:ext uri="{FF2B5EF4-FFF2-40B4-BE49-F238E27FC236}">
                <a16:creationId xmlns:a16="http://schemas.microsoft.com/office/drawing/2014/main" id="{66D5E434-CD32-1386-2E03-CA31F4832C7C}"/>
              </a:ext>
            </a:extLst>
          </p:cNvPr>
          <p:cNvSpPr/>
          <p:nvPr/>
        </p:nvSpPr>
        <p:spPr>
          <a:xfrm>
            <a:off x="7319787" y="977529"/>
            <a:ext cx="1872208" cy="612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4">
            <a:extLst>
              <a:ext uri="{FF2B5EF4-FFF2-40B4-BE49-F238E27FC236}">
                <a16:creationId xmlns:a16="http://schemas.microsoft.com/office/drawing/2014/main" id="{C685A0C2-25F3-8149-C5F1-26311FFE195B}"/>
              </a:ext>
            </a:extLst>
          </p:cNvPr>
          <p:cNvSpPr/>
          <p:nvPr/>
        </p:nvSpPr>
        <p:spPr>
          <a:xfrm>
            <a:off x="7650599" y="1083474"/>
            <a:ext cx="1210588" cy="400110"/>
          </a:xfrm>
          <a:prstGeom prst="rect">
            <a:avLst/>
          </a:prstGeom>
        </p:spPr>
        <p:txBody>
          <a:bodyPr wrap="none">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整体流程</a:t>
            </a:r>
          </a:p>
        </p:txBody>
      </p:sp>
      <p:sp>
        <p:nvSpPr>
          <p:cNvPr id="4" name="矩形 3">
            <a:extLst>
              <a:ext uri="{FF2B5EF4-FFF2-40B4-BE49-F238E27FC236}">
                <a16:creationId xmlns:a16="http://schemas.microsoft.com/office/drawing/2014/main" id="{75D5140A-2707-2A52-BCD1-5ADB7EEB1D1B}"/>
              </a:ext>
            </a:extLst>
          </p:cNvPr>
          <p:cNvSpPr/>
          <p:nvPr/>
        </p:nvSpPr>
        <p:spPr>
          <a:xfrm>
            <a:off x="6863780" y="1755642"/>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348BC20E-AF93-785F-46FB-EC7DB9606B10}"/>
              </a:ext>
            </a:extLst>
          </p:cNvPr>
          <p:cNvSpPr txBox="1"/>
          <p:nvPr/>
        </p:nvSpPr>
        <p:spPr bwMode="auto">
          <a:xfrm>
            <a:off x="6774885" y="1861587"/>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从</a:t>
            </a:r>
            <a:r>
              <a:rPr lang="en-US" altLang="zh-CN" sz="2000" dirty="0" err="1">
                <a:latin typeface="微软雅黑" panose="020B0503020204020204" pitchFamily="34" charset="-122"/>
                <a:ea typeface="微软雅黑" panose="020B0503020204020204" pitchFamily="34" charset="-122"/>
              </a:rPr>
              <a:t>LiveATC</a:t>
            </a:r>
            <a:r>
              <a:rPr lang="zh-CN" altLang="en-US" sz="2000" dirty="0">
                <a:latin typeface="微软雅黑" panose="020B0503020204020204" pitchFamily="34" charset="-122"/>
                <a:ea typeface="微软雅黑" panose="020B0503020204020204" pitchFamily="34" charset="-122"/>
              </a:rPr>
              <a:t>获取语音数据</a:t>
            </a:r>
          </a:p>
        </p:txBody>
      </p:sp>
      <p:cxnSp>
        <p:nvCxnSpPr>
          <p:cNvPr id="22" name="直接箭头连接符 21">
            <a:extLst>
              <a:ext uri="{FF2B5EF4-FFF2-40B4-BE49-F238E27FC236}">
                <a16:creationId xmlns:a16="http://schemas.microsoft.com/office/drawing/2014/main" id="{974035B3-DEB7-FA34-24F2-0F17F210ACA3}"/>
              </a:ext>
            </a:extLst>
          </p:cNvPr>
          <p:cNvCxnSpPr>
            <a:cxnSpLocks/>
            <a:stCxn id="4" idx="2"/>
          </p:cNvCxnSpPr>
          <p:nvPr/>
        </p:nvCxnSpPr>
        <p:spPr>
          <a:xfrm>
            <a:off x="8287054" y="2340442"/>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74A6BB22-1853-4110-7C18-012AE926144B}"/>
              </a:ext>
            </a:extLst>
          </p:cNvPr>
          <p:cNvSpPr/>
          <p:nvPr/>
        </p:nvSpPr>
        <p:spPr>
          <a:xfrm>
            <a:off x="6854045" y="2608040"/>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971B6620-51C5-796E-D4BD-5C056FFDC72B}"/>
              </a:ext>
            </a:extLst>
          </p:cNvPr>
          <p:cNvSpPr txBox="1"/>
          <p:nvPr/>
        </p:nvSpPr>
        <p:spPr bwMode="auto">
          <a:xfrm>
            <a:off x="6765151" y="2698394"/>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下载语音文件</a:t>
            </a:r>
          </a:p>
        </p:txBody>
      </p:sp>
      <p:cxnSp>
        <p:nvCxnSpPr>
          <p:cNvPr id="26" name="直接箭头连接符 25">
            <a:extLst>
              <a:ext uri="{FF2B5EF4-FFF2-40B4-BE49-F238E27FC236}">
                <a16:creationId xmlns:a16="http://schemas.microsoft.com/office/drawing/2014/main" id="{4B264AD8-741F-D089-F975-507F8432A3EE}"/>
              </a:ext>
            </a:extLst>
          </p:cNvPr>
          <p:cNvCxnSpPr>
            <a:cxnSpLocks/>
            <a:stCxn id="24" idx="2"/>
          </p:cNvCxnSpPr>
          <p:nvPr/>
        </p:nvCxnSpPr>
        <p:spPr>
          <a:xfrm>
            <a:off x="8277319" y="3192840"/>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14B92490-4375-C683-A80B-23CEA96EEEA9}"/>
              </a:ext>
            </a:extLst>
          </p:cNvPr>
          <p:cNvSpPr/>
          <p:nvPr/>
        </p:nvSpPr>
        <p:spPr>
          <a:xfrm>
            <a:off x="6863780" y="3464898"/>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A84541B1-306C-DE30-E40B-633C46ACD8E6}"/>
              </a:ext>
            </a:extLst>
          </p:cNvPr>
          <p:cNvSpPr txBox="1"/>
          <p:nvPr/>
        </p:nvSpPr>
        <p:spPr bwMode="auto">
          <a:xfrm>
            <a:off x="6774886" y="3555252"/>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生成时间戳</a:t>
            </a:r>
          </a:p>
        </p:txBody>
      </p:sp>
      <p:cxnSp>
        <p:nvCxnSpPr>
          <p:cNvPr id="29" name="直接箭头连接符 28">
            <a:extLst>
              <a:ext uri="{FF2B5EF4-FFF2-40B4-BE49-F238E27FC236}">
                <a16:creationId xmlns:a16="http://schemas.microsoft.com/office/drawing/2014/main" id="{58549BBD-2B8A-C4AC-D6ED-45206B1447F9}"/>
              </a:ext>
            </a:extLst>
          </p:cNvPr>
          <p:cNvCxnSpPr>
            <a:cxnSpLocks/>
            <a:stCxn id="27" idx="2"/>
          </p:cNvCxnSpPr>
          <p:nvPr/>
        </p:nvCxnSpPr>
        <p:spPr>
          <a:xfrm>
            <a:off x="8287054" y="4049698"/>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A01AD44E-B550-F5D6-002E-1842D17C581C}"/>
              </a:ext>
            </a:extLst>
          </p:cNvPr>
          <p:cNvSpPr/>
          <p:nvPr/>
        </p:nvSpPr>
        <p:spPr>
          <a:xfrm>
            <a:off x="6854045" y="4324720"/>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5612AB32-9C3F-B207-80A0-98318E7C6A69}"/>
              </a:ext>
            </a:extLst>
          </p:cNvPr>
          <p:cNvSpPr txBox="1"/>
          <p:nvPr/>
        </p:nvSpPr>
        <p:spPr bwMode="auto">
          <a:xfrm>
            <a:off x="6765151" y="4415074"/>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调用</a:t>
            </a:r>
            <a:r>
              <a:rPr lang="en-US" altLang="zh-CN" sz="2000" dirty="0">
                <a:latin typeface="微软雅黑" panose="020B0503020204020204" pitchFamily="34" charset="-122"/>
                <a:ea typeface="微软雅黑" panose="020B0503020204020204" pitchFamily="34" charset="-122"/>
              </a:rPr>
              <a:t>A-3</a:t>
            </a:r>
            <a:r>
              <a:rPr lang="zh-CN" altLang="en-US" sz="2000" dirty="0">
                <a:latin typeface="微软雅黑" panose="020B0503020204020204" pitchFamily="34" charset="-122"/>
                <a:ea typeface="微软雅黑" panose="020B0503020204020204" pitchFamily="34" charset="-122"/>
              </a:rPr>
              <a:t>接口识别语音</a:t>
            </a:r>
          </a:p>
        </p:txBody>
      </p:sp>
      <p:cxnSp>
        <p:nvCxnSpPr>
          <p:cNvPr id="32" name="直接箭头连接符 31">
            <a:extLst>
              <a:ext uri="{FF2B5EF4-FFF2-40B4-BE49-F238E27FC236}">
                <a16:creationId xmlns:a16="http://schemas.microsoft.com/office/drawing/2014/main" id="{6721DAE2-2090-12D4-F20C-32481A1C3C1E}"/>
              </a:ext>
            </a:extLst>
          </p:cNvPr>
          <p:cNvCxnSpPr>
            <a:cxnSpLocks/>
            <a:stCxn id="30" idx="2"/>
          </p:cNvCxnSpPr>
          <p:nvPr/>
        </p:nvCxnSpPr>
        <p:spPr>
          <a:xfrm>
            <a:off x="8277319" y="4909520"/>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8E69BE67-078F-3A02-7EBF-ED7500898A9C}"/>
              </a:ext>
            </a:extLst>
          </p:cNvPr>
          <p:cNvSpPr/>
          <p:nvPr/>
        </p:nvSpPr>
        <p:spPr>
          <a:xfrm>
            <a:off x="6907827" y="5191314"/>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261B869A-38BC-CFAF-31A8-4E146191CBB4}"/>
              </a:ext>
            </a:extLst>
          </p:cNvPr>
          <p:cNvSpPr txBox="1"/>
          <p:nvPr/>
        </p:nvSpPr>
        <p:spPr bwMode="auto">
          <a:xfrm>
            <a:off x="6818933" y="5281668"/>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存储语音数据与识别结果</a:t>
            </a:r>
          </a:p>
        </p:txBody>
      </p:sp>
      <p:cxnSp>
        <p:nvCxnSpPr>
          <p:cNvPr id="35" name="直接箭头连接符 34">
            <a:extLst>
              <a:ext uri="{FF2B5EF4-FFF2-40B4-BE49-F238E27FC236}">
                <a16:creationId xmlns:a16="http://schemas.microsoft.com/office/drawing/2014/main" id="{CDD95B9F-F41C-6133-31E6-9E78ABA6BBBE}"/>
              </a:ext>
            </a:extLst>
          </p:cNvPr>
          <p:cNvCxnSpPr>
            <a:cxnSpLocks/>
            <a:stCxn id="33" idx="2"/>
          </p:cNvCxnSpPr>
          <p:nvPr/>
        </p:nvCxnSpPr>
        <p:spPr>
          <a:xfrm>
            <a:off x="8331101" y="5776114"/>
            <a:ext cx="0" cy="2675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矩形 35">
            <a:extLst>
              <a:ext uri="{FF2B5EF4-FFF2-40B4-BE49-F238E27FC236}">
                <a16:creationId xmlns:a16="http://schemas.microsoft.com/office/drawing/2014/main" id="{4AF0145A-0B5C-008E-5911-47EE6EB7A76E}"/>
              </a:ext>
            </a:extLst>
          </p:cNvPr>
          <p:cNvSpPr/>
          <p:nvPr/>
        </p:nvSpPr>
        <p:spPr>
          <a:xfrm>
            <a:off x="6942939" y="6051136"/>
            <a:ext cx="2846547" cy="5848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259C54DB-4166-02F5-1010-034C7B807BD1}"/>
              </a:ext>
            </a:extLst>
          </p:cNvPr>
          <p:cNvSpPr txBox="1"/>
          <p:nvPr/>
        </p:nvSpPr>
        <p:spPr bwMode="auto">
          <a:xfrm>
            <a:off x="6854045" y="6141490"/>
            <a:ext cx="3024336" cy="400110"/>
          </a:xfrm>
          <a:prstGeom prst="rect">
            <a:avLst/>
          </a:prstGeom>
          <a:noFill/>
          <a:ln w="9525">
            <a:solidFill>
              <a:schemeClr val="bg1"/>
            </a:solidFill>
            <a:prstDash val="lgDash"/>
            <a:miter lim="800000"/>
          </a:ln>
        </p:spPr>
        <p:txBody>
          <a:bodyPr wrap="square" rtlCol="0">
            <a:spAutoFit/>
          </a:bodyPr>
          <a:lstStyle/>
          <a:p>
            <a:pPr algn="ctr" eaLnBrk="1" hangingPunct="1"/>
            <a:r>
              <a:rPr lang="zh-CN" altLang="en-US" sz="2000" dirty="0">
                <a:latin typeface="微软雅黑" panose="020B0503020204020204" pitchFamily="34" charset="-122"/>
                <a:ea typeface="微软雅黑" panose="020B0503020204020204" pitchFamily="34" charset="-122"/>
              </a:rPr>
              <a:t>提供数据查询接口</a:t>
            </a:r>
          </a:p>
        </p:txBody>
      </p:sp>
    </p:spTree>
    <p:extLst>
      <p:ext uri="{BB962C8B-B14F-4D97-AF65-F5344CB8AC3E}">
        <p14:creationId xmlns:p14="http://schemas.microsoft.com/office/powerpoint/2010/main" val="364354955"/>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653F3-29E1-19CE-D088-8D9C0D87BE66}"/>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7CBD87D1-6ACB-5A0E-8CE5-9683750AD888}"/>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11443C95-9FF1-09DB-0751-8EA211C1FB12}"/>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功能需求</a:t>
            </a:r>
          </a:p>
        </p:txBody>
      </p:sp>
      <p:sp>
        <p:nvSpPr>
          <p:cNvPr id="6" name="矩形 24">
            <a:extLst>
              <a:ext uri="{FF2B5EF4-FFF2-40B4-BE49-F238E27FC236}">
                <a16:creationId xmlns:a16="http://schemas.microsoft.com/office/drawing/2014/main" id="{1988E938-52D5-E3F1-19E2-394830EB19D6}"/>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graphicFrame>
        <p:nvGraphicFramePr>
          <p:cNvPr id="7" name="表格 6">
            <a:extLst>
              <a:ext uri="{FF2B5EF4-FFF2-40B4-BE49-F238E27FC236}">
                <a16:creationId xmlns:a16="http://schemas.microsoft.com/office/drawing/2014/main" id="{7CFC269B-C1AA-81BD-4D82-B3ECEE601438}"/>
              </a:ext>
            </a:extLst>
          </p:cNvPr>
          <p:cNvGraphicFramePr>
            <a:graphicFrameLocks noGrp="1"/>
          </p:cNvGraphicFramePr>
          <p:nvPr>
            <p:extLst>
              <p:ext uri="{D42A27DB-BD31-4B8C-83A1-F6EECF244321}">
                <p14:modId xmlns:p14="http://schemas.microsoft.com/office/powerpoint/2010/main" val="1512014886"/>
              </p:ext>
            </p:extLst>
          </p:nvPr>
        </p:nvGraphicFramePr>
        <p:xfrm>
          <a:off x="841003" y="1053530"/>
          <a:ext cx="10058130" cy="5184575"/>
        </p:xfrm>
        <a:graphic>
          <a:graphicData uri="http://schemas.openxmlformats.org/drawingml/2006/table">
            <a:tbl>
              <a:tblPr firstRow="1" bandRow="1">
                <a:tableStyleId>{5C22544A-7EE6-4342-B048-85BDC9FD1C3A}</a:tableStyleId>
              </a:tblPr>
              <a:tblGrid>
                <a:gridCol w="2736304">
                  <a:extLst>
                    <a:ext uri="{9D8B030D-6E8A-4147-A177-3AD203B41FA5}">
                      <a16:colId xmlns:a16="http://schemas.microsoft.com/office/drawing/2014/main" val="4203299727"/>
                    </a:ext>
                  </a:extLst>
                </a:gridCol>
                <a:gridCol w="2664296">
                  <a:extLst>
                    <a:ext uri="{9D8B030D-6E8A-4147-A177-3AD203B41FA5}">
                      <a16:colId xmlns:a16="http://schemas.microsoft.com/office/drawing/2014/main" val="3865704572"/>
                    </a:ext>
                  </a:extLst>
                </a:gridCol>
                <a:gridCol w="4657530">
                  <a:extLst>
                    <a:ext uri="{9D8B030D-6E8A-4147-A177-3AD203B41FA5}">
                      <a16:colId xmlns:a16="http://schemas.microsoft.com/office/drawing/2014/main" val="1413863630"/>
                    </a:ext>
                  </a:extLst>
                </a:gridCol>
              </a:tblGrid>
              <a:tr h="604283">
                <a:tc>
                  <a:txBody>
                    <a:bodyPr/>
                    <a:lstStyle/>
                    <a:p>
                      <a:pPr algn="ctr" rtl="0">
                        <a:buNone/>
                      </a:pPr>
                      <a:r>
                        <a:rPr lang="zh-CN" altLang="en-US" sz="2400" b="1" dirty="0">
                          <a:solidFill>
                            <a:srgbClr val="1F1F1F"/>
                          </a:solidFill>
                          <a:effectLst/>
                          <a:latin typeface="微软雅黑" panose="020B0503020204020204" pitchFamily="34" charset="-122"/>
                          <a:ea typeface="微软雅黑" panose="020B0503020204020204" pitchFamily="34" charset="-122"/>
                        </a:rPr>
                        <a:t>需求编号</a:t>
                      </a:r>
                      <a:endParaRPr lang="zh-CN" altLang="en-US" sz="2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2400" b="1" dirty="0">
                          <a:solidFill>
                            <a:srgbClr val="1F1F1F"/>
                          </a:solidFill>
                          <a:effectLst/>
                          <a:latin typeface="微软雅黑" panose="020B0503020204020204" pitchFamily="34" charset="-122"/>
                          <a:ea typeface="微软雅黑" panose="020B0503020204020204" pitchFamily="34" charset="-122"/>
                        </a:rPr>
                        <a:t>需求名称</a:t>
                      </a:r>
                      <a:endParaRPr lang="zh-CN" altLang="en-US" sz="2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algn="ctr" rtl="0">
                        <a:buNone/>
                      </a:pPr>
                      <a:r>
                        <a:rPr lang="zh-CN" altLang="en-US" sz="2400" b="1" dirty="0">
                          <a:solidFill>
                            <a:srgbClr val="1F1F1F"/>
                          </a:solidFill>
                          <a:effectLst/>
                          <a:latin typeface="微软雅黑" panose="020B0503020204020204" pitchFamily="34" charset="-122"/>
                          <a:ea typeface="微软雅黑" panose="020B0503020204020204" pitchFamily="34" charset="-122"/>
                        </a:rPr>
                        <a:t>需求描述</a:t>
                      </a:r>
                      <a:endParaRPr lang="zh-CN" altLang="en-US" sz="2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rgbClr val="C0504D"/>
                    </a:solidFill>
                  </a:tcPr>
                </a:tc>
                <a:extLst>
                  <a:ext uri="{0D108BD9-81ED-4DB2-BD59-A6C34878D82A}">
                    <a16:rowId xmlns:a16="http://schemas.microsoft.com/office/drawing/2014/main" val="2162730170"/>
                  </a:ext>
                </a:extLst>
              </a:tr>
              <a:tr h="798792">
                <a:tc>
                  <a:txBody>
                    <a:bodyPr/>
                    <a:lstStyle/>
                    <a:p>
                      <a:pPr algn="ctr" rtl="0">
                        <a:buNone/>
                      </a:pPr>
                      <a:r>
                        <a:rPr lang="en-US" altLang="zh-CN" sz="1400" b="1" dirty="0">
                          <a:solidFill>
                            <a:srgbClr val="1F1F1F"/>
                          </a:solidFill>
                          <a:effectLst/>
                          <a:latin typeface="微软雅黑" panose="020B0503020204020204" pitchFamily="34" charset="-122"/>
                          <a:ea typeface="微软雅黑" panose="020B0503020204020204" pitchFamily="34" charset="-122"/>
                        </a:rPr>
                        <a:t>RQ-A-0-10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en-US" sz="1600" b="1" dirty="0">
                          <a:solidFill>
                            <a:srgbClr val="1F1F1F"/>
                          </a:solidFill>
                          <a:effectLst/>
                          <a:latin typeface="微软雅黑" panose="020B0503020204020204" pitchFamily="34" charset="-122"/>
                          <a:ea typeface="微软雅黑" panose="020B0503020204020204" pitchFamily="34" charset="-122"/>
                        </a:rPr>
                        <a:t>对象要求</a:t>
                      </a:r>
                    </a:p>
                  </a:txBody>
                  <a:tcPr marR="76200" marT="101600" marB="101600" anchor="ctr">
                    <a:solidFill>
                      <a:schemeClr val="accent2">
                        <a:lumMod val="20000"/>
                        <a:lumOff val="8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以香港机场为软件开发，数据采集和处理对象。</a:t>
                      </a:r>
                    </a:p>
                  </a:txBody>
                  <a:tcPr marR="76200" marT="101600" marB="101600" anchor="ctr">
                    <a:solidFill>
                      <a:srgbClr val="F2DCDB"/>
                    </a:solidFill>
                  </a:tcPr>
                </a:tc>
                <a:extLst>
                  <a:ext uri="{0D108BD9-81ED-4DB2-BD59-A6C34878D82A}">
                    <a16:rowId xmlns:a16="http://schemas.microsoft.com/office/drawing/2014/main" val="3324455354"/>
                  </a:ext>
                </a:extLst>
              </a:tr>
              <a:tr h="917192">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RQ-A-0-20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solidFill>
                            <a:srgbClr val="1F1F1F"/>
                          </a:solidFill>
                          <a:effectLst/>
                          <a:latin typeface="微软雅黑" panose="020B0503020204020204" pitchFamily="34" charset="-122"/>
                          <a:ea typeface="微软雅黑" panose="020B0503020204020204" pitchFamily="34" charset="-122"/>
                        </a:rPr>
                        <a:t>开发规范</a:t>
                      </a:r>
                    </a:p>
                  </a:txBody>
                  <a:tcPr marR="76200" marT="101600" marB="101600" anchor="ctr">
                    <a:solidFill>
                      <a:srgbClr val="D99694"/>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开发工具、开发语言、目标运行环境需要符合课程文档要求。</a:t>
                      </a:r>
                    </a:p>
                  </a:txBody>
                  <a:tcPr marR="76200" marT="101600" marB="101600" anchor="ctr">
                    <a:solidFill>
                      <a:schemeClr val="accent2">
                        <a:lumMod val="60000"/>
                        <a:lumOff val="40000"/>
                      </a:schemeClr>
                    </a:solidFill>
                  </a:tcPr>
                </a:tc>
                <a:extLst>
                  <a:ext uri="{0D108BD9-81ED-4DB2-BD59-A6C34878D82A}">
                    <a16:rowId xmlns:a16="http://schemas.microsoft.com/office/drawing/2014/main" val="1049409592"/>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RQ-A-2-10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latin typeface="微软雅黑" panose="020B0503020204020204" pitchFamily="34" charset="-122"/>
                          <a:ea typeface="微软雅黑" panose="020B0503020204020204" pitchFamily="34" charset="-122"/>
                        </a:rPr>
                        <a:t>语音数据接收</a:t>
                      </a:r>
                      <a:endParaRPr lang="zh-CN" altLang="en-US" sz="16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以网络数据流的形式接收</a:t>
                      </a:r>
                      <a:r>
                        <a:rPr lang="en-US" altLang="zh-CN" sz="1400" dirty="0" err="1">
                          <a:solidFill>
                            <a:srgbClr val="1F1F1F"/>
                          </a:solidFill>
                          <a:effectLst/>
                          <a:latin typeface="微软雅黑" panose="020B0503020204020204" pitchFamily="34" charset="-122"/>
                          <a:ea typeface="微软雅黑" panose="020B0503020204020204" pitchFamily="34" charset="-122"/>
                        </a:rPr>
                        <a:t>LiveATC</a:t>
                      </a:r>
                      <a:r>
                        <a:rPr lang="zh-CN" altLang="en-US" sz="1400" dirty="0">
                          <a:solidFill>
                            <a:srgbClr val="1F1F1F"/>
                          </a:solidFill>
                          <a:effectLst/>
                          <a:latin typeface="微软雅黑" panose="020B0503020204020204" pitchFamily="34" charset="-122"/>
                          <a:ea typeface="微软雅黑" panose="020B0503020204020204" pitchFamily="34" charset="-122"/>
                        </a:rPr>
                        <a:t>服务器的地空通话数据，并生成时间戳。</a:t>
                      </a:r>
                    </a:p>
                  </a:txBody>
                  <a:tcPr marR="76200" marT="101600" marB="101600" anchor="ctr">
                    <a:solidFill>
                      <a:schemeClr val="accent2">
                        <a:lumMod val="20000"/>
                        <a:lumOff val="80000"/>
                      </a:schemeClr>
                    </a:solidFill>
                  </a:tcPr>
                </a:tc>
                <a:extLst>
                  <a:ext uri="{0D108BD9-81ED-4DB2-BD59-A6C34878D82A}">
                    <a16:rowId xmlns:a16="http://schemas.microsoft.com/office/drawing/2014/main" val="697954872"/>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RQ-A-2-20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latin typeface="微软雅黑" panose="020B0503020204020204" pitchFamily="34" charset="-122"/>
                          <a:ea typeface="微软雅黑" panose="020B0503020204020204" pitchFamily="34" charset="-122"/>
                        </a:rPr>
                        <a:t>语音数据下载</a:t>
                      </a:r>
                      <a:endParaRPr lang="zh-CN" altLang="en-US" sz="16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下载</a:t>
                      </a:r>
                      <a:r>
                        <a:rPr lang="en-US" altLang="zh-CN" sz="1400" dirty="0" err="1">
                          <a:solidFill>
                            <a:srgbClr val="1F1F1F"/>
                          </a:solidFill>
                          <a:effectLst/>
                          <a:latin typeface="微软雅黑" panose="020B0503020204020204" pitchFamily="34" charset="-122"/>
                          <a:ea typeface="微软雅黑" panose="020B0503020204020204" pitchFamily="34" charset="-122"/>
                        </a:rPr>
                        <a:t>LiveATC</a:t>
                      </a:r>
                      <a:r>
                        <a:rPr lang="zh-CN" altLang="en-US" sz="1400" dirty="0">
                          <a:solidFill>
                            <a:srgbClr val="1F1F1F"/>
                          </a:solidFill>
                          <a:effectLst/>
                          <a:latin typeface="微软雅黑" panose="020B0503020204020204" pitchFamily="34" charset="-122"/>
                          <a:ea typeface="微软雅黑" panose="020B0503020204020204" pitchFamily="34" charset="-122"/>
                        </a:rPr>
                        <a:t>服务器的历史地空通话数据，并生成时间戳。</a:t>
                      </a:r>
                      <a:endParaRPr lang="en-US" altLang="zh-CN"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4135374492"/>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RQ-A-2-30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solidFill>
                            <a:srgbClr val="1F1F1F"/>
                          </a:solidFill>
                          <a:effectLst/>
                          <a:latin typeface="微软雅黑" panose="020B0503020204020204" pitchFamily="34" charset="-122"/>
                          <a:ea typeface="微软雅黑" panose="020B0503020204020204" pitchFamily="34" charset="-122"/>
                        </a:rPr>
                        <a:t>语音数据存储</a:t>
                      </a:r>
                    </a:p>
                  </a:txBody>
                  <a:tcPr marR="76200" marT="101600" marB="101600" anchor="ctr">
                    <a:solidFill>
                      <a:schemeClr val="accent2">
                        <a:lumMod val="20000"/>
                        <a:lumOff val="8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实现语音数据的本地存储管理。</a:t>
                      </a:r>
                      <a:endParaRPr lang="en-US" altLang="zh-CN"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2522909990"/>
                  </a:ext>
                </a:extLst>
              </a:tr>
              <a:tr h="716077">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1" dirty="0">
                          <a:solidFill>
                            <a:srgbClr val="1F1F1F"/>
                          </a:solidFill>
                          <a:effectLst/>
                          <a:latin typeface="微软雅黑" panose="020B0503020204020204" pitchFamily="34" charset="-122"/>
                          <a:ea typeface="微软雅黑" panose="020B0503020204020204" pitchFamily="34" charset="-122"/>
                        </a:rPr>
                        <a:t>RQ-A-2-40</a:t>
                      </a:r>
                      <a:endParaRPr lang="zh-CN" altLang="en-US"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600" b="1" dirty="0">
                          <a:solidFill>
                            <a:srgbClr val="1F1F1F"/>
                          </a:solidFill>
                          <a:effectLst/>
                          <a:latin typeface="微软雅黑" panose="020B0503020204020204" pitchFamily="34" charset="-122"/>
                          <a:ea typeface="微软雅黑" panose="020B0503020204020204" pitchFamily="34" charset="-122"/>
                        </a:rPr>
                        <a:t>语音数据接口</a:t>
                      </a:r>
                    </a:p>
                  </a:txBody>
                  <a:tcPr marR="76200" marT="101600" marB="101600" anchor="ctr">
                    <a:solidFill>
                      <a:schemeClr val="accent2">
                        <a:lumMod val="60000"/>
                        <a:lumOff val="40000"/>
                      </a:schemeClr>
                    </a:solidFill>
                  </a:tcPr>
                </a:tc>
                <a:tc>
                  <a:txBody>
                    <a:bodyPr/>
                    <a:lstStyle/>
                    <a:p>
                      <a:pPr algn="just" rtl="0">
                        <a:buNone/>
                      </a:pPr>
                      <a:r>
                        <a:rPr lang="zh-CN" altLang="en-US" sz="1400" dirty="0">
                          <a:solidFill>
                            <a:srgbClr val="1F1F1F"/>
                          </a:solidFill>
                          <a:effectLst/>
                          <a:latin typeface="微软雅黑" panose="020B0503020204020204" pitchFamily="34" charset="-122"/>
                          <a:ea typeface="微软雅黑" panose="020B0503020204020204" pitchFamily="34" charset="-122"/>
                        </a:rPr>
                        <a:t>实现服务</a:t>
                      </a:r>
                      <a:r>
                        <a:rPr lang="en-US" altLang="zh-CN" sz="1400" dirty="0">
                          <a:solidFill>
                            <a:srgbClr val="1F1F1F"/>
                          </a:solidFill>
                          <a:effectLst/>
                          <a:latin typeface="微软雅黑" panose="020B0503020204020204" pitchFamily="34" charset="-122"/>
                          <a:ea typeface="微软雅黑" panose="020B0503020204020204" pitchFamily="34" charset="-122"/>
                        </a:rPr>
                        <a:t>API</a:t>
                      </a:r>
                      <a:r>
                        <a:rPr lang="zh-CN" altLang="en-US" sz="1400" dirty="0">
                          <a:solidFill>
                            <a:srgbClr val="1F1F1F"/>
                          </a:solidFill>
                          <a:effectLst/>
                          <a:latin typeface="微软雅黑" panose="020B0503020204020204" pitchFamily="34" charset="-122"/>
                          <a:ea typeface="微软雅黑" panose="020B0503020204020204" pitchFamily="34" charset="-122"/>
                        </a:rPr>
                        <a:t>接口，按起止时间获取语音数据。</a:t>
                      </a:r>
                      <a:endParaRPr lang="en-US" altLang="zh-CN" sz="14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660536885"/>
                  </a:ext>
                </a:extLst>
              </a:tr>
            </a:tbl>
          </a:graphicData>
        </a:graphic>
      </p:graphicFrame>
    </p:spTree>
    <p:extLst>
      <p:ext uri="{BB962C8B-B14F-4D97-AF65-F5344CB8AC3E}">
        <p14:creationId xmlns:p14="http://schemas.microsoft.com/office/powerpoint/2010/main" val="375421692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EAD23-E8C5-0E8B-1281-707374EB6683}"/>
            </a:ext>
          </a:extLst>
        </p:cNvPr>
        <p:cNvGrpSpPr/>
        <p:nvPr/>
      </p:nvGrpSpPr>
      <p:grpSpPr>
        <a:xfrm>
          <a:off x="0" y="0"/>
          <a:ext cx="0" cy="0"/>
          <a:chOff x="0" y="0"/>
          <a:chExt cx="0" cy="0"/>
        </a:xfrm>
      </p:grpSpPr>
      <p:sp>
        <p:nvSpPr>
          <p:cNvPr id="1048764" name="矩形 24">
            <a:extLst>
              <a:ext uri="{FF2B5EF4-FFF2-40B4-BE49-F238E27FC236}">
                <a16:creationId xmlns:a16="http://schemas.microsoft.com/office/drawing/2014/main" id="{FF7137B9-A34F-C9DC-F519-4A51E9E9F9C9}"/>
              </a:ext>
            </a:extLst>
          </p:cNvPr>
          <p:cNvSpPr/>
          <p:nvPr/>
        </p:nvSpPr>
        <p:spPr>
          <a:xfrm>
            <a:off x="955407" y="1896721"/>
            <a:ext cx="1467069" cy="400110"/>
          </a:xfrm>
          <a:prstGeom prst="rect">
            <a:avLst/>
          </a:prstGeom>
        </p:spPr>
        <p:txBody>
          <a:bodyPr wrap="none">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模块负责人</a:t>
            </a:r>
          </a:p>
        </p:txBody>
      </p:sp>
      <p:sp>
        <p:nvSpPr>
          <p:cNvPr id="1048765" name="TextBox 11">
            <a:extLst>
              <a:ext uri="{FF2B5EF4-FFF2-40B4-BE49-F238E27FC236}">
                <a16:creationId xmlns:a16="http://schemas.microsoft.com/office/drawing/2014/main" id="{B6CDE29B-5051-46EB-08B8-F003382257AA}"/>
              </a:ext>
            </a:extLst>
          </p:cNvPr>
          <p:cNvSpPr txBox="1"/>
          <p:nvPr/>
        </p:nvSpPr>
        <p:spPr>
          <a:xfrm>
            <a:off x="335447" y="152331"/>
            <a:ext cx="8858484" cy="584800"/>
          </a:xfrm>
          <a:prstGeom prst="rect">
            <a:avLst/>
          </a:prstGeom>
          <a:noFill/>
        </p:spPr>
        <p:txBody>
          <a:bodyPr wrap="square" lIns="121944" tIns="60972" rIns="121944" bIns="60972" rtlCol="0">
            <a:spAutoFit/>
          </a:bodyPr>
          <a:lstStyle/>
          <a:p>
            <a:r>
              <a:rPr lang="zh-CN" altLang="en-US" sz="3000" b="1" dirty="0">
                <a:solidFill>
                  <a:schemeClr val="bg1"/>
                </a:solidFill>
                <a:latin typeface="微软雅黑" panose="020B0503020204020204" pitchFamily="34" charset="-122"/>
                <a:ea typeface="微软雅黑" panose="020B0503020204020204" pitchFamily="34" charset="-122"/>
              </a:rPr>
              <a:t>模块功能列表</a:t>
            </a:r>
          </a:p>
        </p:txBody>
      </p:sp>
      <p:sp>
        <p:nvSpPr>
          <p:cNvPr id="6" name="矩形 24">
            <a:extLst>
              <a:ext uri="{FF2B5EF4-FFF2-40B4-BE49-F238E27FC236}">
                <a16:creationId xmlns:a16="http://schemas.microsoft.com/office/drawing/2014/main" id="{C1FB98F1-5F9B-4280-EF10-8645D011E279}"/>
              </a:ext>
            </a:extLst>
          </p:cNvPr>
          <p:cNvSpPr/>
          <p:nvPr/>
        </p:nvSpPr>
        <p:spPr>
          <a:xfrm>
            <a:off x="719977" y="4988437"/>
            <a:ext cx="1980029" cy="707886"/>
          </a:xfrm>
          <a:prstGeom prst="rect">
            <a:avLst/>
          </a:prstGeom>
        </p:spPr>
        <p:txBody>
          <a:bodyPr wrap="none">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API</a:t>
            </a:r>
            <a:r>
              <a:rPr lang="zh-CN" altLang="en-US" sz="2000" dirty="0">
                <a:solidFill>
                  <a:schemeClr val="bg1"/>
                </a:solidFill>
                <a:latin typeface="微软雅黑" panose="020B0503020204020204" pitchFamily="34" charset="-122"/>
                <a:ea typeface="微软雅黑" panose="020B0503020204020204" pitchFamily="34" charset="-122"/>
              </a:rPr>
              <a:t>集成与</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数据处理工程师</a:t>
            </a:r>
          </a:p>
        </p:txBody>
      </p:sp>
      <p:graphicFrame>
        <p:nvGraphicFramePr>
          <p:cNvPr id="7" name="表格 6">
            <a:extLst>
              <a:ext uri="{FF2B5EF4-FFF2-40B4-BE49-F238E27FC236}">
                <a16:creationId xmlns:a16="http://schemas.microsoft.com/office/drawing/2014/main" id="{51220E94-ECC3-1DAB-C81C-1297B262DAD4}"/>
              </a:ext>
            </a:extLst>
          </p:cNvPr>
          <p:cNvGraphicFramePr>
            <a:graphicFrameLocks noGrp="1"/>
          </p:cNvGraphicFramePr>
          <p:nvPr>
            <p:extLst>
              <p:ext uri="{D42A27DB-BD31-4B8C-83A1-F6EECF244321}">
                <p14:modId xmlns:p14="http://schemas.microsoft.com/office/powerpoint/2010/main" val="3934675453"/>
              </p:ext>
            </p:extLst>
          </p:nvPr>
        </p:nvGraphicFramePr>
        <p:xfrm>
          <a:off x="1068522" y="1158379"/>
          <a:ext cx="10058130" cy="5384800"/>
        </p:xfrm>
        <a:graphic>
          <a:graphicData uri="http://schemas.openxmlformats.org/drawingml/2006/table">
            <a:tbl>
              <a:tblPr firstRow="1" bandRow="1">
                <a:tableStyleId>{5C22544A-7EE6-4342-B048-85BDC9FD1C3A}</a:tableStyleId>
              </a:tblPr>
              <a:tblGrid>
                <a:gridCol w="2163275">
                  <a:extLst>
                    <a:ext uri="{9D8B030D-6E8A-4147-A177-3AD203B41FA5}">
                      <a16:colId xmlns:a16="http://schemas.microsoft.com/office/drawing/2014/main" val="4203299727"/>
                    </a:ext>
                  </a:extLst>
                </a:gridCol>
                <a:gridCol w="2589253">
                  <a:extLst>
                    <a:ext uri="{9D8B030D-6E8A-4147-A177-3AD203B41FA5}">
                      <a16:colId xmlns:a16="http://schemas.microsoft.com/office/drawing/2014/main" val="3865704572"/>
                    </a:ext>
                  </a:extLst>
                </a:gridCol>
                <a:gridCol w="2160240">
                  <a:extLst>
                    <a:ext uri="{9D8B030D-6E8A-4147-A177-3AD203B41FA5}">
                      <a16:colId xmlns:a16="http://schemas.microsoft.com/office/drawing/2014/main" val="2301520394"/>
                    </a:ext>
                  </a:extLst>
                </a:gridCol>
                <a:gridCol w="3145362">
                  <a:extLst>
                    <a:ext uri="{9D8B030D-6E8A-4147-A177-3AD203B41FA5}">
                      <a16:colId xmlns:a16="http://schemas.microsoft.com/office/drawing/2014/main" val="1413863630"/>
                    </a:ext>
                  </a:extLst>
                </a:gridCol>
              </a:tblGrid>
              <a:tr h="279565">
                <a:tc>
                  <a:txBody>
                    <a:bodyPr/>
                    <a:lstStyle/>
                    <a:p>
                      <a:pPr algn="ctr" rtl="0">
                        <a:buNone/>
                      </a:pPr>
                      <a:r>
                        <a:rPr lang="zh-CN" altLang="en-US" sz="1200" b="1" dirty="0">
                          <a:solidFill>
                            <a:srgbClr val="1F1F1F"/>
                          </a:solidFill>
                          <a:effectLst/>
                          <a:latin typeface="微软雅黑" panose="020B0503020204020204" pitchFamily="34" charset="-122"/>
                          <a:ea typeface="微软雅黑" panose="020B0503020204020204" pitchFamily="34" charset="-122"/>
                        </a:rPr>
                        <a:t>一级需求编号</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200" b="1" dirty="0">
                          <a:solidFill>
                            <a:srgbClr val="1F1F1F"/>
                          </a:solidFill>
                          <a:effectLst/>
                          <a:latin typeface="微软雅黑" panose="020B0503020204020204" pitchFamily="34" charset="-122"/>
                          <a:ea typeface="微软雅黑" panose="020B0503020204020204" pitchFamily="34" charset="-122"/>
                        </a:rPr>
                        <a:t>一级需求名称</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200" dirty="0">
                          <a:solidFill>
                            <a:srgbClr val="1F1F1F"/>
                          </a:solidFill>
                          <a:effectLst/>
                          <a:latin typeface="微软雅黑" panose="020B0503020204020204" pitchFamily="34" charset="-122"/>
                          <a:ea typeface="微软雅黑" panose="020B0503020204020204" pitchFamily="34" charset="-122"/>
                        </a:rPr>
                        <a:t>二级需求编号</a:t>
                      </a:r>
                    </a:p>
                  </a:txBody>
                  <a:tcPr marR="76200" marT="101600" marB="101600" anchor="ctr">
                    <a:solidFill>
                      <a:schemeClr val="accent2"/>
                    </a:solidFill>
                  </a:tcPr>
                </a:tc>
                <a:tc>
                  <a:txBody>
                    <a:bodyPr/>
                    <a:lstStyle/>
                    <a:p>
                      <a:pPr algn="ctr" rtl="0">
                        <a:buNone/>
                      </a:pPr>
                      <a:r>
                        <a:rPr lang="zh-CN" altLang="en-US" sz="1200" b="1" dirty="0">
                          <a:solidFill>
                            <a:srgbClr val="1F1F1F"/>
                          </a:solidFill>
                          <a:effectLst/>
                          <a:latin typeface="微软雅黑" panose="020B0503020204020204" pitchFamily="34" charset="-122"/>
                          <a:ea typeface="微软雅黑" panose="020B0503020204020204" pitchFamily="34" charset="-122"/>
                        </a:rPr>
                        <a:t>二级需求名称</a:t>
                      </a: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rgbClr val="C0504D"/>
                    </a:solidFill>
                  </a:tcPr>
                </a:tc>
                <a:extLst>
                  <a:ext uri="{0D108BD9-81ED-4DB2-BD59-A6C34878D82A}">
                    <a16:rowId xmlns:a16="http://schemas.microsoft.com/office/drawing/2014/main" val="2162730170"/>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solidFill>
                            <a:srgbClr val="1F1F1F"/>
                          </a:solidFill>
                          <a:effectLst/>
                          <a:latin typeface="Calibri (正文)"/>
                          <a:ea typeface="微软雅黑" panose="020B0503020204020204" pitchFamily="34" charset="-122"/>
                        </a:rPr>
                        <a:t>RQ-A-0-10</a:t>
                      </a:r>
                      <a:endParaRPr lang="zh-CN" altLang="en-US" sz="1800" dirty="0">
                        <a:solidFill>
                          <a:srgbClr val="1F1F1F"/>
                        </a:solidFill>
                        <a:effectLst/>
                        <a:latin typeface="Calibri (正文)"/>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对象要求</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RQ-A-0-10-01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锁定机场坐标与有效频道源</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1588598240"/>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RQ-A-0-10-02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越界冗余数据过滤与标记</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4001150682"/>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solidFill>
                            <a:srgbClr val="1F1F1F"/>
                          </a:solidFill>
                          <a:effectLst/>
                          <a:latin typeface="Calibri (正文)"/>
                          <a:ea typeface="微软雅黑" panose="020B0503020204020204" pitchFamily="34" charset="-122"/>
                        </a:rPr>
                        <a:t>RQ-A-0-20</a:t>
                      </a:r>
                      <a:endParaRPr lang="zh-CN" altLang="en-US" sz="1800" dirty="0">
                        <a:solidFill>
                          <a:srgbClr val="1F1F1F"/>
                        </a:solidFill>
                        <a:effectLst/>
                        <a:latin typeface="Calibri (正文)"/>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开发规范</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RQ-A-0-20-01</a:t>
                      </a:r>
                      <a:endParaRPr lang="zh-CN" altLang="en-US" sz="10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适配低内存限制的异步框架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1292045482"/>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kern="1200" dirty="0">
                          <a:solidFill>
                            <a:schemeClr val="dk1"/>
                          </a:solidFill>
                          <a:effectLst/>
                          <a:latin typeface="+mn-lt"/>
                          <a:ea typeface="+mn-ea"/>
                          <a:cs typeface="+mn-cs"/>
                        </a:rPr>
                        <a:t>RQ-A-0-20-02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部署脚本与宿主机环境匹配</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2653075033"/>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RQ-A-2-10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语音数据接收</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RQ-A-2-10-01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a:lnSpc>
                          <a:spcPts val="1500"/>
                        </a:lnSpc>
                        <a:buNone/>
                      </a:pPr>
                      <a:r>
                        <a:rPr lang="zh-CN" sz="1200" kern="100" dirty="0">
                          <a:solidFill>
                            <a:srgbClr val="1F1F1F"/>
                          </a:solidFill>
                          <a:effectLst/>
                          <a:latin typeface="微软雅黑" panose="020B0503020204020204" pitchFamily="34" charset="-122"/>
                          <a:ea typeface="微软雅黑" panose="020B0503020204020204" pitchFamily="34" charset="-122"/>
                          <a:cs typeface="Arial" panose="020B0604020202020204" pitchFamily="34" charset="0"/>
                        </a:rPr>
                        <a:t>建立实时音频流高可用监听</a:t>
                      </a:r>
                      <a:endParaRPr lang="zh-CN" sz="12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354966573"/>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RQ-A-2-10-02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流式截断分块与动态时标推演</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2812169097"/>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RQ-A-2-20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语音数据下载</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RQ-A-2-20-01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历史归档音频队列自动化拉取</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1072802135"/>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RQ-A-2-20-02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命名规则解析与绝对时间对齐</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4142206459"/>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RQ-A-2-30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语音数据存储</a:t>
                      </a:r>
                    </a:p>
                  </a:txBody>
                  <a:tcPr marR="76200" marT="101600" marB="101600" anchor="ctr">
                    <a:solidFill>
                      <a:schemeClr val="accent2">
                        <a:lumMod val="20000"/>
                        <a:lumOff val="8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RQ-A-2-30-01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磁盘容量监控与预警熔断控制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3243260566"/>
                  </a:ext>
                </a:extLst>
              </a:tr>
              <a:tr h="0">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en-US" altLang="zh-CN"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RQ-A-2-30-02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基于业务状态的滚动淘汰机制</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20000"/>
                        <a:lumOff val="80000"/>
                      </a:schemeClr>
                    </a:solidFill>
                  </a:tcPr>
                </a:tc>
                <a:extLst>
                  <a:ext uri="{0D108BD9-81ED-4DB2-BD59-A6C34878D82A}">
                    <a16:rowId xmlns:a16="http://schemas.microsoft.com/office/drawing/2014/main" val="1137063082"/>
                  </a:ext>
                </a:extLst>
              </a:tr>
              <a:tr h="279565">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800" b="1" dirty="0"/>
                        <a:t>RQ-A-2-40</a:t>
                      </a:r>
                      <a:endParaRPr lang="zh-CN" altLang="en-US" sz="18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rowSpan="2">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zh-CN" altLang="en-US" sz="1800" b="1" dirty="0">
                          <a:solidFill>
                            <a:srgbClr val="1F1F1F"/>
                          </a:solidFill>
                          <a:effectLst/>
                          <a:latin typeface="微软雅黑" panose="020B0503020204020204" pitchFamily="34" charset="-122"/>
                          <a:ea typeface="微软雅黑" panose="020B0503020204020204" pitchFamily="34" charset="-122"/>
                        </a:rPr>
                        <a:t>语音数据接口</a:t>
                      </a: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RQ-A-2-40-01</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请求参数解析与本地时标检索</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175003931"/>
                  </a:ext>
                </a:extLst>
              </a:tr>
              <a:tr h="279565">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en-US" altLang="zh-CN" sz="120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vMerge="1">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endParaRPr lang="zh-CN" altLang="en-US" sz="1200" b="1"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marL="0" marR="0" lvl="0" indent="0" algn="ctr" defTabSz="1113790" rtl="0" eaLnBrk="1" fontAlgn="auto" latinLnBrk="0" hangingPunct="1">
                        <a:lnSpc>
                          <a:spcPct val="100000"/>
                        </a:lnSpc>
                        <a:spcBef>
                          <a:spcPts val="0"/>
                        </a:spcBef>
                        <a:spcAft>
                          <a:spcPts val="0"/>
                        </a:spcAft>
                        <a:buClrTx/>
                        <a:buSzTx/>
                        <a:buFontTx/>
                        <a:buNone/>
                        <a:tabLst/>
                        <a:defRPr/>
                      </a:pPr>
                      <a:r>
                        <a:rPr lang="en-US" altLang="zh-CN" sz="1400" b="0" dirty="0"/>
                        <a:t>RQ-A-2-40-02</a:t>
                      </a:r>
                      <a:endParaRPr lang="zh-CN" altLang="en-US" sz="14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tc>
                  <a:txBody>
                    <a:bodyPr/>
                    <a:lstStyle/>
                    <a:p>
                      <a:pPr algn="ctr" rtl="0">
                        <a:buNone/>
                      </a:pPr>
                      <a:r>
                        <a:rPr lang="zh-CN" altLang="zh-CN" sz="1200" kern="1200" dirty="0">
                          <a:solidFill>
                            <a:schemeClr val="dk1"/>
                          </a:solidFill>
                          <a:effectLst/>
                          <a:latin typeface="微软雅黑" panose="020B0503020204020204" pitchFamily="34" charset="-122"/>
                          <a:ea typeface="微软雅黑" panose="020B0503020204020204" pitchFamily="34" charset="-122"/>
                          <a:cs typeface="+mn-cs"/>
                        </a:rPr>
                        <a:t>异步文件流分块下发处理</a:t>
                      </a:r>
                      <a:endParaRPr lang="en-US" altLang="zh-CN" sz="1200" b="0" dirty="0">
                        <a:solidFill>
                          <a:srgbClr val="1F1F1F"/>
                        </a:solidFill>
                        <a:effectLst/>
                        <a:latin typeface="微软雅黑" panose="020B0503020204020204" pitchFamily="34" charset="-122"/>
                        <a:ea typeface="微软雅黑" panose="020B0503020204020204" pitchFamily="34" charset="-122"/>
                      </a:endParaRPr>
                    </a:p>
                  </a:txBody>
                  <a:tcPr marR="76200" marT="101600" marB="101600" anchor="ctr">
                    <a:solidFill>
                      <a:schemeClr val="accent2">
                        <a:lumMod val="60000"/>
                        <a:lumOff val="40000"/>
                      </a:schemeClr>
                    </a:solidFill>
                  </a:tcPr>
                </a:tc>
                <a:extLst>
                  <a:ext uri="{0D108BD9-81ED-4DB2-BD59-A6C34878D82A}">
                    <a16:rowId xmlns:a16="http://schemas.microsoft.com/office/drawing/2014/main" val="3531006857"/>
                  </a:ext>
                </a:extLst>
              </a:tr>
            </a:tbl>
          </a:graphicData>
        </a:graphic>
      </p:graphicFrame>
    </p:spTree>
    <p:extLst>
      <p:ext uri="{BB962C8B-B14F-4D97-AF65-F5344CB8AC3E}">
        <p14:creationId xmlns:p14="http://schemas.microsoft.com/office/powerpoint/2010/main" val="2100772500"/>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DEB98-B706-8961-315D-6284C8A1CDED}"/>
            </a:ext>
          </a:extLst>
        </p:cNvPr>
        <p:cNvGrpSpPr/>
        <p:nvPr/>
      </p:nvGrpSpPr>
      <p:grpSpPr>
        <a:xfrm>
          <a:off x="0" y="0"/>
          <a:ext cx="0" cy="0"/>
          <a:chOff x="0" y="0"/>
          <a:chExt cx="0" cy="0"/>
        </a:xfrm>
      </p:grpSpPr>
      <p:sp>
        <p:nvSpPr>
          <p:cNvPr id="12" name="矩形: 圆角 11">
            <a:extLst>
              <a:ext uri="{FF2B5EF4-FFF2-40B4-BE49-F238E27FC236}">
                <a16:creationId xmlns:a16="http://schemas.microsoft.com/office/drawing/2014/main" id="{EA00D322-D512-E9BC-6A4D-EA6EBA85D81F}"/>
              </a:ext>
            </a:extLst>
          </p:cNvPr>
          <p:cNvSpPr/>
          <p:nvPr/>
        </p:nvSpPr>
        <p:spPr>
          <a:xfrm>
            <a:off x="4465031" y="1413570"/>
            <a:ext cx="6889963" cy="158417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2" name="矩形 25">
            <a:extLst>
              <a:ext uri="{FF2B5EF4-FFF2-40B4-BE49-F238E27FC236}">
                <a16:creationId xmlns:a16="http://schemas.microsoft.com/office/drawing/2014/main" id="{8239CE1E-FEA8-CCA2-C210-3E3E0DFDD856}"/>
              </a:ext>
            </a:extLst>
          </p:cNvPr>
          <p:cNvSpPr/>
          <p:nvPr/>
        </p:nvSpPr>
        <p:spPr>
          <a:xfrm>
            <a:off x="335447" y="1896271"/>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764" name="矩形 24">
            <a:extLst>
              <a:ext uri="{FF2B5EF4-FFF2-40B4-BE49-F238E27FC236}">
                <a16:creationId xmlns:a16="http://schemas.microsoft.com/office/drawing/2014/main" id="{4C237882-B4E5-C485-688A-8B49739E828F}"/>
              </a:ext>
            </a:extLst>
          </p:cNvPr>
          <p:cNvSpPr/>
          <p:nvPr/>
        </p:nvSpPr>
        <p:spPr>
          <a:xfrm>
            <a:off x="264939" y="1960172"/>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RQ-A-0-10-01</a:t>
            </a:r>
          </a:p>
          <a:p>
            <a:pPr algn="ctr"/>
            <a:r>
              <a:rPr lang="zh-CN" altLang="zh-CN" sz="2000" b="1" dirty="0">
                <a:solidFill>
                  <a:schemeClr val="bg1"/>
                </a:solidFill>
                <a:latin typeface="微软雅黑" panose="020B0503020204020204" pitchFamily="34" charset="-122"/>
                <a:ea typeface="微软雅黑" panose="020B0503020204020204" pitchFamily="34" charset="-122"/>
              </a:rPr>
              <a:t>锁定机场坐标与有效频道源</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48765" name="TextBox 11">
            <a:extLst>
              <a:ext uri="{FF2B5EF4-FFF2-40B4-BE49-F238E27FC236}">
                <a16:creationId xmlns:a16="http://schemas.microsoft.com/office/drawing/2014/main" id="{4488F4A9-9159-FF97-984A-2097C38235D3}"/>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RQ-A-0-10 </a:t>
            </a:r>
            <a:r>
              <a:rPr lang="zh-CN" altLang="en-US" sz="3200" b="1" dirty="0">
                <a:solidFill>
                  <a:schemeClr val="bg1"/>
                </a:solidFill>
                <a:latin typeface="微软雅黑" panose="020B0503020204020204" pitchFamily="34" charset="-122"/>
                <a:ea typeface="微软雅黑" panose="020B0503020204020204" pitchFamily="34" charset="-122"/>
              </a:rPr>
              <a:t>对象要求</a:t>
            </a:r>
          </a:p>
        </p:txBody>
      </p:sp>
      <p:sp>
        <p:nvSpPr>
          <p:cNvPr id="6" name="矩形 1">
            <a:extLst>
              <a:ext uri="{FF2B5EF4-FFF2-40B4-BE49-F238E27FC236}">
                <a16:creationId xmlns:a16="http://schemas.microsoft.com/office/drawing/2014/main" id="{785B4988-189D-5F48-33C2-37C32821A77E}"/>
              </a:ext>
            </a:extLst>
          </p:cNvPr>
          <p:cNvSpPr/>
          <p:nvPr/>
        </p:nvSpPr>
        <p:spPr>
          <a:xfrm>
            <a:off x="4885676" y="1543938"/>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采音模块需将</a:t>
            </a:r>
            <a:r>
              <a:rPr lang="en-US" altLang="zh-CN" sz="2000" dirty="0">
                <a:latin typeface="微软雅黑" panose="020B0503020204020204" pitchFamily="34" charset="-122"/>
                <a:ea typeface="微软雅黑" panose="020B0503020204020204" pitchFamily="34" charset="-122"/>
              </a:rPr>
              <a:t>ICAO</a:t>
            </a:r>
            <a:r>
              <a:rPr lang="zh-CN" altLang="zh-CN" sz="2000" dirty="0">
                <a:latin typeface="微软雅黑" panose="020B0503020204020204" pitchFamily="34" charset="-122"/>
                <a:ea typeface="微软雅黑" panose="020B0503020204020204" pitchFamily="34" charset="-122"/>
              </a:rPr>
              <a:t>代码</a:t>
            </a:r>
            <a:r>
              <a:rPr lang="en-US" altLang="zh-CN" sz="2000" dirty="0">
                <a:latin typeface="微软雅黑" panose="020B0503020204020204" pitchFamily="34" charset="-122"/>
                <a:ea typeface="微软雅黑" panose="020B0503020204020204" pitchFamily="34" charset="-122"/>
              </a:rPr>
              <a:t>VHHH</a:t>
            </a:r>
            <a:r>
              <a:rPr lang="zh-CN" altLang="zh-CN" sz="2000" dirty="0">
                <a:latin typeface="微软雅黑" panose="020B0503020204020204" pitchFamily="34" charset="-122"/>
                <a:ea typeface="微软雅黑" panose="020B0503020204020204" pitchFamily="34" charset="-122"/>
              </a:rPr>
              <a:t>作为固定请求参数。网络爬虫与流监听脚本仅允许对</a:t>
            </a:r>
            <a:r>
              <a:rPr lang="en-US" altLang="zh-CN" sz="2000" dirty="0">
                <a:latin typeface="微软雅黑" panose="020B0503020204020204" pitchFamily="34" charset="-122"/>
                <a:ea typeface="微软雅黑" panose="020B0503020204020204" pitchFamily="34" charset="-122"/>
              </a:rPr>
              <a:t>VHHH</a:t>
            </a:r>
            <a:r>
              <a:rPr lang="zh-CN" altLang="zh-CN" sz="2000" dirty="0">
                <a:latin typeface="微软雅黑" panose="020B0503020204020204" pitchFamily="34" charset="-122"/>
                <a:ea typeface="微软雅黑" panose="020B0503020204020204" pitchFamily="34" charset="-122"/>
              </a:rPr>
              <a:t>相关的塔台、进近及地面等公开管制频段发起</a:t>
            </a:r>
            <a:r>
              <a:rPr lang="en-US" altLang="zh-CN" sz="2000" dirty="0">
                <a:latin typeface="微软雅黑" panose="020B0503020204020204" pitchFamily="34" charset="-122"/>
                <a:ea typeface="微软雅黑" panose="020B0503020204020204" pitchFamily="34" charset="-122"/>
              </a:rPr>
              <a:t>HTTP</a:t>
            </a:r>
            <a:r>
              <a:rPr lang="zh-CN" altLang="zh-CN" sz="2000" dirty="0">
                <a:latin typeface="微软雅黑" panose="020B0503020204020204" pitchFamily="34" charset="-122"/>
                <a:ea typeface="微软雅黑" panose="020B0503020204020204" pitchFamily="34" charset="-122"/>
              </a:rPr>
              <a:t>请求，禁止采集非</a:t>
            </a:r>
            <a:r>
              <a:rPr lang="en-US" altLang="zh-CN" sz="2000" dirty="0">
                <a:latin typeface="微软雅黑" panose="020B0503020204020204" pitchFamily="34" charset="-122"/>
                <a:ea typeface="微软雅黑" panose="020B0503020204020204" pitchFamily="34" charset="-122"/>
              </a:rPr>
              <a:t>VHHH</a:t>
            </a:r>
            <a:r>
              <a:rPr lang="zh-CN" altLang="zh-CN" sz="2000" dirty="0">
                <a:latin typeface="微软雅黑" panose="020B0503020204020204" pitchFamily="34" charset="-122"/>
                <a:ea typeface="微软雅黑" panose="020B0503020204020204" pitchFamily="34" charset="-122"/>
              </a:rPr>
              <a:t>区域的媒体资源。</a:t>
            </a:r>
          </a:p>
        </p:txBody>
      </p:sp>
      <p:sp>
        <p:nvSpPr>
          <p:cNvPr id="15" name="矩形: 圆角 14">
            <a:extLst>
              <a:ext uri="{FF2B5EF4-FFF2-40B4-BE49-F238E27FC236}">
                <a16:creationId xmlns:a16="http://schemas.microsoft.com/office/drawing/2014/main" id="{9BA99777-656C-E1AF-CB2D-02B9D579EED3}"/>
              </a:ext>
            </a:extLst>
          </p:cNvPr>
          <p:cNvSpPr/>
          <p:nvPr/>
        </p:nvSpPr>
        <p:spPr>
          <a:xfrm>
            <a:off x="4465031" y="4077866"/>
            <a:ext cx="6889963" cy="1656184"/>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25">
            <a:extLst>
              <a:ext uri="{FF2B5EF4-FFF2-40B4-BE49-F238E27FC236}">
                <a16:creationId xmlns:a16="http://schemas.microsoft.com/office/drawing/2014/main" id="{3008FBAD-0A25-6093-6535-76C070C11694}"/>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24">
            <a:extLst>
              <a:ext uri="{FF2B5EF4-FFF2-40B4-BE49-F238E27FC236}">
                <a16:creationId xmlns:a16="http://schemas.microsoft.com/office/drawing/2014/main" id="{F8B15472-A243-388E-316E-71572BAE3345}"/>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RQ-A-0-10-02</a:t>
            </a:r>
          </a:p>
          <a:p>
            <a:pPr algn="ctr"/>
            <a:r>
              <a:rPr lang="zh-CN" altLang="zh-CN" sz="2000" b="1" dirty="0">
                <a:solidFill>
                  <a:schemeClr val="bg1"/>
                </a:solidFill>
                <a:latin typeface="微软雅黑" panose="020B0503020204020204" pitchFamily="34" charset="-122"/>
                <a:ea typeface="微软雅黑" panose="020B0503020204020204" pitchFamily="34" charset="-122"/>
              </a:rPr>
              <a:t>越界冗余数据过滤与标记</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8" name="矩形 1">
            <a:extLst>
              <a:ext uri="{FF2B5EF4-FFF2-40B4-BE49-F238E27FC236}">
                <a16:creationId xmlns:a16="http://schemas.microsoft.com/office/drawing/2014/main" id="{5A127F19-AA6B-F3DB-B29D-773DC4E6B3CE}"/>
              </a:ext>
            </a:extLst>
          </p:cNvPr>
          <p:cNvSpPr/>
          <p:nvPr/>
        </p:nvSpPr>
        <p:spPr>
          <a:xfrm>
            <a:off x="4675353" y="4221300"/>
            <a:ext cx="6469318"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在生成音频物理文件及向数据库写入元数据时，模块需在数据结构中绑定</a:t>
            </a:r>
            <a:r>
              <a:rPr lang="en-US" altLang="zh-CN" sz="2000" dirty="0">
                <a:latin typeface="微软雅黑" panose="020B0503020204020204" pitchFamily="34" charset="-122"/>
                <a:ea typeface="微软雅黑" panose="020B0503020204020204" pitchFamily="34" charset="-122"/>
              </a:rPr>
              <a:t>VHHH</a:t>
            </a:r>
            <a:r>
              <a:rPr lang="zh-CN" altLang="zh-CN" sz="2000" dirty="0">
                <a:latin typeface="微软雅黑" panose="020B0503020204020204" pitchFamily="34" charset="-122"/>
                <a:ea typeface="微软雅黑" panose="020B0503020204020204" pitchFamily="34" charset="-122"/>
              </a:rPr>
              <a:t>标识字段。针对广播流中夹杂的周边空域信号，系统不执行声学层面的剔除，按统一物理路径与命名规范分类存储。</a:t>
            </a:r>
          </a:p>
        </p:txBody>
      </p:sp>
    </p:spTree>
    <p:extLst>
      <p:ext uri="{BB962C8B-B14F-4D97-AF65-F5344CB8AC3E}">
        <p14:creationId xmlns:p14="http://schemas.microsoft.com/office/powerpoint/2010/main" val="226994578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20FF-22F4-5136-91BD-0F0A36519FE9}"/>
            </a:ext>
          </a:extLst>
        </p:cNvPr>
        <p:cNvGrpSpPr/>
        <p:nvPr/>
      </p:nvGrpSpPr>
      <p:grpSpPr>
        <a:xfrm>
          <a:off x="0" y="0"/>
          <a:ext cx="0" cy="0"/>
          <a:chOff x="0" y="0"/>
          <a:chExt cx="0" cy="0"/>
        </a:xfrm>
      </p:grpSpPr>
      <p:sp>
        <p:nvSpPr>
          <p:cNvPr id="12" name="矩形: 圆角 11">
            <a:extLst>
              <a:ext uri="{FF2B5EF4-FFF2-40B4-BE49-F238E27FC236}">
                <a16:creationId xmlns:a16="http://schemas.microsoft.com/office/drawing/2014/main" id="{EE47C117-D206-059B-4B51-2D32A1FA0241}"/>
              </a:ext>
            </a:extLst>
          </p:cNvPr>
          <p:cNvSpPr/>
          <p:nvPr/>
        </p:nvSpPr>
        <p:spPr>
          <a:xfrm>
            <a:off x="4465031" y="1419648"/>
            <a:ext cx="6889963" cy="184781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048762" name="矩形 25">
            <a:extLst>
              <a:ext uri="{FF2B5EF4-FFF2-40B4-BE49-F238E27FC236}">
                <a16:creationId xmlns:a16="http://schemas.microsoft.com/office/drawing/2014/main" id="{45BD14B0-EE76-496B-10C2-226D99C9272B}"/>
              </a:ext>
            </a:extLst>
          </p:cNvPr>
          <p:cNvSpPr/>
          <p:nvPr/>
        </p:nvSpPr>
        <p:spPr>
          <a:xfrm>
            <a:off x="335447" y="192805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048764" name="矩形 24">
            <a:extLst>
              <a:ext uri="{FF2B5EF4-FFF2-40B4-BE49-F238E27FC236}">
                <a16:creationId xmlns:a16="http://schemas.microsoft.com/office/drawing/2014/main" id="{15A8FEB1-3556-769B-20D7-2724FFDF00ED}"/>
              </a:ext>
            </a:extLst>
          </p:cNvPr>
          <p:cNvSpPr/>
          <p:nvPr/>
        </p:nvSpPr>
        <p:spPr>
          <a:xfrm>
            <a:off x="264939" y="199195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RQ-A-0-20-01</a:t>
            </a:r>
          </a:p>
          <a:p>
            <a:pPr algn="ctr"/>
            <a:r>
              <a:rPr lang="zh-CN" altLang="zh-CN" sz="2000" b="1" dirty="0">
                <a:solidFill>
                  <a:schemeClr val="bg1"/>
                </a:solidFill>
                <a:latin typeface="微软雅黑" panose="020B0503020204020204" pitchFamily="34" charset="-122"/>
                <a:ea typeface="微软雅黑" panose="020B0503020204020204" pitchFamily="34" charset="-122"/>
              </a:rPr>
              <a:t>适配低内存限制的异步框架</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48765" name="TextBox 11">
            <a:extLst>
              <a:ext uri="{FF2B5EF4-FFF2-40B4-BE49-F238E27FC236}">
                <a16:creationId xmlns:a16="http://schemas.microsoft.com/office/drawing/2014/main" id="{2DFF9EAB-0443-799A-9104-EAE384F3165C}"/>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RQ-A-0-20 </a:t>
            </a:r>
            <a:r>
              <a:rPr lang="zh-CN" altLang="en-US" sz="3200" b="1" dirty="0">
                <a:solidFill>
                  <a:schemeClr val="bg1"/>
                </a:solidFill>
                <a:latin typeface="微软雅黑" panose="020B0503020204020204" pitchFamily="34" charset="-122"/>
                <a:ea typeface="微软雅黑" panose="020B0503020204020204" pitchFamily="34" charset="-122"/>
              </a:rPr>
              <a:t>开发规范</a:t>
            </a:r>
          </a:p>
        </p:txBody>
      </p:sp>
      <p:sp>
        <p:nvSpPr>
          <p:cNvPr id="6" name="矩形 1">
            <a:extLst>
              <a:ext uri="{FF2B5EF4-FFF2-40B4-BE49-F238E27FC236}">
                <a16:creationId xmlns:a16="http://schemas.microsoft.com/office/drawing/2014/main" id="{C89F2285-B143-3555-336B-E7EDD456947C}"/>
              </a:ext>
            </a:extLst>
          </p:cNvPr>
          <p:cNvSpPr/>
          <p:nvPr/>
        </p:nvSpPr>
        <p:spPr>
          <a:xfrm>
            <a:off x="4885676" y="1507868"/>
            <a:ext cx="6048672" cy="1631216"/>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后端代码需使用</a:t>
            </a:r>
            <a:r>
              <a:rPr lang="en-US" altLang="zh-CN" sz="2000" dirty="0">
                <a:latin typeface="微软雅黑" panose="020B0503020204020204" pitchFamily="34" charset="-122"/>
                <a:ea typeface="微软雅黑" panose="020B0503020204020204" pitchFamily="34" charset="-122"/>
              </a:rPr>
              <a:t>Python</a:t>
            </a:r>
            <a:r>
              <a:rPr lang="zh-CN" altLang="zh-CN" sz="2000" dirty="0">
                <a:latin typeface="微软雅黑" panose="020B0503020204020204" pitchFamily="34" charset="-122"/>
                <a:ea typeface="微软雅黑" panose="020B0503020204020204" pitchFamily="34" charset="-122"/>
              </a:rPr>
              <a:t>语言及</a:t>
            </a:r>
            <a:r>
              <a:rPr lang="en-US" altLang="zh-CN" sz="2000" dirty="0" err="1">
                <a:latin typeface="微软雅黑" panose="020B0503020204020204" pitchFamily="34" charset="-122"/>
                <a:ea typeface="微软雅黑" panose="020B0503020204020204" pitchFamily="34" charset="-122"/>
              </a:rPr>
              <a:t>FastAPI</a:t>
            </a:r>
            <a:r>
              <a:rPr lang="zh-CN" altLang="zh-CN" sz="2000" dirty="0">
                <a:latin typeface="微软雅黑" panose="020B0503020204020204" pitchFamily="34" charset="-122"/>
                <a:ea typeface="微软雅黑" panose="020B0503020204020204" pitchFamily="34" charset="-122"/>
              </a:rPr>
              <a:t>框架构建，全部</a:t>
            </a:r>
            <a:r>
              <a:rPr lang="en-US" altLang="zh-CN" sz="2000" dirty="0">
                <a:latin typeface="微软雅黑" panose="020B0503020204020204" pitchFamily="34" charset="-122"/>
                <a:ea typeface="微软雅黑" panose="020B0503020204020204" pitchFamily="34" charset="-122"/>
              </a:rPr>
              <a:t>I/O</a:t>
            </a:r>
            <a:r>
              <a:rPr lang="zh-CN" altLang="zh-CN" sz="2000" dirty="0">
                <a:latin typeface="微软雅黑" panose="020B0503020204020204" pitchFamily="34" charset="-122"/>
                <a:ea typeface="微软雅黑" panose="020B0503020204020204" pitchFamily="34" charset="-122"/>
              </a:rPr>
              <a:t>操作需采取异步非阻塞机制。针对</a:t>
            </a:r>
            <a:r>
              <a:rPr lang="en-US" altLang="zh-CN" sz="2000" dirty="0">
                <a:latin typeface="微软雅黑" panose="020B0503020204020204" pitchFamily="34" charset="-122"/>
                <a:ea typeface="微软雅黑" panose="020B0503020204020204" pitchFamily="34" charset="-122"/>
              </a:rPr>
              <a:t>512MB</a:t>
            </a:r>
            <a:r>
              <a:rPr lang="zh-CN" altLang="zh-CN" sz="2000" dirty="0">
                <a:latin typeface="微软雅黑" panose="020B0503020204020204" pitchFamily="34" charset="-122"/>
                <a:ea typeface="微软雅黑" panose="020B0503020204020204" pitchFamily="34" charset="-122"/>
              </a:rPr>
              <a:t>物理内存上限，音频文件读写与网络传输需强制采用分块读取（</a:t>
            </a:r>
            <a:r>
              <a:rPr lang="en-US" altLang="zh-CN" sz="2000" dirty="0">
                <a:latin typeface="微软雅黑" panose="020B0503020204020204" pitchFamily="34" charset="-122"/>
                <a:ea typeface="微软雅黑" panose="020B0503020204020204" pitchFamily="34" charset="-122"/>
              </a:rPr>
              <a:t>Chunking</a:t>
            </a:r>
            <a:r>
              <a:rPr lang="zh-CN" altLang="zh-CN" sz="2000" dirty="0">
                <a:latin typeface="微软雅黑" panose="020B0503020204020204" pitchFamily="34" charset="-122"/>
                <a:ea typeface="微软雅黑" panose="020B0503020204020204" pitchFamily="34" charset="-122"/>
              </a:rPr>
              <a:t>）或流式处理（</a:t>
            </a:r>
            <a:r>
              <a:rPr lang="en-US" altLang="zh-CN" sz="2000" dirty="0">
                <a:latin typeface="微软雅黑" panose="020B0503020204020204" pitchFamily="34" charset="-122"/>
                <a:ea typeface="微软雅黑" panose="020B0503020204020204" pitchFamily="34" charset="-122"/>
              </a:rPr>
              <a:t>Streaming</a:t>
            </a:r>
            <a:r>
              <a:rPr lang="zh-CN" altLang="zh-CN" sz="2000" dirty="0">
                <a:latin typeface="微软雅黑" panose="020B0503020204020204" pitchFamily="34" charset="-122"/>
                <a:ea typeface="微软雅黑" panose="020B0503020204020204" pitchFamily="34" charset="-122"/>
              </a:rPr>
              <a:t>）机制，禁止将大体积媒体文件完整加载至内存变量。</a:t>
            </a:r>
          </a:p>
        </p:txBody>
      </p:sp>
      <p:sp>
        <p:nvSpPr>
          <p:cNvPr id="15" name="矩形: 圆角 14">
            <a:extLst>
              <a:ext uri="{FF2B5EF4-FFF2-40B4-BE49-F238E27FC236}">
                <a16:creationId xmlns:a16="http://schemas.microsoft.com/office/drawing/2014/main" id="{CE4AEF28-C249-2862-D461-19071DFF15E1}"/>
              </a:ext>
            </a:extLst>
          </p:cNvPr>
          <p:cNvSpPr/>
          <p:nvPr/>
        </p:nvSpPr>
        <p:spPr>
          <a:xfrm>
            <a:off x="4465031" y="4342398"/>
            <a:ext cx="6889963" cy="127993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6" name="矩形 25">
            <a:extLst>
              <a:ext uri="{FF2B5EF4-FFF2-40B4-BE49-F238E27FC236}">
                <a16:creationId xmlns:a16="http://schemas.microsoft.com/office/drawing/2014/main" id="{34B020A7-CA84-BFAC-00CD-FCE749A5EFFD}"/>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7" name="矩形 24">
            <a:extLst>
              <a:ext uri="{FF2B5EF4-FFF2-40B4-BE49-F238E27FC236}">
                <a16:creationId xmlns:a16="http://schemas.microsoft.com/office/drawing/2014/main" id="{7E8BF54C-1F6E-3CFC-4E8D-98A72C5B4C16}"/>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RQ-A-0-20-02</a:t>
            </a:r>
          </a:p>
          <a:p>
            <a:pPr algn="ctr"/>
            <a:r>
              <a:rPr lang="zh-CN" altLang="zh-CN" sz="2000" b="1" dirty="0">
                <a:solidFill>
                  <a:schemeClr val="bg1"/>
                </a:solidFill>
                <a:latin typeface="微软雅黑" panose="020B0503020204020204" pitchFamily="34" charset="-122"/>
                <a:ea typeface="微软雅黑" panose="020B0503020204020204" pitchFamily="34" charset="-122"/>
              </a:rPr>
              <a:t>部署脚本与宿主机环境匹配</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8" name="矩形 1">
            <a:extLst>
              <a:ext uri="{FF2B5EF4-FFF2-40B4-BE49-F238E27FC236}">
                <a16:creationId xmlns:a16="http://schemas.microsoft.com/office/drawing/2014/main" id="{510DDFDE-728B-2D6C-7F11-E0E53ABA2CCD}"/>
              </a:ext>
            </a:extLst>
          </p:cNvPr>
          <p:cNvSpPr/>
          <p:nvPr/>
        </p:nvSpPr>
        <p:spPr>
          <a:xfrm>
            <a:off x="4758183" y="4424277"/>
            <a:ext cx="6469318" cy="1015663"/>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服务端程序需支持在</a:t>
            </a:r>
            <a:r>
              <a:rPr lang="en-US" altLang="zh-CN" sz="2000" dirty="0">
                <a:latin typeface="微软雅黑" panose="020B0503020204020204" pitchFamily="34" charset="-122"/>
                <a:ea typeface="微软雅黑" panose="020B0503020204020204" pitchFamily="34" charset="-122"/>
              </a:rPr>
              <a:t>Debian x64 Linux</a:t>
            </a:r>
            <a:r>
              <a:rPr lang="zh-CN" altLang="zh-CN" sz="2000" dirty="0">
                <a:latin typeface="微软雅黑" panose="020B0503020204020204" pitchFamily="34" charset="-122"/>
                <a:ea typeface="微软雅黑" panose="020B0503020204020204" pitchFamily="34" charset="-122"/>
              </a:rPr>
              <a:t>操作系统的容器或系统服务中运行。进程管理器需配置相应的重启策略，监控内存泄漏及文件句柄资源上限。</a:t>
            </a:r>
          </a:p>
        </p:txBody>
      </p:sp>
    </p:spTree>
    <p:extLst>
      <p:ext uri="{BB962C8B-B14F-4D97-AF65-F5344CB8AC3E}">
        <p14:creationId xmlns:p14="http://schemas.microsoft.com/office/powerpoint/2010/main" val="389671762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F7A78-E45F-430D-F45A-5A339B1660F1}"/>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FCC5CD73-5C83-F7CC-95BD-28E9815A2084}"/>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RQ-A-2-10 </a:t>
            </a:r>
            <a:r>
              <a:rPr lang="zh-CN" altLang="en-US" sz="3200" b="1" dirty="0">
                <a:solidFill>
                  <a:schemeClr val="bg1"/>
                </a:solidFill>
                <a:latin typeface="微软雅黑" panose="020B0503020204020204" pitchFamily="34" charset="-122"/>
                <a:ea typeface="微软雅黑" panose="020B0503020204020204" pitchFamily="34" charset="-122"/>
              </a:rPr>
              <a:t>语音数据接收</a:t>
            </a:r>
          </a:p>
        </p:txBody>
      </p:sp>
      <p:sp>
        <p:nvSpPr>
          <p:cNvPr id="2" name="矩形: 圆角 1">
            <a:extLst>
              <a:ext uri="{FF2B5EF4-FFF2-40B4-BE49-F238E27FC236}">
                <a16:creationId xmlns:a16="http://schemas.microsoft.com/office/drawing/2014/main" id="{268740AE-9A48-FFBC-EADA-9C10F306B065}"/>
              </a:ext>
            </a:extLst>
          </p:cNvPr>
          <p:cNvSpPr/>
          <p:nvPr/>
        </p:nvSpPr>
        <p:spPr>
          <a:xfrm>
            <a:off x="4465031" y="1413570"/>
            <a:ext cx="6889963" cy="1584176"/>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5">
            <a:extLst>
              <a:ext uri="{FF2B5EF4-FFF2-40B4-BE49-F238E27FC236}">
                <a16:creationId xmlns:a16="http://schemas.microsoft.com/office/drawing/2014/main" id="{EA85FFD7-E6F1-5D94-5B45-DF185114B42F}"/>
              </a:ext>
            </a:extLst>
          </p:cNvPr>
          <p:cNvSpPr/>
          <p:nvPr/>
        </p:nvSpPr>
        <p:spPr>
          <a:xfrm>
            <a:off x="335447" y="1896271"/>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 name="矩形 24">
            <a:extLst>
              <a:ext uri="{FF2B5EF4-FFF2-40B4-BE49-F238E27FC236}">
                <a16:creationId xmlns:a16="http://schemas.microsoft.com/office/drawing/2014/main" id="{527AECCD-0D27-B95A-3C3B-C6C6CC4A4AFF}"/>
              </a:ext>
            </a:extLst>
          </p:cNvPr>
          <p:cNvSpPr/>
          <p:nvPr/>
        </p:nvSpPr>
        <p:spPr>
          <a:xfrm>
            <a:off x="264939" y="1960172"/>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RQ-A-2-10-01</a:t>
            </a:r>
          </a:p>
          <a:p>
            <a:pPr algn="ctr"/>
            <a:r>
              <a:rPr lang="zh-CN" altLang="zh-CN" sz="2000" b="1" dirty="0">
                <a:solidFill>
                  <a:schemeClr val="bg1"/>
                </a:solidFill>
                <a:latin typeface="微软雅黑" panose="020B0503020204020204" pitchFamily="34" charset="-122"/>
                <a:ea typeface="微软雅黑" panose="020B0503020204020204" pitchFamily="34" charset="-122"/>
              </a:rPr>
              <a:t>建立实时音频流高可用监听</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5" name="矩形 1">
            <a:extLst>
              <a:ext uri="{FF2B5EF4-FFF2-40B4-BE49-F238E27FC236}">
                <a16:creationId xmlns:a16="http://schemas.microsoft.com/office/drawing/2014/main" id="{A1A45F74-E0D7-F527-FC19-93E75EA34FDE}"/>
              </a:ext>
            </a:extLst>
          </p:cNvPr>
          <p:cNvSpPr/>
          <p:nvPr/>
        </p:nvSpPr>
        <p:spPr>
          <a:xfrm>
            <a:off x="4885676" y="1501790"/>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后端服务需与</a:t>
            </a:r>
            <a:r>
              <a:rPr lang="en-US" altLang="zh-CN" sz="2000" dirty="0" err="1">
                <a:latin typeface="微软雅黑" panose="020B0503020204020204" pitchFamily="34" charset="-122"/>
                <a:ea typeface="微软雅黑" panose="020B0503020204020204" pitchFamily="34" charset="-122"/>
              </a:rPr>
              <a:t>LiveATC</a:t>
            </a:r>
            <a:r>
              <a:rPr lang="zh-CN" altLang="zh-CN" sz="2000" dirty="0">
                <a:latin typeface="微软雅黑" panose="020B0503020204020204" pitchFamily="34" charset="-122"/>
                <a:ea typeface="微软雅黑" panose="020B0503020204020204" pitchFamily="34" charset="-122"/>
              </a:rPr>
              <a:t>广播节点建立持久化网络连接。网络请求逻辑必须包含异常捕获与指数退避重试算法，以处理连接超时、</a:t>
            </a:r>
            <a:r>
              <a:rPr lang="en-US" altLang="zh-CN" sz="2000" dirty="0">
                <a:latin typeface="微软雅黑" panose="020B0503020204020204" pitchFamily="34" charset="-122"/>
                <a:ea typeface="微软雅黑" panose="020B0503020204020204" pitchFamily="34" charset="-122"/>
              </a:rPr>
              <a:t>TCP</a:t>
            </a:r>
            <a:r>
              <a:rPr lang="zh-CN" altLang="zh-CN" sz="2000" dirty="0">
                <a:latin typeface="微软雅黑" panose="020B0503020204020204" pitchFamily="34" charset="-122"/>
                <a:ea typeface="微软雅黑" panose="020B0503020204020204" pitchFamily="34" charset="-122"/>
              </a:rPr>
              <a:t>断开等网络异常，保障流摄取进程的稳定性。</a:t>
            </a:r>
          </a:p>
        </p:txBody>
      </p:sp>
      <p:sp>
        <p:nvSpPr>
          <p:cNvPr id="7" name="矩形: 圆角 6">
            <a:extLst>
              <a:ext uri="{FF2B5EF4-FFF2-40B4-BE49-F238E27FC236}">
                <a16:creationId xmlns:a16="http://schemas.microsoft.com/office/drawing/2014/main" id="{A3608537-B322-E327-210E-0DDA7D75506D}"/>
              </a:ext>
            </a:extLst>
          </p:cNvPr>
          <p:cNvSpPr/>
          <p:nvPr/>
        </p:nvSpPr>
        <p:spPr>
          <a:xfrm>
            <a:off x="4465031" y="4005859"/>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775470BF-809B-7CCB-773E-1FC2DEC32475}"/>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70F518A7-E660-854F-4896-54B3B3EAB961}"/>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RQ-A-2-10-02</a:t>
            </a:r>
          </a:p>
          <a:p>
            <a:pPr algn="ctr"/>
            <a:r>
              <a:rPr lang="zh-CN" altLang="zh-CN" sz="2000" b="1" dirty="0">
                <a:solidFill>
                  <a:schemeClr val="bg1"/>
                </a:solidFill>
                <a:latin typeface="微软雅黑" panose="020B0503020204020204" pitchFamily="34" charset="-122"/>
                <a:ea typeface="微软雅黑" panose="020B0503020204020204" pitchFamily="34" charset="-122"/>
              </a:rPr>
              <a:t>流式截断分块与动态时标推演</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22B4463F-8A6D-894B-6BB0-7ED562D78C2D}"/>
              </a:ext>
            </a:extLst>
          </p:cNvPr>
          <p:cNvSpPr/>
          <p:nvPr/>
        </p:nvSpPr>
        <p:spPr>
          <a:xfrm>
            <a:off x="4758183" y="4087738"/>
            <a:ext cx="6469318"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系统按固定时间窗口截断连续接收的音频流并生成物理文件。在截断触发时，引擎需获取系统的标准</a:t>
            </a:r>
            <a:r>
              <a:rPr lang="en-US" altLang="zh-CN" sz="2000" dirty="0">
                <a:latin typeface="微软雅黑" panose="020B0503020204020204" pitchFamily="34" charset="-122"/>
                <a:ea typeface="微软雅黑" panose="020B0503020204020204" pitchFamily="34" charset="-122"/>
              </a:rPr>
              <a:t>UTC</a:t>
            </a:r>
            <a:r>
              <a:rPr lang="zh-CN" altLang="zh-CN" sz="2000" dirty="0">
                <a:latin typeface="微软雅黑" panose="020B0503020204020204" pitchFamily="34" charset="-122"/>
                <a:ea typeface="微软雅黑" panose="020B0503020204020204" pitchFamily="34" charset="-122"/>
              </a:rPr>
              <a:t>时间，结合音频文件的采样率与字节偏移量，计算单段音频的起始和结束时间戳，并同步至下游处理流程。</a:t>
            </a:r>
          </a:p>
        </p:txBody>
      </p:sp>
    </p:spTree>
    <p:extLst>
      <p:ext uri="{BB962C8B-B14F-4D97-AF65-F5344CB8AC3E}">
        <p14:creationId xmlns:p14="http://schemas.microsoft.com/office/powerpoint/2010/main" val="97882634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5117D-C05A-4114-A8E0-99D39C664A05}"/>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CC9E6FBB-8EEB-BCC2-570A-74E755FEF455}"/>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RQ-A-2-20 </a:t>
            </a:r>
            <a:r>
              <a:rPr lang="zh-CN" altLang="en-US" sz="3200" b="1" dirty="0">
                <a:solidFill>
                  <a:schemeClr val="bg1"/>
                </a:solidFill>
                <a:latin typeface="微软雅黑" panose="020B0503020204020204" pitchFamily="34" charset="-122"/>
                <a:ea typeface="微软雅黑" panose="020B0503020204020204" pitchFamily="34" charset="-122"/>
              </a:rPr>
              <a:t>语音数据下载</a:t>
            </a:r>
          </a:p>
        </p:txBody>
      </p:sp>
      <p:sp>
        <p:nvSpPr>
          <p:cNvPr id="2" name="矩形: 圆角 1">
            <a:extLst>
              <a:ext uri="{FF2B5EF4-FFF2-40B4-BE49-F238E27FC236}">
                <a16:creationId xmlns:a16="http://schemas.microsoft.com/office/drawing/2014/main" id="{562E958E-6D78-5CF3-3534-DB26C4996C8B}"/>
              </a:ext>
            </a:extLst>
          </p:cNvPr>
          <p:cNvSpPr/>
          <p:nvPr/>
        </p:nvSpPr>
        <p:spPr>
          <a:xfrm>
            <a:off x="4465031" y="1413570"/>
            <a:ext cx="6889963" cy="1411659"/>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3" name="矩形 25">
            <a:extLst>
              <a:ext uri="{FF2B5EF4-FFF2-40B4-BE49-F238E27FC236}">
                <a16:creationId xmlns:a16="http://schemas.microsoft.com/office/drawing/2014/main" id="{EFDE54F1-BFC7-72A8-C004-063CB7261F0D}"/>
              </a:ext>
            </a:extLst>
          </p:cNvPr>
          <p:cNvSpPr/>
          <p:nvPr/>
        </p:nvSpPr>
        <p:spPr>
          <a:xfrm>
            <a:off x="335447" y="1779682"/>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 name="矩形 24">
            <a:extLst>
              <a:ext uri="{FF2B5EF4-FFF2-40B4-BE49-F238E27FC236}">
                <a16:creationId xmlns:a16="http://schemas.microsoft.com/office/drawing/2014/main" id="{79336B89-C78E-5833-9DE3-D3EB426F8B2E}"/>
              </a:ext>
            </a:extLst>
          </p:cNvPr>
          <p:cNvSpPr/>
          <p:nvPr/>
        </p:nvSpPr>
        <p:spPr>
          <a:xfrm>
            <a:off x="264939" y="1843583"/>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RQ-A-2-20-01</a:t>
            </a:r>
          </a:p>
          <a:p>
            <a:pPr algn="ctr"/>
            <a:r>
              <a:rPr lang="zh-CN" altLang="zh-CN" sz="2000" b="1" dirty="0">
                <a:solidFill>
                  <a:schemeClr val="bg1"/>
                </a:solidFill>
                <a:latin typeface="微软雅黑" panose="020B0503020204020204" pitchFamily="34" charset="-122"/>
                <a:ea typeface="微软雅黑" panose="020B0503020204020204" pitchFamily="34" charset="-122"/>
              </a:rPr>
              <a:t>历史归档音频队列自动化拉取</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5" name="矩形 1">
            <a:extLst>
              <a:ext uri="{FF2B5EF4-FFF2-40B4-BE49-F238E27FC236}">
                <a16:creationId xmlns:a16="http://schemas.microsoft.com/office/drawing/2014/main" id="{4D9BEFF7-CFA5-1D85-8E8C-CB170365AEEB}"/>
              </a:ext>
            </a:extLst>
          </p:cNvPr>
          <p:cNvSpPr/>
          <p:nvPr/>
        </p:nvSpPr>
        <p:spPr>
          <a:xfrm>
            <a:off x="4885676" y="1501790"/>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部署定时调度脚本，按配置的抓取任务列表请求历史音频链接。大体积压缩音频的下载需使用异步流式写入（</a:t>
            </a:r>
            <a:r>
              <a:rPr lang="en-US" altLang="zh-CN" sz="2000" dirty="0">
                <a:latin typeface="微软雅黑" panose="020B0503020204020204" pitchFamily="34" charset="-122"/>
                <a:ea typeface="微软雅黑" panose="020B0503020204020204" pitchFamily="34" charset="-122"/>
              </a:rPr>
              <a:t>Streaming Write</a:t>
            </a:r>
            <a:r>
              <a:rPr lang="zh-CN" altLang="zh-CN" sz="2000" dirty="0">
                <a:latin typeface="微软雅黑" panose="020B0503020204020204" pitchFamily="34" charset="-122"/>
                <a:ea typeface="微软雅黑" panose="020B0503020204020204" pitchFamily="34" charset="-122"/>
              </a:rPr>
              <a:t>）接口追加保存至磁盘，控制峰值内存消耗。</a:t>
            </a:r>
          </a:p>
        </p:txBody>
      </p:sp>
      <p:sp>
        <p:nvSpPr>
          <p:cNvPr id="7" name="矩形: 圆角 6">
            <a:extLst>
              <a:ext uri="{FF2B5EF4-FFF2-40B4-BE49-F238E27FC236}">
                <a16:creationId xmlns:a16="http://schemas.microsoft.com/office/drawing/2014/main" id="{0DCF761A-1EA6-AC03-4CFD-B2C85E93D3AB}"/>
              </a:ext>
            </a:extLst>
          </p:cNvPr>
          <p:cNvSpPr/>
          <p:nvPr/>
        </p:nvSpPr>
        <p:spPr>
          <a:xfrm>
            <a:off x="4465031" y="4077866"/>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770721CB-48BF-349C-412E-E2D7F2E3986A}"/>
              </a:ext>
            </a:extLst>
          </p:cNvPr>
          <p:cNvSpPr/>
          <p:nvPr/>
        </p:nvSpPr>
        <p:spPr>
          <a:xfrm>
            <a:off x="335447" y="4341132"/>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63C77559-2883-2C5B-873A-3157E7D8FF9B}"/>
              </a:ext>
            </a:extLst>
          </p:cNvPr>
          <p:cNvSpPr/>
          <p:nvPr/>
        </p:nvSpPr>
        <p:spPr>
          <a:xfrm>
            <a:off x="264939" y="4405033"/>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RQ-A-2-20-02</a:t>
            </a:r>
          </a:p>
          <a:p>
            <a:pPr algn="ctr"/>
            <a:r>
              <a:rPr lang="zh-CN" altLang="zh-CN" sz="2000" b="1" dirty="0">
                <a:solidFill>
                  <a:schemeClr val="bg1"/>
                </a:solidFill>
                <a:latin typeface="微软雅黑" panose="020B0503020204020204" pitchFamily="34" charset="-122"/>
                <a:ea typeface="微软雅黑" panose="020B0503020204020204" pitchFamily="34" charset="-122"/>
              </a:rPr>
              <a:t>命名规则解析与绝对时间对齐</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286BC405-FF04-DFD3-E40D-9B1D46894D11}"/>
              </a:ext>
            </a:extLst>
          </p:cNvPr>
          <p:cNvSpPr/>
          <p:nvPr/>
        </p:nvSpPr>
        <p:spPr>
          <a:xfrm>
            <a:off x="4758183" y="4159745"/>
            <a:ext cx="6469318"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从下载链接与文件名中提取包含录音日期的字符串。通过解析算法将文本日期转换为标准的</a:t>
            </a:r>
            <a:r>
              <a:rPr lang="en-US" altLang="zh-CN" sz="2000" dirty="0">
                <a:latin typeface="微软雅黑" panose="020B0503020204020204" pitchFamily="34" charset="-122"/>
                <a:ea typeface="微软雅黑" panose="020B0503020204020204" pitchFamily="34" charset="-122"/>
              </a:rPr>
              <a:t>Unix</a:t>
            </a:r>
            <a:r>
              <a:rPr lang="zh-CN" altLang="zh-CN" sz="2000" dirty="0">
                <a:latin typeface="微软雅黑" panose="020B0503020204020204" pitchFamily="34" charset="-122"/>
                <a:ea typeface="微软雅黑" panose="020B0503020204020204" pitchFamily="34" charset="-122"/>
              </a:rPr>
              <a:t>时间戳。确保历史文件的时间标度与实时监听文件保持统一，便于后续数据库的查询与对齐。</a:t>
            </a:r>
          </a:p>
        </p:txBody>
      </p:sp>
    </p:spTree>
    <p:extLst>
      <p:ext uri="{BB962C8B-B14F-4D97-AF65-F5344CB8AC3E}">
        <p14:creationId xmlns:p14="http://schemas.microsoft.com/office/powerpoint/2010/main" val="6352181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27973-4FD6-677B-F18D-A2847AC3C809}"/>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749675D6-9F6F-68FC-1FD3-A5C33CFF810C}"/>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RQ-A-2-30 </a:t>
            </a:r>
            <a:r>
              <a:rPr lang="zh-CN" altLang="en-US" sz="3200" b="1" dirty="0">
                <a:solidFill>
                  <a:schemeClr val="bg1"/>
                </a:solidFill>
                <a:latin typeface="微软雅黑" panose="020B0503020204020204" pitchFamily="34" charset="-122"/>
                <a:ea typeface="微软雅黑" panose="020B0503020204020204" pitchFamily="34" charset="-122"/>
              </a:rPr>
              <a:t>语音数据存储</a:t>
            </a:r>
          </a:p>
        </p:txBody>
      </p:sp>
      <p:sp>
        <p:nvSpPr>
          <p:cNvPr id="2" name="矩形: 圆角 1">
            <a:extLst>
              <a:ext uri="{FF2B5EF4-FFF2-40B4-BE49-F238E27FC236}">
                <a16:creationId xmlns:a16="http://schemas.microsoft.com/office/drawing/2014/main" id="{D479FA5A-759F-5ADE-AF56-D978E72DF9C6}"/>
              </a:ext>
            </a:extLst>
          </p:cNvPr>
          <p:cNvSpPr/>
          <p:nvPr/>
        </p:nvSpPr>
        <p:spPr>
          <a:xfrm>
            <a:off x="4465031" y="1413570"/>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3" name="矩形 25">
            <a:extLst>
              <a:ext uri="{FF2B5EF4-FFF2-40B4-BE49-F238E27FC236}">
                <a16:creationId xmlns:a16="http://schemas.microsoft.com/office/drawing/2014/main" id="{C74E131B-48BC-C800-67D8-C13C9BE39694}"/>
              </a:ext>
            </a:extLst>
          </p:cNvPr>
          <p:cNvSpPr/>
          <p:nvPr/>
        </p:nvSpPr>
        <p:spPr>
          <a:xfrm>
            <a:off x="335447" y="1896271"/>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4" name="矩形 24">
            <a:extLst>
              <a:ext uri="{FF2B5EF4-FFF2-40B4-BE49-F238E27FC236}">
                <a16:creationId xmlns:a16="http://schemas.microsoft.com/office/drawing/2014/main" id="{99F5718C-57B8-1B60-2CE7-9B8071FDAD43}"/>
              </a:ext>
            </a:extLst>
          </p:cNvPr>
          <p:cNvSpPr/>
          <p:nvPr/>
        </p:nvSpPr>
        <p:spPr>
          <a:xfrm>
            <a:off x="264939" y="1960172"/>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RQ-A-2-30-01</a:t>
            </a:r>
          </a:p>
          <a:p>
            <a:pPr algn="ctr"/>
            <a:r>
              <a:rPr lang="zh-CN" altLang="zh-CN" sz="2000" b="1" dirty="0">
                <a:solidFill>
                  <a:schemeClr val="bg1"/>
                </a:solidFill>
                <a:latin typeface="微软雅黑" panose="020B0503020204020204" pitchFamily="34" charset="-122"/>
                <a:ea typeface="微软雅黑" panose="020B0503020204020204" pitchFamily="34" charset="-122"/>
              </a:rPr>
              <a:t>磁盘容量监控与预警熔断控制</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5" name="矩形 1">
            <a:extLst>
              <a:ext uri="{FF2B5EF4-FFF2-40B4-BE49-F238E27FC236}">
                <a16:creationId xmlns:a16="http://schemas.microsoft.com/office/drawing/2014/main" id="{49B86474-5EEB-FDEE-B719-7E549EB45AC7}"/>
              </a:ext>
            </a:extLst>
          </p:cNvPr>
          <p:cNvSpPr/>
          <p:nvPr/>
        </p:nvSpPr>
        <p:spPr>
          <a:xfrm>
            <a:off x="4885676" y="1501790"/>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服务主循环定时检测音频存储目录的磁盘可用率。当可用空间低于配置的安全阈值时，系统触发日志告警并暂停分配新的下载任务，防止操作系统因磁盘写满而产生异常。</a:t>
            </a:r>
          </a:p>
        </p:txBody>
      </p:sp>
      <p:sp>
        <p:nvSpPr>
          <p:cNvPr id="7" name="矩形: 圆角 6">
            <a:extLst>
              <a:ext uri="{FF2B5EF4-FFF2-40B4-BE49-F238E27FC236}">
                <a16:creationId xmlns:a16="http://schemas.microsoft.com/office/drawing/2014/main" id="{8A8F78B6-11BB-4BD6-FBCC-479A346CC3B4}"/>
              </a:ext>
            </a:extLst>
          </p:cNvPr>
          <p:cNvSpPr/>
          <p:nvPr/>
        </p:nvSpPr>
        <p:spPr>
          <a:xfrm>
            <a:off x="4465031" y="4077866"/>
            <a:ext cx="6889963" cy="1800200"/>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1CE8856D-2B57-B6D0-CB63-9AFD43C6E959}"/>
              </a:ext>
            </a:extLst>
          </p:cNvPr>
          <p:cNvSpPr/>
          <p:nvPr/>
        </p:nvSpPr>
        <p:spPr>
          <a:xfrm>
            <a:off x="335447" y="4465176"/>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12ECAF2B-0E42-D0C3-DFF9-7E35D8CC797C}"/>
              </a:ext>
            </a:extLst>
          </p:cNvPr>
          <p:cNvSpPr/>
          <p:nvPr/>
        </p:nvSpPr>
        <p:spPr>
          <a:xfrm>
            <a:off x="264939" y="4529077"/>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RQ-A-2-30-02</a:t>
            </a:r>
          </a:p>
          <a:p>
            <a:pPr algn="ctr"/>
            <a:r>
              <a:rPr lang="zh-CN" altLang="zh-CN" sz="2000" b="1" dirty="0">
                <a:solidFill>
                  <a:schemeClr val="bg1"/>
                </a:solidFill>
                <a:latin typeface="微软雅黑" panose="020B0503020204020204" pitchFamily="34" charset="-122"/>
                <a:ea typeface="微软雅黑" panose="020B0503020204020204" pitchFamily="34" charset="-122"/>
              </a:rPr>
              <a:t>基于业务状态的滚动淘汰机制</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B8384443-4BC7-0AF7-E6B0-030DBDC02F85}"/>
              </a:ext>
            </a:extLst>
          </p:cNvPr>
          <p:cNvSpPr/>
          <p:nvPr/>
        </p:nvSpPr>
        <p:spPr>
          <a:xfrm>
            <a:off x="4758183" y="4159745"/>
            <a:ext cx="6469318" cy="1631216"/>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当触发容量阈值后，存储管理模块执行近期最少使用（</a:t>
            </a:r>
            <a:r>
              <a:rPr lang="en-US" altLang="zh-CN" sz="2000" dirty="0">
                <a:latin typeface="微软雅黑" panose="020B0503020204020204" pitchFamily="34" charset="-122"/>
                <a:ea typeface="微软雅黑" panose="020B0503020204020204" pitchFamily="34" charset="-122"/>
              </a:rPr>
              <a:t>LRU</a:t>
            </a:r>
            <a:r>
              <a:rPr lang="zh-CN" altLang="zh-CN" sz="2000" dirty="0">
                <a:latin typeface="微软雅黑" panose="020B0503020204020204" pitchFamily="34" charset="-122"/>
                <a:ea typeface="微软雅黑" panose="020B0503020204020204" pitchFamily="34" charset="-122"/>
              </a:rPr>
              <a:t>）文件清理逻辑。优先删除系统内创建时间最早的过期音频；或调用</a:t>
            </a:r>
            <a:r>
              <a:rPr lang="en-US" altLang="zh-CN" sz="2000" dirty="0">
                <a:latin typeface="微软雅黑" panose="020B0503020204020204" pitchFamily="34" charset="-122"/>
                <a:ea typeface="微软雅黑" panose="020B0503020204020204" pitchFamily="34" charset="-122"/>
              </a:rPr>
              <a:t>A-5</a:t>
            </a:r>
            <a:r>
              <a:rPr lang="zh-CN" altLang="zh-CN" sz="2000" dirty="0">
                <a:latin typeface="微软雅黑" panose="020B0503020204020204" pitchFamily="34" charset="-122"/>
                <a:ea typeface="微软雅黑" panose="020B0503020204020204" pitchFamily="34" charset="-122"/>
              </a:rPr>
              <a:t>模块接口查询处于</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已校验</a:t>
            </a:r>
            <a:r>
              <a:rPr lang="en-US" altLang="zh-CN"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rPr>
              <a:t>状态的记录，删除对应的本地冗余缓存文件以释放磁盘空间。</a:t>
            </a:r>
          </a:p>
        </p:txBody>
      </p:sp>
    </p:spTree>
    <p:extLst>
      <p:ext uri="{BB962C8B-B14F-4D97-AF65-F5344CB8AC3E}">
        <p14:creationId xmlns:p14="http://schemas.microsoft.com/office/powerpoint/2010/main" val="236751347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0C2F5-B281-6FA7-D2EC-2CC9E16FFE8B}"/>
            </a:ext>
          </a:extLst>
        </p:cNvPr>
        <p:cNvGrpSpPr/>
        <p:nvPr/>
      </p:nvGrpSpPr>
      <p:grpSpPr>
        <a:xfrm>
          <a:off x="0" y="0"/>
          <a:ext cx="0" cy="0"/>
          <a:chOff x="0" y="0"/>
          <a:chExt cx="0" cy="0"/>
        </a:xfrm>
      </p:grpSpPr>
      <p:sp>
        <p:nvSpPr>
          <p:cNvPr id="1048765" name="TextBox 11">
            <a:extLst>
              <a:ext uri="{FF2B5EF4-FFF2-40B4-BE49-F238E27FC236}">
                <a16:creationId xmlns:a16="http://schemas.microsoft.com/office/drawing/2014/main" id="{A66192BC-F585-529C-AF95-F7279D85BA6A}"/>
              </a:ext>
            </a:extLst>
          </p:cNvPr>
          <p:cNvSpPr txBox="1"/>
          <p:nvPr/>
        </p:nvSpPr>
        <p:spPr>
          <a:xfrm>
            <a:off x="335447" y="152331"/>
            <a:ext cx="8858484" cy="615577"/>
          </a:xfrm>
          <a:prstGeom prst="rect">
            <a:avLst/>
          </a:prstGeom>
          <a:noFill/>
        </p:spPr>
        <p:txBody>
          <a:bodyPr wrap="square" lIns="121944" tIns="60972" rIns="121944" bIns="60972" rtlCol="0">
            <a:spAutoFit/>
          </a:bodyPr>
          <a:lstStyle/>
          <a:p>
            <a:r>
              <a:rPr lang="en-US" altLang="zh-CN" sz="3200" b="1" dirty="0">
                <a:solidFill>
                  <a:schemeClr val="bg1"/>
                </a:solidFill>
              </a:rPr>
              <a:t>RQ-A-2-40 </a:t>
            </a:r>
            <a:r>
              <a:rPr lang="zh-CN" altLang="en-US" sz="3200" b="1" dirty="0">
                <a:solidFill>
                  <a:schemeClr val="bg1"/>
                </a:solidFill>
                <a:latin typeface="微软雅黑" panose="020B0503020204020204" pitchFamily="34" charset="-122"/>
                <a:ea typeface="微软雅黑" panose="020B0503020204020204" pitchFamily="34" charset="-122"/>
              </a:rPr>
              <a:t>语音数据接口</a:t>
            </a:r>
          </a:p>
        </p:txBody>
      </p:sp>
      <p:sp>
        <p:nvSpPr>
          <p:cNvPr id="7" name="矩形: 圆角 6">
            <a:extLst>
              <a:ext uri="{FF2B5EF4-FFF2-40B4-BE49-F238E27FC236}">
                <a16:creationId xmlns:a16="http://schemas.microsoft.com/office/drawing/2014/main" id="{82A342A4-C8FD-A008-B6CD-78932B8CE4CE}"/>
              </a:ext>
            </a:extLst>
          </p:cNvPr>
          <p:cNvSpPr/>
          <p:nvPr/>
        </p:nvSpPr>
        <p:spPr>
          <a:xfrm>
            <a:off x="4465031" y="1413570"/>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8" name="矩形 25">
            <a:extLst>
              <a:ext uri="{FF2B5EF4-FFF2-40B4-BE49-F238E27FC236}">
                <a16:creationId xmlns:a16="http://schemas.microsoft.com/office/drawing/2014/main" id="{5A0F8EBC-D1F2-5C2F-E77E-32551AD04CB0}"/>
              </a:ext>
            </a:extLst>
          </p:cNvPr>
          <p:cNvSpPr/>
          <p:nvPr/>
        </p:nvSpPr>
        <p:spPr>
          <a:xfrm>
            <a:off x="335447" y="1793944"/>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9" name="矩形 24">
            <a:extLst>
              <a:ext uri="{FF2B5EF4-FFF2-40B4-BE49-F238E27FC236}">
                <a16:creationId xmlns:a16="http://schemas.microsoft.com/office/drawing/2014/main" id="{72F8595E-3CD6-D1A4-4E88-1FA04D3574A7}"/>
              </a:ext>
            </a:extLst>
          </p:cNvPr>
          <p:cNvSpPr/>
          <p:nvPr/>
        </p:nvSpPr>
        <p:spPr>
          <a:xfrm>
            <a:off x="264939" y="1857845"/>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RQ-A-2-40-01</a:t>
            </a:r>
          </a:p>
          <a:p>
            <a:pPr algn="ctr"/>
            <a:r>
              <a:rPr lang="zh-CN" altLang="zh-CN" sz="2000" b="1" dirty="0">
                <a:solidFill>
                  <a:schemeClr val="bg1"/>
                </a:solidFill>
                <a:latin typeface="微软雅黑" panose="020B0503020204020204" pitchFamily="34" charset="-122"/>
                <a:ea typeface="微软雅黑" panose="020B0503020204020204" pitchFamily="34" charset="-122"/>
              </a:rPr>
              <a:t>请求参数解析与本地时标检索</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0" name="矩形 1">
            <a:extLst>
              <a:ext uri="{FF2B5EF4-FFF2-40B4-BE49-F238E27FC236}">
                <a16:creationId xmlns:a16="http://schemas.microsoft.com/office/drawing/2014/main" id="{030D0916-C91B-811C-F5B9-D21C364E4741}"/>
              </a:ext>
            </a:extLst>
          </p:cNvPr>
          <p:cNvSpPr/>
          <p:nvPr/>
        </p:nvSpPr>
        <p:spPr>
          <a:xfrm>
            <a:off x="4885676" y="1501790"/>
            <a:ext cx="6048672"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接口接收时间范围参数并进行数据格式校验。服务端逻辑根据传入的时间戳在文件系统或</a:t>
            </a:r>
            <a:r>
              <a:rPr lang="en-US" altLang="zh-CN" sz="2000" dirty="0">
                <a:latin typeface="微软雅黑" panose="020B0503020204020204" pitchFamily="34" charset="-122"/>
                <a:ea typeface="微软雅黑" panose="020B0503020204020204" pitchFamily="34" charset="-122"/>
              </a:rPr>
              <a:t>A-5</a:t>
            </a:r>
            <a:r>
              <a:rPr lang="zh-CN" altLang="zh-CN" sz="2000" dirty="0">
                <a:latin typeface="微软雅黑" panose="020B0503020204020204" pitchFamily="34" charset="-122"/>
                <a:ea typeface="微软雅黑" panose="020B0503020204020204" pitchFamily="34" charset="-122"/>
              </a:rPr>
              <a:t>数据库映射表中检索对应的媒体文件，计算出音频数据的确切文件路径与读取偏移量。</a:t>
            </a:r>
          </a:p>
        </p:txBody>
      </p:sp>
      <p:sp>
        <p:nvSpPr>
          <p:cNvPr id="11" name="矩形: 圆角 10">
            <a:extLst>
              <a:ext uri="{FF2B5EF4-FFF2-40B4-BE49-F238E27FC236}">
                <a16:creationId xmlns:a16="http://schemas.microsoft.com/office/drawing/2014/main" id="{BA6D5801-B7EA-87C3-D572-D3B24C37A005}"/>
              </a:ext>
            </a:extLst>
          </p:cNvPr>
          <p:cNvSpPr/>
          <p:nvPr/>
        </p:nvSpPr>
        <p:spPr>
          <a:xfrm>
            <a:off x="4465031" y="4077866"/>
            <a:ext cx="6889963" cy="1512168"/>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pitchFamily="34" charset="-122"/>
              <a:ea typeface="微软雅黑" panose="020B0503020204020204" pitchFamily="34" charset="-122"/>
            </a:endParaRPr>
          </a:p>
        </p:txBody>
      </p:sp>
      <p:sp>
        <p:nvSpPr>
          <p:cNvPr id="13" name="矩形 25">
            <a:extLst>
              <a:ext uri="{FF2B5EF4-FFF2-40B4-BE49-F238E27FC236}">
                <a16:creationId xmlns:a16="http://schemas.microsoft.com/office/drawing/2014/main" id="{253AE71D-B17E-1235-CB94-4921DA2C0440}"/>
              </a:ext>
            </a:extLst>
          </p:cNvPr>
          <p:cNvSpPr/>
          <p:nvPr/>
        </p:nvSpPr>
        <p:spPr>
          <a:xfrm>
            <a:off x="335447" y="4365898"/>
            <a:ext cx="3813626" cy="80490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bg1"/>
              </a:solidFill>
              <a:latin typeface="微软雅黑" panose="020B0503020204020204" pitchFamily="34" charset="-122"/>
              <a:ea typeface="微软雅黑" panose="020B0503020204020204" pitchFamily="34" charset="-122"/>
            </a:endParaRPr>
          </a:p>
        </p:txBody>
      </p:sp>
      <p:sp>
        <p:nvSpPr>
          <p:cNvPr id="14" name="矩形 24">
            <a:extLst>
              <a:ext uri="{FF2B5EF4-FFF2-40B4-BE49-F238E27FC236}">
                <a16:creationId xmlns:a16="http://schemas.microsoft.com/office/drawing/2014/main" id="{0F305575-0217-59C8-9017-A4CD7FA449A7}"/>
              </a:ext>
            </a:extLst>
          </p:cNvPr>
          <p:cNvSpPr/>
          <p:nvPr/>
        </p:nvSpPr>
        <p:spPr>
          <a:xfrm>
            <a:off x="264939" y="4429799"/>
            <a:ext cx="3910097" cy="707886"/>
          </a:xfrm>
          <a:prstGeom prst="rect">
            <a:avLst/>
          </a:prstGeom>
        </p:spPr>
        <p:txBody>
          <a:bodyPr wrap="square">
            <a:spAutoFit/>
          </a:bodyPr>
          <a:lstStyle/>
          <a:p>
            <a:pPr algn="ctr"/>
            <a:r>
              <a:rPr lang="en-US" altLang="zh-CN" sz="2000" b="1" dirty="0">
                <a:solidFill>
                  <a:schemeClr val="bg1"/>
                </a:solidFill>
                <a:latin typeface="微软雅黑" panose="020B0503020204020204" pitchFamily="34" charset="-122"/>
                <a:ea typeface="微软雅黑" panose="020B0503020204020204" pitchFamily="34" charset="-122"/>
              </a:rPr>
              <a:t>RQ-A-2-40-02</a:t>
            </a:r>
          </a:p>
          <a:p>
            <a:pPr algn="ctr"/>
            <a:r>
              <a:rPr lang="zh-CN" altLang="zh-CN" sz="2000" b="1" dirty="0">
                <a:solidFill>
                  <a:schemeClr val="bg1"/>
                </a:solidFill>
                <a:latin typeface="微软雅黑" panose="020B0503020204020204" pitchFamily="34" charset="-122"/>
                <a:ea typeface="微软雅黑" panose="020B0503020204020204" pitchFamily="34" charset="-122"/>
              </a:rPr>
              <a:t>异步文件流分块下发处理</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19" name="矩形 1">
            <a:extLst>
              <a:ext uri="{FF2B5EF4-FFF2-40B4-BE49-F238E27FC236}">
                <a16:creationId xmlns:a16="http://schemas.microsoft.com/office/drawing/2014/main" id="{05CA3465-8CB9-5C49-B493-E6F5E488549F}"/>
              </a:ext>
            </a:extLst>
          </p:cNvPr>
          <p:cNvSpPr/>
          <p:nvPr/>
        </p:nvSpPr>
        <p:spPr>
          <a:xfrm>
            <a:off x="4758183" y="4159745"/>
            <a:ext cx="6469318" cy="1323439"/>
          </a:xfrm>
          <a:prstGeom prst="rect">
            <a:avLst/>
          </a:prstGeom>
        </p:spPr>
        <p:txBody>
          <a:bodyPr wrap="square">
            <a:spAutoFit/>
          </a:bodyPr>
          <a:lstStyle/>
          <a:p>
            <a:pPr algn="just"/>
            <a:r>
              <a:rPr lang="zh-CN" altLang="zh-CN" sz="2000" dirty="0">
                <a:latin typeface="微软雅黑" panose="020B0503020204020204" pitchFamily="34" charset="-122"/>
                <a:ea typeface="微软雅黑" panose="020B0503020204020204" pitchFamily="34" charset="-122"/>
              </a:rPr>
              <a:t>为满足低内存运行要求，接口响应需采用</a:t>
            </a:r>
            <a:r>
              <a:rPr lang="en-US" altLang="zh-CN" sz="2000" dirty="0" err="1">
                <a:latin typeface="微软雅黑" panose="020B0503020204020204" pitchFamily="34" charset="-122"/>
                <a:ea typeface="微软雅黑" panose="020B0503020204020204" pitchFamily="34" charset="-122"/>
              </a:rPr>
              <a:t>FastAPI</a:t>
            </a:r>
            <a:r>
              <a:rPr lang="zh-CN" altLang="zh-CN" sz="2000" dirty="0">
                <a:latin typeface="微软雅黑" panose="020B0503020204020204" pitchFamily="34" charset="-122"/>
                <a:ea typeface="微软雅黑" panose="020B0503020204020204" pitchFamily="34" charset="-122"/>
              </a:rPr>
              <a:t>框架的</a:t>
            </a:r>
            <a:r>
              <a:rPr lang="en-US" altLang="zh-CN" sz="2000" dirty="0" err="1">
                <a:latin typeface="微软雅黑" panose="020B0503020204020204" pitchFamily="34" charset="-122"/>
                <a:ea typeface="微软雅黑" panose="020B0503020204020204" pitchFamily="34" charset="-122"/>
              </a:rPr>
              <a:t>StreamingResponse</a:t>
            </a:r>
            <a:r>
              <a:rPr lang="zh-CN" altLang="zh-CN" sz="2000" dirty="0">
                <a:latin typeface="微软雅黑" panose="020B0503020204020204" pitchFamily="34" charset="-122"/>
                <a:ea typeface="微软雅黑" panose="020B0503020204020204" pitchFamily="34" charset="-122"/>
              </a:rPr>
              <a:t>类实现 。服务端将读取到的音频文件转换为二进制生成器（</a:t>
            </a:r>
            <a:r>
              <a:rPr lang="en-US" altLang="zh-CN" sz="2000" dirty="0">
                <a:latin typeface="微软雅黑" panose="020B0503020204020204" pitchFamily="34" charset="-122"/>
                <a:ea typeface="微软雅黑" panose="020B0503020204020204" pitchFamily="34" charset="-122"/>
              </a:rPr>
              <a:t>Generator</a:t>
            </a:r>
            <a:r>
              <a:rPr lang="zh-CN" altLang="zh-CN" sz="2000" dirty="0">
                <a:latin typeface="微软雅黑" panose="020B0503020204020204" pitchFamily="34" charset="-122"/>
                <a:ea typeface="微软雅黑" panose="020B0503020204020204" pitchFamily="34" charset="-122"/>
              </a:rPr>
              <a:t>）进行分块下发，避免全量读入内存，确保文件流稳定传输至调用方。</a:t>
            </a:r>
          </a:p>
        </p:txBody>
      </p:sp>
    </p:spTree>
    <p:extLst>
      <p:ext uri="{BB962C8B-B14F-4D97-AF65-F5344CB8AC3E}">
        <p14:creationId xmlns:p14="http://schemas.microsoft.com/office/powerpoint/2010/main" val="31651137"/>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05255" y="3269982"/>
            <a:ext cx="184666" cy="318036"/>
          </a:xfrm>
          <a:prstGeom prst="rect">
            <a:avLst/>
          </a:prstGeom>
        </p:spPr>
        <p:txBody>
          <a:bodyPr wrap="none">
            <a:spAutoFit/>
          </a:bodyPr>
          <a:lstStyle/>
          <a:p>
            <a:r>
              <a:rPr lang="zh-CN" altLang="en-US" baseline="30000"/>
              <a:t> </a:t>
            </a:r>
            <a:endParaRPr lang="zh-CN" altLang="en-US" dirty="0"/>
          </a:p>
        </p:txBody>
      </p:sp>
      <p:pic>
        <p:nvPicPr>
          <p:cNvPr id="3" name="图片 2" descr="未命名 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3097"/>
            <a:ext cx="12195176" cy="5425133"/>
          </a:xfrm>
          <a:prstGeom prst="rect">
            <a:avLst/>
          </a:prstGeom>
        </p:spPr>
      </p:pic>
      <p:pic>
        <p:nvPicPr>
          <p:cNvPr id="5" name="图片 4">
            <a:extLst>
              <a:ext uri="{FF2B5EF4-FFF2-40B4-BE49-F238E27FC236}">
                <a16:creationId xmlns:a16="http://schemas.microsoft.com/office/drawing/2014/main" id="{B24CBC03-1AA6-3443-D666-8DB15F68B70F}"/>
              </a:ext>
            </a:extLst>
          </p:cNvPr>
          <p:cNvPicPr>
            <a:picLocks noChangeAspect="1"/>
          </p:cNvPicPr>
          <p:nvPr/>
        </p:nvPicPr>
        <p:blipFill>
          <a:blip r:embed="rId3"/>
          <a:stretch>
            <a:fillRect/>
          </a:stretch>
        </p:blipFill>
        <p:spPr>
          <a:xfrm>
            <a:off x="10764365" y="5631034"/>
            <a:ext cx="949846" cy="949846"/>
          </a:xfrm>
          <a:prstGeom prst="rect">
            <a:avLst/>
          </a:prstGeom>
        </p:spPr>
      </p:pic>
      <p:sp>
        <p:nvSpPr>
          <p:cNvPr id="2" name="文本框 1">
            <a:extLst>
              <a:ext uri="{FF2B5EF4-FFF2-40B4-BE49-F238E27FC236}">
                <a16:creationId xmlns:a16="http://schemas.microsoft.com/office/drawing/2014/main" id="{ABBD58ED-3751-DFE9-BEF0-D3C8B4DC3A9F}"/>
              </a:ext>
            </a:extLst>
          </p:cNvPr>
          <p:cNvSpPr txBox="1"/>
          <p:nvPr/>
        </p:nvSpPr>
        <p:spPr bwMode="auto">
          <a:xfrm>
            <a:off x="9193931" y="4892233"/>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汇报人：徐歆</a:t>
            </a:r>
          </a:p>
        </p:txBody>
      </p:sp>
      <p:sp>
        <p:nvSpPr>
          <p:cNvPr id="4" name="文本框 3">
            <a:extLst>
              <a:ext uri="{FF2B5EF4-FFF2-40B4-BE49-F238E27FC236}">
                <a16:creationId xmlns:a16="http://schemas.microsoft.com/office/drawing/2014/main" id="{47CC2110-C37F-1C3B-7C49-FE0F3939DC45}"/>
              </a:ext>
            </a:extLst>
          </p:cNvPr>
          <p:cNvSpPr txBox="1"/>
          <p:nvPr/>
        </p:nvSpPr>
        <p:spPr bwMode="auto">
          <a:xfrm>
            <a:off x="9193931" y="4509914"/>
            <a:ext cx="2736304" cy="400110"/>
          </a:xfrm>
          <a:prstGeom prst="rect">
            <a:avLst/>
          </a:prstGeom>
          <a:noFill/>
          <a:ln w="9525">
            <a:noFill/>
            <a:prstDash val="lgDash"/>
            <a:miter lim="800000"/>
          </a:ln>
        </p:spPr>
        <p:txBody>
          <a:bodyPr wrap="square" rtlCol="0">
            <a:spAutoFit/>
          </a:bodyPr>
          <a:lstStyle/>
          <a:p>
            <a:pPr eaLnBrk="1" hangingPunct="1"/>
            <a:r>
              <a:rPr lang="zh-CN" altLang="en-US" sz="2000" b="1" dirty="0">
                <a:solidFill>
                  <a:schemeClr val="bg1"/>
                </a:solidFill>
                <a:latin typeface="微软雅黑" panose="020B0503020204020204" pitchFamily="34" charset="-122"/>
                <a:ea typeface="微软雅黑" panose="020B0503020204020204" pitchFamily="34" charset="-122"/>
              </a:rPr>
              <a:t>组   别：第</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组</a:t>
            </a:r>
          </a:p>
        </p:txBody>
      </p:sp>
    </p:spTree>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OPCH-B7F3277A7DC4AF1BBEC0A9BAF023F6B09CC65159F6C893250B79F39A9D4480C9" val="[{&quot;GradientColorId&quot;:&quot;&quot;,&quot;IsFree&quot;:true,&quot;IsGradient&quot;:false,&quot;ImagePath&quot;:&quot;&quot;,&quot;GradientColor&quot;:null,&quot;SimpleColor&quot;:&quot;#D99694&quot;},{&quot;GradientColorId&quot;:&quot;&quot;,&quot;IsFree&quot;:true,&quot;IsGradient&quot;:false,&quot;ImagePath&quot;:&quot;&quot;,&quot;GradientColor&quot;:null,&quot;SimpleColor&quot;:&quot;#FF0000&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9525">
          <a:solidFill>
            <a:srgbClr val="00B0F0"/>
          </a:solidFill>
          <a:prstDash val="lgDash"/>
          <a:miter lim="800000"/>
        </a:ln>
      </a:spPr>
      <a:bodyPr wrap="square">
        <a:spAutoFit/>
      </a:bodyPr>
      <a:lstStyle>
        <a:defPPr eaLnBrk="1" hangingPunct="1">
          <a:defRPr sz="2800" b="1" dirty="0">
            <a:solidFill>
              <a:srgbClr val="00B0F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6171</TotalTime>
  <Words>1331</Words>
  <Application>Microsoft Office PowerPoint</Application>
  <PresentationFormat>自定义</PresentationFormat>
  <Paragraphs>135</Paragraphs>
  <Slides>12</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微软雅黑</vt:lpstr>
      <vt:lpstr>Arial</vt:lpstr>
      <vt:lpstr>Calibri</vt:lpstr>
      <vt:lpstr>Calibri (正文)</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迅联数字化生态解决模式</dc:title>
  <dc:creator>sunyiwen</dc:creator>
  <cp:lastModifiedBy>歆 徐</cp:lastModifiedBy>
  <cp:revision>1641</cp:revision>
  <dcterms:created xsi:type="dcterms:W3CDTF">2014-10-10T10:55:00Z</dcterms:created>
  <dcterms:modified xsi:type="dcterms:W3CDTF">2026-03-24T06:31:40Z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