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0"/>
  </p:notesMasterIdLst>
  <p:handoutMasterIdLst>
    <p:handoutMasterId r:id="rId21"/>
  </p:handoutMasterIdLst>
  <p:sldIdLst>
    <p:sldId id="706" r:id="rId2"/>
    <p:sldId id="768" r:id="rId3"/>
    <p:sldId id="796" r:id="rId4"/>
    <p:sldId id="810" r:id="rId5"/>
    <p:sldId id="809" r:id="rId6"/>
    <p:sldId id="811" r:id="rId7"/>
    <p:sldId id="812" r:id="rId8"/>
    <p:sldId id="799" r:id="rId9"/>
    <p:sldId id="813" r:id="rId10"/>
    <p:sldId id="814" r:id="rId11"/>
    <p:sldId id="815" r:id="rId12"/>
    <p:sldId id="818" r:id="rId13"/>
    <p:sldId id="819" r:id="rId14"/>
    <p:sldId id="820" r:id="rId15"/>
    <p:sldId id="821" r:id="rId16"/>
    <p:sldId id="822" r:id="rId17"/>
    <p:sldId id="823" r:id="rId18"/>
    <p:sldId id="761" r:id="rId19"/>
  </p:sldIdLst>
  <p:sldSz cx="12195175" cy="6859588"/>
  <p:notesSz cx="6858000" cy="9144000"/>
  <p:embeddedFontLst>
    <p:embeddedFont>
      <p:font typeface="微软雅黑" panose="020B0503020204020204" pitchFamily="34" charset="-122"/>
      <p:regular r:id="rId22"/>
      <p:bold r:id="rId23"/>
    </p:embeddedFont>
  </p:embeddedFontLst>
  <p:defaultTextStyle>
    <a:defPPr>
      <a:defRPr lang="zh-CN"/>
    </a:defPPr>
    <a:lvl1pPr algn="l" defTabSz="1112520" rtl="0" fontAlgn="base">
      <a:spcBef>
        <a:spcPct val="0"/>
      </a:spcBef>
      <a:spcAft>
        <a:spcPct val="0"/>
      </a:spcAft>
      <a:defRPr sz="2200" kern="1200">
        <a:solidFill>
          <a:schemeClr val="tx1"/>
        </a:solidFill>
        <a:latin typeface="Calibri" panose="020F0502020204030204" pitchFamily="34" charset="0"/>
        <a:ea typeface="宋体" panose="02010600030101010101" pitchFamily="2" charset="-122"/>
        <a:cs typeface="+mn-cs"/>
      </a:defRPr>
    </a:lvl1pPr>
    <a:lvl2pPr marL="555625" indent="-98425" algn="l" defTabSz="1112520" rtl="0" fontAlgn="base">
      <a:spcBef>
        <a:spcPct val="0"/>
      </a:spcBef>
      <a:spcAft>
        <a:spcPct val="0"/>
      </a:spcAft>
      <a:defRPr sz="2200" kern="1200">
        <a:solidFill>
          <a:schemeClr val="tx1"/>
        </a:solidFill>
        <a:latin typeface="Calibri" panose="020F0502020204030204" pitchFamily="34" charset="0"/>
        <a:ea typeface="宋体" panose="02010600030101010101" pitchFamily="2" charset="-122"/>
        <a:cs typeface="+mn-cs"/>
      </a:defRPr>
    </a:lvl2pPr>
    <a:lvl3pPr marL="1113155" indent="-198755" algn="l" defTabSz="1112520" rtl="0" fontAlgn="base">
      <a:spcBef>
        <a:spcPct val="0"/>
      </a:spcBef>
      <a:spcAft>
        <a:spcPct val="0"/>
      </a:spcAft>
      <a:defRPr sz="2200" kern="1200">
        <a:solidFill>
          <a:schemeClr val="tx1"/>
        </a:solidFill>
        <a:latin typeface="Calibri" panose="020F0502020204030204" pitchFamily="34" charset="0"/>
        <a:ea typeface="宋体" panose="02010600030101010101" pitchFamily="2" charset="-122"/>
        <a:cs typeface="+mn-cs"/>
      </a:defRPr>
    </a:lvl3pPr>
    <a:lvl4pPr marL="1670050" indent="-298450" algn="l" defTabSz="1112520" rtl="0" fontAlgn="base">
      <a:spcBef>
        <a:spcPct val="0"/>
      </a:spcBef>
      <a:spcAft>
        <a:spcPct val="0"/>
      </a:spcAft>
      <a:defRPr sz="2200" kern="1200">
        <a:solidFill>
          <a:schemeClr val="tx1"/>
        </a:solidFill>
        <a:latin typeface="Calibri" panose="020F0502020204030204" pitchFamily="34" charset="0"/>
        <a:ea typeface="宋体" panose="02010600030101010101" pitchFamily="2" charset="-122"/>
        <a:cs typeface="+mn-cs"/>
      </a:defRPr>
    </a:lvl4pPr>
    <a:lvl5pPr marL="2227580" indent="-398780" algn="l" defTabSz="1112520" rtl="0" fontAlgn="base">
      <a:spcBef>
        <a:spcPct val="0"/>
      </a:spcBef>
      <a:spcAft>
        <a:spcPct val="0"/>
      </a:spcAft>
      <a:defRPr sz="2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2200"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sz="2200"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sz="2200"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sz="2200"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3748">
          <p15:clr>
            <a:srgbClr val="A4A3A4"/>
          </p15:clr>
        </p15:guide>
        <p15:guide id="2" pos="3840">
          <p15:clr>
            <a:srgbClr val="A4A3A4"/>
          </p15:clr>
        </p15:guide>
      </p15:sldGuideLst>
    </p:ext>
    <p:ext uri="{2D200454-40CA-4A62-9FC3-DE9A4176ACB9}">
      <p15:notesGuideLst xmlns:p15="http://schemas.microsoft.com/office/powerpoint/2012/main">
        <p15:guide id="1" orient="horz" pos="2879">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C3719"/>
    <a:srgbClr val="7BF831"/>
    <a:srgbClr val="00FF00"/>
    <a:srgbClr val="57E6D7"/>
    <a:srgbClr val="3366FF"/>
    <a:srgbClr val="FF9900"/>
    <a:srgbClr val="FF056E"/>
    <a:srgbClr val="3C1E92"/>
    <a:srgbClr val="D00000"/>
    <a:srgbClr val="FBFBF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E9639D4-E3E2-4D34-9284-5A2195B3D0D7}" styleName="浅色样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中度样式 1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91" autoAdjust="0"/>
    <p:restoredTop sz="96208" autoAdjust="0"/>
  </p:normalViewPr>
  <p:slideViewPr>
    <p:cSldViewPr>
      <p:cViewPr>
        <p:scale>
          <a:sx n="87" d="100"/>
          <a:sy n="87" d="100"/>
        </p:scale>
        <p:origin x="52" y="156"/>
      </p:cViewPr>
      <p:guideLst>
        <p:guide orient="horz" pos="3748"/>
        <p:guide pos="3840"/>
      </p:guideLst>
    </p:cSldViewPr>
  </p:slideViewPr>
  <p:notesTextViewPr>
    <p:cViewPr>
      <p:scale>
        <a:sx n="75" d="100"/>
        <a:sy n="75" d="100"/>
      </p:scale>
      <p:origin x="0" y="0"/>
    </p:cViewPr>
  </p:notesTextViewPr>
  <p:sorterViewPr>
    <p:cViewPr>
      <p:scale>
        <a:sx n="66" d="100"/>
        <a:sy n="66" d="100"/>
      </p:scale>
      <p:origin x="0" y="0"/>
    </p:cViewPr>
  </p:sorterViewPr>
  <p:notesViewPr>
    <p:cSldViewPr snapToGrid="0" snapToObjects="1">
      <p:cViewPr varScale="1">
        <p:scale>
          <a:sx n="94" d="100"/>
          <a:sy n="94" d="100"/>
        </p:scale>
        <p:origin x="3568" y="184"/>
      </p:cViewPr>
      <p:guideLst>
        <p:guide orient="horz" pos="2879"/>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9F92240-AAD8-8A40-B472-4B2BB0E3C869}" type="datetimeFigureOut">
              <a:rPr kumimoji="1" lang="zh-CN" altLang="en-US" smtClean="0"/>
              <a:t>2026/3/31</a:t>
            </a:fld>
            <a:endParaRPr kumimoji="1"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AC3428E-1752-044E-8E84-1206952236C4}" type="slidenum">
              <a:rPr kumimoji="1" lang="zh-CN" altLang="en-US" smtClean="0"/>
              <a:t>‹#›</a:t>
            </a:fld>
            <a:endParaRPr kumimoji="1" lang="zh-CN" altLang="en-US"/>
          </a:p>
        </p:txBody>
      </p:sp>
    </p:spTree>
    <p:extLst>
      <p:ext uri="{BB962C8B-B14F-4D97-AF65-F5344CB8AC3E}">
        <p14:creationId xmlns:p14="http://schemas.microsoft.com/office/powerpoint/2010/main" val="18659659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defTabSz="1113790" eaLnBrk="1" fontAlgn="auto" hangingPunct="1">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defTabSz="1113790" eaLnBrk="1" fontAlgn="auto" hangingPunct="1">
              <a:spcBef>
                <a:spcPts val="0"/>
              </a:spcBef>
              <a:spcAft>
                <a:spcPts val="0"/>
              </a:spcAft>
              <a:defRPr sz="1200">
                <a:latin typeface="+mn-lt"/>
                <a:ea typeface="+mn-ea"/>
              </a:defRPr>
            </a:lvl1pPr>
          </a:lstStyle>
          <a:p>
            <a:pPr>
              <a:defRPr/>
            </a:pPr>
            <a:fld id="{AA96FE60-AC88-4099-828E-6EAB92C99598}" type="datetimeFigureOut">
              <a:rPr lang="zh-CN" altLang="en-US"/>
              <a:t>2026/3/31</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defTabSz="1113790" eaLnBrk="1" fontAlgn="auto" hangingPunct="1">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ea typeface="宋体" panose="02010600030101010101" pitchFamily="2" charset="-122"/>
              </a:defRPr>
            </a:lvl1pPr>
          </a:lstStyle>
          <a:p>
            <a:pPr>
              <a:defRPr/>
            </a:pPr>
            <a:fld id="{8174F2B2-5209-471A-A08A-9815279348B7}" type="slidenum">
              <a:rPr lang="zh-CN" altLang="en-US"/>
              <a:t>‹#›</a:t>
            </a:fld>
            <a:endParaRPr lang="zh-CN" altLang="en-US"/>
          </a:p>
        </p:txBody>
      </p:sp>
    </p:spTree>
    <p:extLst>
      <p:ext uri="{BB962C8B-B14F-4D97-AF65-F5344CB8AC3E}">
        <p14:creationId xmlns:p14="http://schemas.microsoft.com/office/powerpoint/2010/main" val="367091209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6C711-F0C7-E496-22F8-3362069C0E9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3C8A415-3D16-021D-DBE3-B7394770F5A9}"/>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2E2E0A1D-53BB-B273-789E-699FC5B4F840}"/>
              </a:ext>
            </a:extLst>
          </p:cNvPr>
          <p:cNvSpPr>
            <a:spLocks noGrp="1"/>
          </p:cNvSpPr>
          <p:nvPr>
            <p:ph type="body" idx="3"/>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Tree>
    <p:extLst>
      <p:ext uri="{BB962C8B-B14F-4D97-AF65-F5344CB8AC3E}">
        <p14:creationId xmlns:p14="http://schemas.microsoft.com/office/powerpoint/2010/main" val="26805826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A4DFD-6F0B-E621-939F-50BD0E71537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41C6450-7F3B-E104-EFD1-0DF5BFE256EF}"/>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25A365D2-CBC3-5DB3-4717-C75411C3B8D2}"/>
              </a:ext>
            </a:extLst>
          </p:cNvPr>
          <p:cNvSpPr>
            <a:spLocks noGrp="1"/>
          </p:cNvSpPr>
          <p:nvPr>
            <p:ph type="body" idx="3"/>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Tree>
    <p:extLst>
      <p:ext uri="{BB962C8B-B14F-4D97-AF65-F5344CB8AC3E}">
        <p14:creationId xmlns:p14="http://schemas.microsoft.com/office/powerpoint/2010/main" val="14890589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58809-4FC3-2B36-D11F-58EA0B5F839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6A99243-EBF6-1FAD-E7D4-24B0424C87E9}"/>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8A8FEEE0-ECE3-7064-8A4C-6BF28E29F4C8}"/>
              </a:ext>
            </a:extLst>
          </p:cNvPr>
          <p:cNvSpPr>
            <a:spLocks noGrp="1"/>
          </p:cNvSpPr>
          <p:nvPr>
            <p:ph type="body" idx="3"/>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Tree>
    <p:extLst>
      <p:ext uri="{BB962C8B-B14F-4D97-AF65-F5344CB8AC3E}">
        <p14:creationId xmlns:p14="http://schemas.microsoft.com/office/powerpoint/2010/main" val="28725254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BA7F6-857E-7AA9-CDD6-B2F79D9782C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84C8454-A962-8CE8-E62F-E61216099AAB}"/>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20206DB7-BAA8-B5B3-49B5-935C19311B1F}"/>
              </a:ext>
            </a:extLst>
          </p:cNvPr>
          <p:cNvSpPr>
            <a:spLocks noGrp="1"/>
          </p:cNvSpPr>
          <p:nvPr>
            <p:ph type="body" idx="3"/>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Tree>
    <p:extLst>
      <p:ext uri="{BB962C8B-B14F-4D97-AF65-F5344CB8AC3E}">
        <p14:creationId xmlns:p14="http://schemas.microsoft.com/office/powerpoint/2010/main" val="1238641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05883-0065-2D38-7BB6-1E6527F0FBC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2401723-0C67-6F88-BA02-9DC9BE9A94F4}"/>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4E50E8ED-67CB-DDC9-FB66-7B020F4B33F1}"/>
              </a:ext>
            </a:extLst>
          </p:cNvPr>
          <p:cNvSpPr>
            <a:spLocks noGrp="1"/>
          </p:cNvSpPr>
          <p:nvPr>
            <p:ph type="body" idx="3"/>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Tree>
    <p:extLst>
      <p:ext uri="{BB962C8B-B14F-4D97-AF65-F5344CB8AC3E}">
        <p14:creationId xmlns:p14="http://schemas.microsoft.com/office/powerpoint/2010/main" val="8896005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10A6B-7869-9A22-772F-72E0BD08644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79B3CFC-6EFE-2946-A2E3-197D9BDBAD61}"/>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F223D9E0-8242-3930-6827-C425B606B865}"/>
              </a:ext>
            </a:extLst>
          </p:cNvPr>
          <p:cNvSpPr>
            <a:spLocks noGrp="1"/>
          </p:cNvSpPr>
          <p:nvPr>
            <p:ph type="body" idx="3"/>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Tree>
    <p:extLst>
      <p:ext uri="{BB962C8B-B14F-4D97-AF65-F5344CB8AC3E}">
        <p14:creationId xmlns:p14="http://schemas.microsoft.com/office/powerpoint/2010/main" val="34592659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F484E-3D20-ACDD-D8E9-ABD4074C24E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2652A5E-561C-C0BA-4AC5-29C4C3DD48D5}"/>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89E89F95-F7A4-77D6-506A-6ABB155B573E}"/>
              </a:ext>
            </a:extLst>
          </p:cNvPr>
          <p:cNvSpPr>
            <a:spLocks noGrp="1"/>
          </p:cNvSpPr>
          <p:nvPr>
            <p:ph type="body" idx="3"/>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Tree>
    <p:extLst>
      <p:ext uri="{BB962C8B-B14F-4D97-AF65-F5344CB8AC3E}">
        <p14:creationId xmlns:p14="http://schemas.microsoft.com/office/powerpoint/2010/main" val="30272717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BFEEE-DFEE-7E25-24DD-01105FFAF73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2AFFB3D-9E84-88B0-3CC4-AFF4C03ABD1A}"/>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1D6681DF-3E67-99CA-F99D-49AA00786992}"/>
              </a:ext>
            </a:extLst>
          </p:cNvPr>
          <p:cNvSpPr>
            <a:spLocks noGrp="1"/>
          </p:cNvSpPr>
          <p:nvPr>
            <p:ph type="body" idx="3"/>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Tree>
    <p:extLst>
      <p:ext uri="{BB962C8B-B14F-4D97-AF65-F5344CB8AC3E}">
        <p14:creationId xmlns:p14="http://schemas.microsoft.com/office/powerpoint/2010/main" val="31792766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E28A1-0841-CE93-F400-80F75DEEB43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C0EB1A3-8222-4447-AC9A-1712818DA2F2}"/>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6CC83FCE-4BF8-86BF-B053-1EA7565E4FB0}"/>
              </a:ext>
            </a:extLst>
          </p:cNvPr>
          <p:cNvSpPr>
            <a:spLocks noGrp="1"/>
          </p:cNvSpPr>
          <p:nvPr>
            <p:ph type="body" idx="3"/>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Tree>
    <p:extLst>
      <p:ext uri="{BB962C8B-B14F-4D97-AF65-F5344CB8AC3E}">
        <p14:creationId xmlns:p14="http://schemas.microsoft.com/office/powerpoint/2010/main" val="21788760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A7A85-FE63-B7CA-4EFC-C7AB0F6B234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2126C4D-5DBE-973E-BA1E-5FC1576F0269}"/>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A56E627F-8A6B-70F8-22A5-6029A783CAC5}"/>
              </a:ext>
            </a:extLst>
          </p:cNvPr>
          <p:cNvSpPr>
            <a:spLocks noGrp="1"/>
          </p:cNvSpPr>
          <p:nvPr>
            <p:ph type="body" idx="3"/>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Tree>
    <p:extLst>
      <p:ext uri="{BB962C8B-B14F-4D97-AF65-F5344CB8AC3E}">
        <p14:creationId xmlns:p14="http://schemas.microsoft.com/office/powerpoint/2010/main" val="42689777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4B717-FBB3-DA4D-2F90-D6C5B0A7BF4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62BD56F-AA13-93EE-938E-192AE317FBD2}"/>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4E1074C7-1D34-E753-814B-6D96B5E7F19A}"/>
              </a:ext>
            </a:extLst>
          </p:cNvPr>
          <p:cNvSpPr>
            <a:spLocks noGrp="1"/>
          </p:cNvSpPr>
          <p:nvPr>
            <p:ph type="body" idx="3"/>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Tree>
    <p:extLst>
      <p:ext uri="{BB962C8B-B14F-4D97-AF65-F5344CB8AC3E}">
        <p14:creationId xmlns:p14="http://schemas.microsoft.com/office/powerpoint/2010/main" val="73235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1041E-A6C6-55B6-F52E-3A04DF7A5BD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99252F5-66C1-09CF-2DDD-B45476564C6D}"/>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391B4295-7106-AE8F-C9AB-2CC6CB7394B0}"/>
              </a:ext>
            </a:extLst>
          </p:cNvPr>
          <p:cNvSpPr>
            <a:spLocks noGrp="1"/>
          </p:cNvSpPr>
          <p:nvPr>
            <p:ph type="body" idx="3"/>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Tree>
    <p:extLst>
      <p:ext uri="{BB962C8B-B14F-4D97-AF65-F5344CB8AC3E}">
        <p14:creationId xmlns:p14="http://schemas.microsoft.com/office/powerpoint/2010/main" val="13654670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B707F-A547-4033-815D-921F1283850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BC8A0F8-248B-7013-D975-DB92EB3B2315}"/>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15162437-4319-0C70-FF36-C79C7DDD3434}"/>
              </a:ext>
            </a:extLst>
          </p:cNvPr>
          <p:cNvSpPr>
            <a:spLocks noGrp="1"/>
          </p:cNvSpPr>
          <p:nvPr>
            <p:ph type="body" idx="3"/>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Tree>
    <p:extLst>
      <p:ext uri="{BB962C8B-B14F-4D97-AF65-F5344CB8AC3E}">
        <p14:creationId xmlns:p14="http://schemas.microsoft.com/office/powerpoint/2010/main" val="144504708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914641" y="2130922"/>
            <a:ext cx="10365898" cy="1470365"/>
          </a:xfrm>
        </p:spPr>
        <p:txBody>
          <a:bodyPr/>
          <a:lstStyle>
            <a:lvl1pPr>
              <a:defRPr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t>击此处编辑母版标题样式</a:t>
            </a:r>
          </a:p>
        </p:txBody>
      </p:sp>
      <p:sp>
        <p:nvSpPr>
          <p:cNvPr id="3" name="副标题 2"/>
          <p:cNvSpPr>
            <a:spLocks noGrp="1"/>
          </p:cNvSpPr>
          <p:nvPr>
            <p:ph type="subTitle" idx="1"/>
          </p:nvPr>
        </p:nvSpPr>
        <p:spPr>
          <a:xfrm>
            <a:off x="1829278" y="3887101"/>
            <a:ext cx="8536623" cy="1753005"/>
          </a:xfrm>
        </p:spPr>
        <p:txBody>
          <a:bodyPr/>
          <a:lstStyle>
            <a:lvl1pPr marL="0" indent="0" algn="ctr">
              <a:buNone/>
              <a:defRPr b="1">
                <a:solidFill>
                  <a:schemeClr val="bg1">
                    <a:lumMod val="85000"/>
                  </a:schemeClr>
                </a:solidFill>
                <a:latin typeface="微软雅黑" panose="020B0503020204020204" pitchFamily="34" charset="-122"/>
                <a:ea typeface="微软雅黑" panose="020B0503020204020204" pitchFamily="34" charset="-122"/>
              </a:defRPr>
            </a:lvl1pPr>
            <a:lvl2pPr marL="556895" indent="0" algn="ctr">
              <a:buNone/>
              <a:defRPr>
                <a:solidFill>
                  <a:schemeClr val="tx1">
                    <a:tint val="75000"/>
                  </a:schemeClr>
                </a:solidFill>
              </a:defRPr>
            </a:lvl2pPr>
            <a:lvl3pPr marL="1114425" indent="0" algn="ctr">
              <a:buNone/>
              <a:defRPr>
                <a:solidFill>
                  <a:schemeClr val="tx1">
                    <a:tint val="75000"/>
                  </a:schemeClr>
                </a:solidFill>
              </a:defRPr>
            </a:lvl3pPr>
            <a:lvl4pPr marL="1671320" indent="0" algn="ctr">
              <a:buNone/>
              <a:defRPr>
                <a:solidFill>
                  <a:schemeClr val="tx1">
                    <a:tint val="75000"/>
                  </a:schemeClr>
                </a:solidFill>
              </a:defRPr>
            </a:lvl4pPr>
            <a:lvl5pPr marL="2228215" indent="0" algn="ctr">
              <a:buNone/>
              <a:defRPr>
                <a:solidFill>
                  <a:schemeClr val="tx1">
                    <a:tint val="75000"/>
                  </a:schemeClr>
                </a:solidFill>
              </a:defRPr>
            </a:lvl5pPr>
            <a:lvl6pPr marL="2785745" indent="0" algn="ctr">
              <a:buNone/>
              <a:defRPr>
                <a:solidFill>
                  <a:schemeClr val="tx1">
                    <a:tint val="75000"/>
                  </a:schemeClr>
                </a:solidFill>
              </a:defRPr>
            </a:lvl6pPr>
            <a:lvl7pPr marL="3342640" indent="0" algn="ctr">
              <a:buNone/>
              <a:defRPr>
                <a:solidFill>
                  <a:schemeClr val="tx1">
                    <a:tint val="75000"/>
                  </a:schemeClr>
                </a:solidFill>
              </a:defRPr>
            </a:lvl7pPr>
            <a:lvl8pPr marL="3899535" indent="0" algn="ctr">
              <a:buNone/>
              <a:defRPr>
                <a:solidFill>
                  <a:schemeClr val="tx1">
                    <a:tint val="75000"/>
                  </a:schemeClr>
                </a:solidFill>
              </a:defRPr>
            </a:lvl8pPr>
            <a:lvl9pPr marL="4457065" indent="0" algn="ctr">
              <a:buNone/>
              <a:defRPr>
                <a:solidFill>
                  <a:schemeClr val="tx1">
                    <a:tint val="75000"/>
                  </a:schemeClr>
                </a:solidFill>
              </a:defRPr>
            </a:lvl9pPr>
          </a:lstStyle>
          <a:p>
            <a:r>
              <a:rPr lang="zh-CN" altLang="en-US" dirty="0"/>
              <a:t>单击此处编辑母版副标题样式</a:t>
            </a:r>
          </a:p>
        </p:txBody>
      </p:sp>
      <p:pic>
        <p:nvPicPr>
          <p:cNvPr id="4" name="Picture 2"/>
          <p:cNvPicPr>
            <a:picLocks noChangeAspect="1" noChangeArrowheads="1"/>
          </p:cNvPicPr>
          <p:nvPr userDrawn="1"/>
        </p:nvPicPr>
        <p:blipFill>
          <a:blip r:embed="rId2"/>
          <a:srcRect l="24357" t="20841" r="9236" b="13012"/>
          <a:stretch>
            <a:fillRect/>
          </a:stretch>
        </p:blipFill>
        <p:spPr bwMode="auto">
          <a:xfrm>
            <a:off x="-46081" y="770"/>
            <a:ext cx="12241256" cy="6858818"/>
          </a:xfrm>
          <a:prstGeom prst="rect">
            <a:avLst/>
          </a:prstGeom>
          <a:ln>
            <a:noFill/>
          </a:ln>
          <a:effectLst>
            <a:outerShdw blurRad="292100" dist="139700" dir="2700000" algn="tl" rotWithShape="0">
              <a:srgbClr val="333333">
                <a:alpha val="65000"/>
              </a:srgbClr>
            </a:outerShdw>
          </a:effectLst>
        </p:spPr>
      </p:pic>
      <p:pic>
        <p:nvPicPr>
          <p:cNvPr id="7" name="图片 6"/>
          <p:cNvPicPr>
            <a:picLocks noChangeAspect="1"/>
          </p:cNvPicPr>
          <p:nvPr userDrawn="1"/>
        </p:nvPicPr>
        <p:blipFill>
          <a:blip r:embed="rId3"/>
          <a:stretch>
            <a:fillRect/>
          </a:stretch>
        </p:blipFill>
        <p:spPr>
          <a:xfrm>
            <a:off x="35370" y="5662042"/>
            <a:ext cx="12159806" cy="1080120"/>
          </a:xfrm>
          <a:prstGeom prst="rect">
            <a:avLst/>
          </a:prstGeom>
        </p:spPr>
      </p:pic>
      <p:pic>
        <p:nvPicPr>
          <p:cNvPr id="8" name="图片 7" descr="图片包含 游戏机, 画&#10;&#10;描述已自动生成">
            <a:extLst>
              <a:ext uri="{FF2B5EF4-FFF2-40B4-BE49-F238E27FC236}">
                <a16:creationId xmlns:a16="http://schemas.microsoft.com/office/drawing/2014/main" id="{362473A1-D8EB-F942-B9AB-8A07F0463A6A}"/>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769995" y="5925920"/>
            <a:ext cx="2164554" cy="551842"/>
          </a:xfrm>
          <a:prstGeom prst="rect">
            <a:avLst/>
          </a:prstGeom>
        </p:spPr>
      </p:pic>
    </p:spTree>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336948" y="802071"/>
            <a:ext cx="7056784" cy="611034"/>
          </a:xfrm>
        </p:spPr>
        <p:txBody>
          <a:bodyPr>
            <a:noAutofit/>
          </a:bodyPr>
          <a:lstStyle>
            <a:lvl1pPr algn="l">
              <a:defRPr sz="3600" b="1" u="none">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a:xfrm>
            <a:off x="336949" y="1557586"/>
            <a:ext cx="11593286" cy="4714478"/>
          </a:xfrm>
        </p:spPr>
        <p:txBody>
          <a:bodyPr>
            <a:normAutofit/>
          </a:bodyPr>
          <a:lstStyle>
            <a:lvl1pPr>
              <a:defRPr sz="2200">
                <a:solidFill>
                  <a:schemeClr val="tx1"/>
                </a:solidFill>
                <a:latin typeface="微软雅黑" panose="020B0503020204020204" pitchFamily="34" charset="-122"/>
                <a:ea typeface="微软雅黑" panose="020B0503020204020204" pitchFamily="34" charset="-122"/>
              </a:defRPr>
            </a:lvl1pPr>
            <a:lvl2pPr>
              <a:defRPr sz="2200">
                <a:solidFill>
                  <a:schemeClr val="tx1"/>
                </a:solidFill>
                <a:latin typeface="微软雅黑" panose="020B0503020204020204" pitchFamily="34" charset="-122"/>
                <a:ea typeface="微软雅黑" panose="020B0503020204020204" pitchFamily="34" charset="-122"/>
              </a:defRPr>
            </a:lvl2pPr>
            <a:lvl3pPr>
              <a:defRPr sz="2200">
                <a:solidFill>
                  <a:schemeClr val="tx1"/>
                </a:solidFill>
                <a:latin typeface="微软雅黑" panose="020B0503020204020204" pitchFamily="34" charset="-122"/>
                <a:ea typeface="微软雅黑" panose="020B0503020204020204" pitchFamily="34" charset="-122"/>
              </a:defRPr>
            </a:lvl3pPr>
            <a:lvl4pPr marL="1671320" marR="0" indent="0" algn="l" defTabSz="1112520" rtl="0" eaLnBrk="0" fontAlgn="base" latinLnBrk="0" hangingPunct="0">
              <a:lnSpc>
                <a:spcPct val="100000"/>
              </a:lnSpc>
              <a:spcBef>
                <a:spcPct val="20000"/>
              </a:spcBef>
              <a:spcAft>
                <a:spcPct val="0"/>
              </a:spcAft>
              <a:buClrTx/>
              <a:buSzTx/>
              <a:buFont typeface="Arial" panose="020B0604020202020204" pitchFamily="34" charset="0"/>
              <a:buNone/>
              <a:defRPr sz="2200">
                <a:solidFill>
                  <a:schemeClr val="tx1"/>
                </a:solidFill>
                <a:latin typeface="微软雅黑" panose="020B0503020204020204" pitchFamily="34" charset="-122"/>
                <a:ea typeface="微软雅黑" panose="020B0503020204020204" pitchFamily="34" charset="-122"/>
              </a:defRPr>
            </a:lvl4pPr>
            <a:lvl5pPr>
              <a:defRPr sz="2200">
                <a:solidFill>
                  <a:schemeClr val="bg1"/>
                </a:solidFill>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en-US" altLang="zh-CN" dirty="0"/>
              <a:t>From KPI to ROI </a:t>
            </a:r>
          </a:p>
          <a:p>
            <a:pPr lvl="3"/>
            <a:endParaRPr lang="zh-CN" altLang="en-US" dirty="0"/>
          </a:p>
        </p:txBody>
      </p:sp>
      <p:pic>
        <p:nvPicPr>
          <p:cNvPr id="38913" name="Picture 1"/>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1" y="0"/>
            <a:ext cx="12218268" cy="798230"/>
          </a:xfrm>
          <a:prstGeom prst="rect">
            <a:avLst/>
          </a:prstGeom>
          <a:noFill/>
          <a:ln w="9525">
            <a:noFill/>
            <a:miter lim="800000"/>
            <a:headEnd/>
            <a:tailEnd/>
          </a:ln>
          <a:effectLst/>
        </p:spPr>
      </p:pic>
    </p:spTree>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5" name="文本框 7"/>
          <p:cNvSpPr txBox="1"/>
          <p:nvPr userDrawn="1"/>
        </p:nvSpPr>
        <p:spPr bwMode="auto">
          <a:xfrm>
            <a:off x="2065139" y="119167"/>
            <a:ext cx="7560840" cy="646331"/>
          </a:xfrm>
          <a:prstGeom prst="rect">
            <a:avLst/>
          </a:prstGeom>
          <a:noFill/>
          <a:ln w="9525">
            <a:noFill/>
            <a:prstDash val="lgDash"/>
            <a:miter lim="800000"/>
          </a:ln>
          <a:effectLst>
            <a:glow rad="63500">
              <a:schemeClr val="accent1">
                <a:satMod val="175000"/>
                <a:alpha val="40000"/>
              </a:schemeClr>
            </a:glow>
          </a:effectLst>
        </p:spPr>
        <p:txBody>
          <a:bodyPr>
            <a:spAutoFit/>
          </a:bodyPr>
          <a:lstStyle/>
          <a:p>
            <a:pPr algn="ctr">
              <a:defRPr/>
            </a:pPr>
            <a:endParaRPr lang="zh-CN" altLang="en-US" sz="3600" b="1" dirty="0">
              <a:solidFill>
                <a:srgbClr val="00B0F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6" name="标题 1"/>
          <p:cNvSpPr>
            <a:spLocks noGrp="1"/>
          </p:cNvSpPr>
          <p:nvPr>
            <p:ph type="title"/>
          </p:nvPr>
        </p:nvSpPr>
        <p:spPr>
          <a:xfrm>
            <a:off x="336948" y="802071"/>
            <a:ext cx="7056784" cy="611034"/>
          </a:xfrm>
        </p:spPr>
        <p:txBody>
          <a:bodyPr>
            <a:noAutofit/>
          </a:bodyPr>
          <a:lstStyle>
            <a:lvl1pPr algn="l">
              <a:defRPr sz="3600" b="1" u="none">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17" name="内容占位符 2"/>
          <p:cNvSpPr>
            <a:spLocks noGrp="1"/>
          </p:cNvSpPr>
          <p:nvPr>
            <p:ph idx="1"/>
          </p:nvPr>
        </p:nvSpPr>
        <p:spPr>
          <a:xfrm>
            <a:off x="336949" y="1557586"/>
            <a:ext cx="11593286" cy="4714478"/>
          </a:xfrm>
        </p:spPr>
        <p:txBody>
          <a:bodyPr>
            <a:normAutofit/>
          </a:bodyPr>
          <a:lstStyle>
            <a:lvl1pPr>
              <a:defRPr sz="2200">
                <a:solidFill>
                  <a:schemeClr val="tx1"/>
                </a:solidFill>
                <a:latin typeface="微软雅黑" panose="020B0503020204020204" pitchFamily="34" charset="-122"/>
                <a:ea typeface="微软雅黑" panose="020B0503020204020204" pitchFamily="34" charset="-122"/>
              </a:defRPr>
            </a:lvl1pPr>
            <a:lvl2pPr>
              <a:defRPr sz="2200">
                <a:solidFill>
                  <a:schemeClr val="tx1"/>
                </a:solidFill>
                <a:latin typeface="微软雅黑" panose="020B0503020204020204" pitchFamily="34" charset="-122"/>
                <a:ea typeface="微软雅黑" panose="020B0503020204020204" pitchFamily="34" charset="-122"/>
              </a:defRPr>
            </a:lvl2pPr>
            <a:lvl3pPr>
              <a:defRPr sz="2200">
                <a:solidFill>
                  <a:schemeClr val="tx1"/>
                </a:solidFill>
                <a:latin typeface="微软雅黑" panose="020B0503020204020204" pitchFamily="34" charset="-122"/>
                <a:ea typeface="微软雅黑" panose="020B0503020204020204" pitchFamily="34" charset="-122"/>
              </a:defRPr>
            </a:lvl3pPr>
            <a:lvl4pPr marL="1671320" marR="0" indent="0" algn="l" defTabSz="1112520" rtl="0" eaLnBrk="0" fontAlgn="base" latinLnBrk="0" hangingPunct="0">
              <a:lnSpc>
                <a:spcPct val="100000"/>
              </a:lnSpc>
              <a:spcBef>
                <a:spcPct val="20000"/>
              </a:spcBef>
              <a:spcAft>
                <a:spcPct val="0"/>
              </a:spcAft>
              <a:buClrTx/>
              <a:buSzTx/>
              <a:buFont typeface="Arial" panose="020B0604020202020204" pitchFamily="34" charset="0"/>
              <a:buNone/>
              <a:defRPr sz="2200">
                <a:solidFill>
                  <a:schemeClr val="tx1"/>
                </a:solidFill>
                <a:latin typeface="微软雅黑" panose="020B0503020204020204" pitchFamily="34" charset="-122"/>
                <a:ea typeface="微软雅黑" panose="020B0503020204020204" pitchFamily="34" charset="-122"/>
              </a:defRPr>
            </a:lvl4pPr>
            <a:lvl5pPr>
              <a:defRPr sz="2200">
                <a:solidFill>
                  <a:schemeClr val="bg1"/>
                </a:solidFill>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en-US" altLang="zh-CN" dirty="0"/>
              <a:t>From KPI to ROI </a:t>
            </a:r>
          </a:p>
          <a:p>
            <a:pPr lvl="3"/>
            <a:endParaRPr lang="zh-CN" altLang="en-US" dirty="0"/>
          </a:p>
        </p:txBody>
      </p:sp>
    </p:spTree>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4" name="文本框 6"/>
          <p:cNvSpPr txBox="1">
            <a:spLocks noChangeArrowheads="1"/>
          </p:cNvSpPr>
          <p:nvPr userDrawn="1"/>
        </p:nvSpPr>
        <p:spPr bwMode="auto">
          <a:xfrm>
            <a:off x="10650538" y="6540500"/>
            <a:ext cx="1558925" cy="338138"/>
          </a:xfrm>
          <a:prstGeom prst="rect">
            <a:avLst/>
          </a:prstGeom>
          <a:noFill/>
          <a:ln>
            <a:noFill/>
          </a:ln>
        </p:spPr>
        <p:txBody>
          <a:bodyPr wrap="none">
            <a:spAutoFit/>
          </a:bodyPr>
          <a:lstStyle>
            <a:lvl1pPr>
              <a:defRPr sz="2200">
                <a:solidFill>
                  <a:schemeClr val="tx1"/>
                </a:solidFill>
                <a:latin typeface="Calibri" panose="020F0502020204030204" pitchFamily="34" charset="0"/>
                <a:ea typeface="宋体" panose="02010600030101010101" pitchFamily="2" charset="-122"/>
              </a:defRPr>
            </a:lvl1pPr>
            <a:lvl2pPr marL="742950" indent="-285750">
              <a:defRPr sz="2200">
                <a:solidFill>
                  <a:schemeClr val="tx1"/>
                </a:solidFill>
                <a:latin typeface="Calibri" panose="020F0502020204030204" pitchFamily="34" charset="0"/>
                <a:ea typeface="宋体" panose="02010600030101010101" pitchFamily="2" charset="-122"/>
              </a:defRPr>
            </a:lvl2pPr>
            <a:lvl3pPr marL="1143000" indent="-228600">
              <a:defRPr sz="2200">
                <a:solidFill>
                  <a:schemeClr val="tx1"/>
                </a:solidFill>
                <a:latin typeface="Calibri" panose="020F0502020204030204" pitchFamily="34" charset="0"/>
                <a:ea typeface="宋体" panose="02010600030101010101" pitchFamily="2" charset="-122"/>
              </a:defRPr>
            </a:lvl3pPr>
            <a:lvl4pPr marL="1600200" indent="-228600">
              <a:defRPr sz="2200">
                <a:solidFill>
                  <a:schemeClr val="tx1"/>
                </a:solidFill>
                <a:latin typeface="Calibri" panose="020F0502020204030204" pitchFamily="34" charset="0"/>
                <a:ea typeface="宋体" panose="02010600030101010101" pitchFamily="2" charset="-122"/>
              </a:defRPr>
            </a:lvl4pPr>
            <a:lvl5pPr marL="2057400" indent="-228600">
              <a:defRPr sz="2200">
                <a:solidFill>
                  <a:schemeClr val="tx1"/>
                </a:solidFill>
                <a:latin typeface="Calibri" panose="020F0502020204030204" pitchFamily="34" charset="0"/>
                <a:ea typeface="宋体" panose="02010600030101010101" pitchFamily="2" charset="-122"/>
              </a:defRPr>
            </a:lvl5pPr>
            <a:lvl6pPr marL="2514600" indent="-228600" defTabSz="1112520" eaLnBrk="0" fontAlgn="base" hangingPunct="0">
              <a:spcBef>
                <a:spcPct val="0"/>
              </a:spcBef>
              <a:spcAft>
                <a:spcPct val="0"/>
              </a:spcAft>
              <a:defRPr sz="2200">
                <a:solidFill>
                  <a:schemeClr val="tx1"/>
                </a:solidFill>
                <a:latin typeface="Calibri" panose="020F0502020204030204" pitchFamily="34" charset="0"/>
                <a:ea typeface="宋体" panose="02010600030101010101" pitchFamily="2" charset="-122"/>
              </a:defRPr>
            </a:lvl6pPr>
            <a:lvl7pPr marL="2971800" indent="-228600" defTabSz="1112520" eaLnBrk="0" fontAlgn="base" hangingPunct="0">
              <a:spcBef>
                <a:spcPct val="0"/>
              </a:spcBef>
              <a:spcAft>
                <a:spcPct val="0"/>
              </a:spcAft>
              <a:defRPr sz="2200">
                <a:solidFill>
                  <a:schemeClr val="tx1"/>
                </a:solidFill>
                <a:latin typeface="Calibri" panose="020F0502020204030204" pitchFamily="34" charset="0"/>
                <a:ea typeface="宋体" panose="02010600030101010101" pitchFamily="2" charset="-122"/>
              </a:defRPr>
            </a:lvl7pPr>
            <a:lvl8pPr marL="3429000" indent="-228600" defTabSz="1112520" eaLnBrk="0" fontAlgn="base" hangingPunct="0">
              <a:spcBef>
                <a:spcPct val="0"/>
              </a:spcBef>
              <a:spcAft>
                <a:spcPct val="0"/>
              </a:spcAft>
              <a:defRPr sz="2200">
                <a:solidFill>
                  <a:schemeClr val="tx1"/>
                </a:solidFill>
                <a:latin typeface="Calibri" panose="020F0502020204030204" pitchFamily="34" charset="0"/>
                <a:ea typeface="宋体" panose="02010600030101010101" pitchFamily="2" charset="-122"/>
              </a:defRPr>
            </a:lvl8pPr>
            <a:lvl9pPr marL="3886200" indent="-228600" defTabSz="1112520" eaLnBrk="0" fontAlgn="base" hangingPunct="0">
              <a:spcBef>
                <a:spcPct val="0"/>
              </a:spcBef>
              <a:spcAft>
                <a:spcPct val="0"/>
              </a:spcAft>
              <a:defRPr sz="2200">
                <a:solidFill>
                  <a:schemeClr val="tx1"/>
                </a:solidFill>
                <a:latin typeface="Calibri" panose="020F0502020204030204" pitchFamily="34" charset="0"/>
                <a:ea typeface="宋体" panose="02010600030101010101" pitchFamily="2" charset="-122"/>
              </a:defRPr>
            </a:lvl9pPr>
          </a:lstStyle>
          <a:p>
            <a:pPr>
              <a:defRPr/>
            </a:pPr>
            <a:r>
              <a:rPr lang="en-US" altLang="zh-CN" sz="1600">
                <a:solidFill>
                  <a:schemeClr val="bg1"/>
                </a:solidFill>
              </a:rPr>
              <a:t>From KPI To ROI </a:t>
            </a:r>
          </a:p>
        </p:txBody>
      </p:sp>
    </p:spTree>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a:defRPr/>
            </a:pPr>
            <a:fld id="{E302B5DB-DC4A-471D-8BB5-DE1AA9BABD40}" type="datetimeFigureOut">
              <a:rPr lang="zh-CN" altLang="en-US" smtClean="0"/>
              <a:t>2026/3/31</a:t>
            </a:fld>
            <a:endParaRPr lang="zh-CN" altLang="en-US"/>
          </a:p>
        </p:txBody>
      </p:sp>
      <p:sp>
        <p:nvSpPr>
          <p:cNvPr id="4" name="页脚占位符 3"/>
          <p:cNvSpPr>
            <a:spLocks noGrp="1"/>
          </p:cNvSpPr>
          <p:nvPr>
            <p:ph type="ftr" sz="quarter" idx="11"/>
          </p:nvPr>
        </p:nvSpPr>
        <p:spPr/>
        <p:txBody>
          <a:bodyPr/>
          <a:lstStyle/>
          <a:p>
            <a:pPr>
              <a:defRPr/>
            </a:pPr>
            <a:endParaRPr lang="zh-CN" altLang="en-US"/>
          </a:p>
        </p:txBody>
      </p:sp>
      <p:sp>
        <p:nvSpPr>
          <p:cNvPr id="5" name="灯片编号占位符 4"/>
          <p:cNvSpPr>
            <a:spLocks noGrp="1"/>
          </p:cNvSpPr>
          <p:nvPr>
            <p:ph type="sldNum" sz="quarter" idx="12"/>
          </p:nvPr>
        </p:nvSpPr>
        <p:spPr/>
        <p:txBody>
          <a:bodyPr/>
          <a:lstStyle/>
          <a:p>
            <a:pPr>
              <a:defRPr/>
            </a:pPr>
            <a:fld id="{470F5791-85C4-45CA-BC8F-4EAC80EBF0A6}" type="slidenum">
              <a:rPr lang="zh-CN" altLang="en-US" smtClean="0"/>
              <a:t>‹#›</a:t>
            </a:fld>
            <a:endParaRPr lang="zh-CN" altLang="en-US"/>
          </a:p>
        </p:txBody>
      </p:sp>
    </p:spTree>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E302B5DB-DC4A-471D-8BB5-DE1AA9BABD40}" type="datetimeFigureOut">
              <a:rPr lang="zh-CN" altLang="en-US"/>
              <a:t>2026/3/31</a:t>
            </a:fld>
            <a:endParaRPr lang="zh-CN" altLang="en-US"/>
          </a:p>
        </p:txBody>
      </p:sp>
      <p:sp>
        <p:nvSpPr>
          <p:cNvPr id="3" name="页脚占位符 2"/>
          <p:cNvSpPr>
            <a:spLocks noGrp="1"/>
          </p:cNvSpPr>
          <p:nvPr>
            <p:ph type="ftr" sz="quarter" idx="11"/>
          </p:nvPr>
        </p:nvSpPr>
        <p:spPr/>
        <p:txBody>
          <a:bodyPr/>
          <a:lstStyle/>
          <a:p>
            <a:pPr>
              <a:defRPr/>
            </a:pPr>
            <a:endParaRPr lang="zh-CN" altLang="en-US"/>
          </a:p>
        </p:txBody>
      </p:sp>
      <p:sp>
        <p:nvSpPr>
          <p:cNvPr id="4" name="灯片编号占位符 3"/>
          <p:cNvSpPr>
            <a:spLocks noGrp="1"/>
          </p:cNvSpPr>
          <p:nvPr>
            <p:ph type="sldNum" sz="quarter" idx="12"/>
          </p:nvPr>
        </p:nvSpPr>
        <p:spPr/>
        <p:txBody>
          <a:bodyPr/>
          <a:lstStyle/>
          <a:p>
            <a:pPr>
              <a:defRPr/>
            </a:pPr>
            <a:fld id="{470F5791-85C4-45CA-BC8F-4EAC80EBF0A6}" type="slidenum">
              <a:rPr lang="zh-CN" altLang="en-US"/>
              <a:t>‹#›</a:t>
            </a:fld>
            <a:endParaRPr lang="zh-CN" altLang="en-US"/>
          </a:p>
        </p:txBody>
      </p:sp>
    </p:spTree>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609600" y="274638"/>
            <a:ext cx="10975975" cy="1143000"/>
          </a:xfrm>
          <a:prstGeom prst="rect">
            <a:avLst/>
          </a:prstGeom>
          <a:noFill/>
          <a:ln>
            <a:noFill/>
          </a:ln>
        </p:spPr>
        <p:txBody>
          <a:bodyPr vert="horz" wrap="square" lIns="111420" tIns="55710" rIns="111420" bIns="55710" numCol="1" anchor="ctr" anchorCtr="0" compatLnSpc="1"/>
          <a:lstStyle/>
          <a:p>
            <a:pPr lvl="0"/>
            <a:r>
              <a:rPr lang="zh-CN" altLang="en-US"/>
              <a:t>单击此处编辑母版标题样式</a:t>
            </a:r>
          </a:p>
        </p:txBody>
      </p:sp>
      <p:sp>
        <p:nvSpPr>
          <p:cNvPr id="1027" name="文本占位符 2"/>
          <p:cNvSpPr>
            <a:spLocks noGrp="1"/>
          </p:cNvSpPr>
          <p:nvPr>
            <p:ph type="body" idx="1"/>
          </p:nvPr>
        </p:nvSpPr>
        <p:spPr bwMode="auto">
          <a:xfrm>
            <a:off x="609600" y="1600200"/>
            <a:ext cx="10975975" cy="4527550"/>
          </a:xfrm>
          <a:prstGeom prst="rect">
            <a:avLst/>
          </a:prstGeom>
          <a:noFill/>
          <a:ln>
            <a:noFill/>
          </a:ln>
        </p:spPr>
        <p:txBody>
          <a:bodyPr vert="horz" wrap="square" lIns="111420" tIns="55710" rIns="111420" bIns="5571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7938"/>
            <a:ext cx="2846388" cy="365125"/>
          </a:xfrm>
          <a:prstGeom prst="rect">
            <a:avLst/>
          </a:prstGeom>
        </p:spPr>
        <p:txBody>
          <a:bodyPr vert="horz" lIns="111420" tIns="55710" rIns="111420" bIns="55710" rtlCol="0" anchor="ctr"/>
          <a:lstStyle>
            <a:lvl1pPr algn="l" defTabSz="1113790" eaLnBrk="1" fontAlgn="auto" hangingPunct="1">
              <a:spcBef>
                <a:spcPts val="0"/>
              </a:spcBef>
              <a:spcAft>
                <a:spcPts val="0"/>
              </a:spcAft>
              <a:defRPr sz="1500">
                <a:solidFill>
                  <a:schemeClr val="tx1">
                    <a:tint val="75000"/>
                  </a:schemeClr>
                </a:solidFill>
                <a:latin typeface="+mn-lt"/>
                <a:ea typeface="+mn-ea"/>
              </a:defRPr>
            </a:lvl1pPr>
          </a:lstStyle>
          <a:p>
            <a:pPr>
              <a:defRPr/>
            </a:pPr>
            <a:fld id="{E302B5DB-DC4A-471D-8BB5-DE1AA9BABD40}" type="datetimeFigureOut">
              <a:rPr lang="zh-CN" altLang="en-US"/>
              <a:t>2026/3/31</a:t>
            </a:fld>
            <a:endParaRPr lang="zh-CN" altLang="en-US"/>
          </a:p>
        </p:txBody>
      </p:sp>
      <p:sp>
        <p:nvSpPr>
          <p:cNvPr id="5" name="页脚占位符 4"/>
          <p:cNvSpPr>
            <a:spLocks noGrp="1"/>
          </p:cNvSpPr>
          <p:nvPr>
            <p:ph type="ftr" sz="quarter" idx="3"/>
          </p:nvPr>
        </p:nvSpPr>
        <p:spPr>
          <a:xfrm>
            <a:off x="4167188" y="6357938"/>
            <a:ext cx="3860800" cy="365125"/>
          </a:xfrm>
          <a:prstGeom prst="rect">
            <a:avLst/>
          </a:prstGeom>
        </p:spPr>
        <p:txBody>
          <a:bodyPr vert="horz" lIns="111420" tIns="55710" rIns="111420" bIns="55710" rtlCol="0" anchor="ctr"/>
          <a:lstStyle>
            <a:lvl1pPr algn="ctr" defTabSz="1113790" eaLnBrk="1" fontAlgn="auto" hangingPunct="1">
              <a:spcBef>
                <a:spcPts val="0"/>
              </a:spcBef>
              <a:spcAft>
                <a:spcPts val="0"/>
              </a:spcAft>
              <a:defRPr sz="15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739188" y="6357938"/>
            <a:ext cx="2846387" cy="365125"/>
          </a:xfrm>
          <a:prstGeom prst="rect">
            <a:avLst/>
          </a:prstGeom>
        </p:spPr>
        <p:txBody>
          <a:bodyPr vert="horz" wrap="square" lIns="111420" tIns="55710" rIns="111420" bIns="55710" numCol="1" anchor="ctr" anchorCtr="0" compatLnSpc="1"/>
          <a:lstStyle>
            <a:lvl1pPr algn="r" eaLnBrk="1" hangingPunct="1">
              <a:defRPr sz="1500">
                <a:solidFill>
                  <a:srgbClr val="898989"/>
                </a:solidFill>
                <a:ea typeface="宋体" panose="02010600030101010101" pitchFamily="2" charset="-122"/>
              </a:defRPr>
            </a:lvl1pPr>
          </a:lstStyle>
          <a:p>
            <a:pPr>
              <a:defRPr/>
            </a:pPr>
            <a:fld id="{470F5791-85C4-45CA-BC8F-4EAC80EBF0A6}" type="slidenum">
              <a:rPr lang="zh-CN" altLang="en-US"/>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ransition spd="slow">
    <p:push dir="u"/>
  </p:transition>
  <p:txStyles>
    <p:titleStyle>
      <a:lvl1pPr algn="ctr" defTabSz="1112520" rtl="0" eaLnBrk="0" fontAlgn="base" hangingPunct="0">
        <a:spcBef>
          <a:spcPct val="0"/>
        </a:spcBef>
        <a:spcAft>
          <a:spcPct val="0"/>
        </a:spcAft>
        <a:defRPr sz="5400" kern="1200">
          <a:solidFill>
            <a:schemeClr val="tx1"/>
          </a:solidFill>
          <a:latin typeface="+mj-lt"/>
          <a:ea typeface="+mj-ea"/>
          <a:cs typeface="+mj-cs"/>
        </a:defRPr>
      </a:lvl1pPr>
      <a:lvl2pPr algn="ctr" defTabSz="1112520" rtl="0" eaLnBrk="0" fontAlgn="base" hangingPunct="0">
        <a:spcBef>
          <a:spcPct val="0"/>
        </a:spcBef>
        <a:spcAft>
          <a:spcPct val="0"/>
        </a:spcAft>
        <a:defRPr sz="5400">
          <a:solidFill>
            <a:schemeClr val="tx1"/>
          </a:solidFill>
          <a:latin typeface="Calibri" panose="020F0502020204030204" pitchFamily="34" charset="0"/>
          <a:ea typeface="宋体" panose="02010600030101010101" pitchFamily="2" charset="-122"/>
        </a:defRPr>
      </a:lvl2pPr>
      <a:lvl3pPr algn="ctr" defTabSz="1112520" rtl="0" eaLnBrk="0" fontAlgn="base" hangingPunct="0">
        <a:spcBef>
          <a:spcPct val="0"/>
        </a:spcBef>
        <a:spcAft>
          <a:spcPct val="0"/>
        </a:spcAft>
        <a:defRPr sz="5400">
          <a:solidFill>
            <a:schemeClr val="tx1"/>
          </a:solidFill>
          <a:latin typeface="Calibri" panose="020F0502020204030204" pitchFamily="34" charset="0"/>
          <a:ea typeface="宋体" panose="02010600030101010101" pitchFamily="2" charset="-122"/>
        </a:defRPr>
      </a:lvl3pPr>
      <a:lvl4pPr algn="ctr" defTabSz="1112520" rtl="0" eaLnBrk="0" fontAlgn="base" hangingPunct="0">
        <a:spcBef>
          <a:spcPct val="0"/>
        </a:spcBef>
        <a:spcAft>
          <a:spcPct val="0"/>
        </a:spcAft>
        <a:defRPr sz="5400">
          <a:solidFill>
            <a:schemeClr val="tx1"/>
          </a:solidFill>
          <a:latin typeface="Calibri" panose="020F0502020204030204" pitchFamily="34" charset="0"/>
          <a:ea typeface="宋体" panose="02010600030101010101" pitchFamily="2" charset="-122"/>
        </a:defRPr>
      </a:lvl4pPr>
      <a:lvl5pPr algn="ctr" defTabSz="1112520" rtl="0" eaLnBrk="0" fontAlgn="base" hangingPunct="0">
        <a:spcBef>
          <a:spcPct val="0"/>
        </a:spcBef>
        <a:spcAft>
          <a:spcPct val="0"/>
        </a:spcAft>
        <a:defRPr sz="5400">
          <a:solidFill>
            <a:schemeClr val="tx1"/>
          </a:solidFill>
          <a:latin typeface="Calibri" panose="020F0502020204030204" pitchFamily="34" charset="0"/>
          <a:ea typeface="宋体" panose="02010600030101010101" pitchFamily="2" charset="-122"/>
        </a:defRPr>
      </a:lvl5pPr>
      <a:lvl6pPr marL="457200" algn="ctr" defTabSz="1112520" rtl="0" fontAlgn="base">
        <a:spcBef>
          <a:spcPct val="0"/>
        </a:spcBef>
        <a:spcAft>
          <a:spcPct val="0"/>
        </a:spcAft>
        <a:defRPr sz="5400">
          <a:solidFill>
            <a:schemeClr val="tx1"/>
          </a:solidFill>
          <a:latin typeface="Calibri" panose="020F0502020204030204" pitchFamily="34" charset="0"/>
          <a:ea typeface="宋体" panose="02010600030101010101" pitchFamily="2" charset="-122"/>
        </a:defRPr>
      </a:lvl6pPr>
      <a:lvl7pPr marL="914400" algn="ctr" defTabSz="1112520" rtl="0" fontAlgn="base">
        <a:spcBef>
          <a:spcPct val="0"/>
        </a:spcBef>
        <a:spcAft>
          <a:spcPct val="0"/>
        </a:spcAft>
        <a:defRPr sz="5400">
          <a:solidFill>
            <a:schemeClr val="tx1"/>
          </a:solidFill>
          <a:latin typeface="Calibri" panose="020F0502020204030204" pitchFamily="34" charset="0"/>
          <a:ea typeface="宋体" panose="02010600030101010101" pitchFamily="2" charset="-122"/>
        </a:defRPr>
      </a:lvl7pPr>
      <a:lvl8pPr marL="1371600" algn="ctr" defTabSz="1112520" rtl="0" fontAlgn="base">
        <a:spcBef>
          <a:spcPct val="0"/>
        </a:spcBef>
        <a:spcAft>
          <a:spcPct val="0"/>
        </a:spcAft>
        <a:defRPr sz="5400">
          <a:solidFill>
            <a:schemeClr val="tx1"/>
          </a:solidFill>
          <a:latin typeface="Calibri" panose="020F0502020204030204" pitchFamily="34" charset="0"/>
          <a:ea typeface="宋体" panose="02010600030101010101" pitchFamily="2" charset="-122"/>
        </a:defRPr>
      </a:lvl8pPr>
      <a:lvl9pPr marL="1828800" algn="ctr" defTabSz="1112520" rtl="0" fontAlgn="base">
        <a:spcBef>
          <a:spcPct val="0"/>
        </a:spcBef>
        <a:spcAft>
          <a:spcPct val="0"/>
        </a:spcAft>
        <a:defRPr sz="5400">
          <a:solidFill>
            <a:schemeClr val="tx1"/>
          </a:solidFill>
          <a:latin typeface="Calibri" panose="020F0502020204030204" pitchFamily="34" charset="0"/>
          <a:ea typeface="宋体" panose="02010600030101010101" pitchFamily="2" charset="-122"/>
        </a:defRPr>
      </a:lvl9pPr>
    </p:titleStyle>
    <p:bodyStyle>
      <a:lvl1pPr marL="417830" indent="-417830" algn="l" defTabSz="1112520" rtl="0" eaLnBrk="0" fontAlgn="base" hangingPunct="0">
        <a:spcBef>
          <a:spcPct val="20000"/>
        </a:spcBef>
        <a:spcAft>
          <a:spcPct val="0"/>
        </a:spcAft>
        <a:buFont typeface="Arial" panose="020B0604020202020204" pitchFamily="34" charset="0"/>
        <a:buChar char="•"/>
        <a:defRPr sz="3900" kern="1200">
          <a:solidFill>
            <a:schemeClr val="tx1"/>
          </a:solidFill>
          <a:latin typeface="+mn-lt"/>
          <a:ea typeface="+mn-ea"/>
          <a:cs typeface="+mn-cs"/>
        </a:defRPr>
      </a:lvl1pPr>
      <a:lvl2pPr marL="904875" indent="-347980" algn="l" defTabSz="1112520" rtl="0" eaLnBrk="0" fontAlgn="base" hangingPunct="0">
        <a:spcBef>
          <a:spcPct val="20000"/>
        </a:spcBef>
        <a:spcAft>
          <a:spcPct val="0"/>
        </a:spcAft>
        <a:buFont typeface="Arial" panose="020B0604020202020204" pitchFamily="34" charset="0"/>
        <a:buChar char="–"/>
        <a:defRPr sz="3400" kern="1200">
          <a:solidFill>
            <a:schemeClr val="tx1"/>
          </a:solidFill>
          <a:latin typeface="+mn-lt"/>
          <a:ea typeface="+mn-ea"/>
          <a:cs typeface="+mn-cs"/>
        </a:defRPr>
      </a:lvl2pPr>
      <a:lvl3pPr marL="1392555" indent="-278130" algn="l" defTabSz="1112520" rtl="0" eaLnBrk="0" fontAlgn="base" hangingPunct="0">
        <a:spcBef>
          <a:spcPct val="20000"/>
        </a:spcBef>
        <a:spcAft>
          <a:spcPct val="0"/>
        </a:spcAft>
        <a:buFont typeface="Arial" panose="020B0604020202020204" pitchFamily="34" charset="0"/>
        <a:buChar char="•"/>
        <a:defRPr sz="2900" kern="1200">
          <a:solidFill>
            <a:schemeClr val="tx1"/>
          </a:solidFill>
          <a:latin typeface="+mn-lt"/>
          <a:ea typeface="+mn-ea"/>
          <a:cs typeface="+mn-cs"/>
        </a:defRPr>
      </a:lvl3pPr>
      <a:lvl4pPr marL="1949450" indent="-278130" algn="l" defTabSz="111252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4pPr>
      <a:lvl5pPr marL="2506980" indent="-278130" algn="l" defTabSz="111252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5pPr>
      <a:lvl6pPr marL="3063875" indent="-278765" algn="l" defTabSz="11137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6pPr>
      <a:lvl7pPr marL="3621405" indent="-278765" algn="l" defTabSz="11137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7pPr>
      <a:lvl8pPr marL="4178300" indent="-278765" algn="l" defTabSz="11137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8pPr>
      <a:lvl9pPr marL="4735195" indent="-278765" algn="l" defTabSz="11137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113790" rtl="0" eaLnBrk="1" latinLnBrk="0" hangingPunct="1">
        <a:defRPr sz="2200" kern="1200">
          <a:solidFill>
            <a:schemeClr val="tx1"/>
          </a:solidFill>
          <a:latin typeface="+mn-lt"/>
          <a:ea typeface="+mn-ea"/>
          <a:cs typeface="+mn-cs"/>
        </a:defRPr>
      </a:lvl1pPr>
      <a:lvl2pPr marL="556895" algn="l" defTabSz="1113790" rtl="0" eaLnBrk="1" latinLnBrk="0" hangingPunct="1">
        <a:defRPr sz="2200" kern="1200">
          <a:solidFill>
            <a:schemeClr val="tx1"/>
          </a:solidFill>
          <a:latin typeface="+mn-lt"/>
          <a:ea typeface="+mn-ea"/>
          <a:cs typeface="+mn-cs"/>
        </a:defRPr>
      </a:lvl2pPr>
      <a:lvl3pPr marL="1114425" algn="l" defTabSz="1113790" rtl="0" eaLnBrk="1" latinLnBrk="0" hangingPunct="1">
        <a:defRPr sz="2200" kern="1200">
          <a:solidFill>
            <a:schemeClr val="tx1"/>
          </a:solidFill>
          <a:latin typeface="+mn-lt"/>
          <a:ea typeface="+mn-ea"/>
          <a:cs typeface="+mn-cs"/>
        </a:defRPr>
      </a:lvl3pPr>
      <a:lvl4pPr marL="1671320" algn="l" defTabSz="1113790" rtl="0" eaLnBrk="1" latinLnBrk="0" hangingPunct="1">
        <a:defRPr sz="2200" kern="1200">
          <a:solidFill>
            <a:schemeClr val="tx1"/>
          </a:solidFill>
          <a:latin typeface="+mn-lt"/>
          <a:ea typeface="+mn-ea"/>
          <a:cs typeface="+mn-cs"/>
        </a:defRPr>
      </a:lvl4pPr>
      <a:lvl5pPr marL="2228215" algn="l" defTabSz="1113790" rtl="0" eaLnBrk="1" latinLnBrk="0" hangingPunct="1">
        <a:defRPr sz="2200" kern="1200">
          <a:solidFill>
            <a:schemeClr val="tx1"/>
          </a:solidFill>
          <a:latin typeface="+mn-lt"/>
          <a:ea typeface="+mn-ea"/>
          <a:cs typeface="+mn-cs"/>
        </a:defRPr>
      </a:lvl5pPr>
      <a:lvl6pPr marL="2785745" algn="l" defTabSz="1113790" rtl="0" eaLnBrk="1" latinLnBrk="0" hangingPunct="1">
        <a:defRPr sz="2200" kern="1200">
          <a:solidFill>
            <a:schemeClr val="tx1"/>
          </a:solidFill>
          <a:latin typeface="+mn-lt"/>
          <a:ea typeface="+mn-ea"/>
          <a:cs typeface="+mn-cs"/>
        </a:defRPr>
      </a:lvl6pPr>
      <a:lvl7pPr marL="3342640" algn="l" defTabSz="1113790" rtl="0" eaLnBrk="1" latinLnBrk="0" hangingPunct="1">
        <a:defRPr sz="2200" kern="1200">
          <a:solidFill>
            <a:schemeClr val="tx1"/>
          </a:solidFill>
          <a:latin typeface="+mn-lt"/>
          <a:ea typeface="+mn-ea"/>
          <a:cs typeface="+mn-cs"/>
        </a:defRPr>
      </a:lvl7pPr>
      <a:lvl8pPr marL="3899535" algn="l" defTabSz="1113790" rtl="0" eaLnBrk="1" latinLnBrk="0" hangingPunct="1">
        <a:defRPr sz="2200" kern="1200">
          <a:solidFill>
            <a:schemeClr val="tx1"/>
          </a:solidFill>
          <a:latin typeface="+mn-lt"/>
          <a:ea typeface="+mn-ea"/>
          <a:cs typeface="+mn-cs"/>
        </a:defRPr>
      </a:lvl8pPr>
      <a:lvl9pPr marL="4457065" algn="l" defTabSz="1113790" rtl="0" eaLnBrk="1" latinLnBrk="0" hangingPunct="1">
        <a:defRPr sz="2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F5091E0A-E1FE-2B30-1BA4-E1085CFF17DE}"/>
              </a:ext>
            </a:extLst>
          </p:cNvPr>
          <p:cNvSpPr/>
          <p:nvPr/>
        </p:nvSpPr>
        <p:spPr>
          <a:xfrm>
            <a:off x="9625979" y="5778608"/>
            <a:ext cx="2448272" cy="8640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552971" y="2133650"/>
            <a:ext cx="11161240" cy="1428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itchFamily="34" charset="-122"/>
                <a:ea typeface="微软雅黑" pitchFamily="34" charset="-122"/>
              </a:rPr>
              <a:t>可视化 </a:t>
            </a:r>
            <a:r>
              <a:rPr lang="en-US" altLang="zh-CN" sz="40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itchFamily="34" charset="-122"/>
                <a:ea typeface="微软雅黑" pitchFamily="34" charset="-122"/>
              </a:rPr>
              <a:t>ATC </a:t>
            </a:r>
            <a:r>
              <a:rPr lang="zh-CN" altLang="en-US" sz="40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itchFamily="34" charset="-122"/>
                <a:ea typeface="微软雅黑" pitchFamily="34" charset="-122"/>
              </a:rPr>
              <a:t>地空通话语音标注系统 （</a:t>
            </a:r>
            <a:r>
              <a:rPr lang="en-US" altLang="zh-CN" sz="40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itchFamily="34" charset="-122"/>
                <a:ea typeface="微软雅黑" pitchFamily="34" charset="-122"/>
              </a:rPr>
              <a:t>A-2</a:t>
            </a:r>
            <a:r>
              <a:rPr lang="zh-CN" altLang="en-US" sz="40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itchFamily="34" charset="-122"/>
                <a:ea typeface="微软雅黑" pitchFamily="34" charset="-122"/>
              </a:rPr>
              <a:t>模块）实施方案</a:t>
            </a:r>
          </a:p>
        </p:txBody>
      </p:sp>
      <p:pic>
        <p:nvPicPr>
          <p:cNvPr id="2" name="图片 1">
            <a:extLst>
              <a:ext uri="{FF2B5EF4-FFF2-40B4-BE49-F238E27FC236}">
                <a16:creationId xmlns:a16="http://schemas.microsoft.com/office/drawing/2014/main" id="{A061C46B-54FE-858E-B17A-D39082501C2F}"/>
              </a:ext>
            </a:extLst>
          </p:cNvPr>
          <p:cNvPicPr>
            <a:picLocks noChangeAspect="1"/>
          </p:cNvPicPr>
          <p:nvPr/>
        </p:nvPicPr>
        <p:blipFill>
          <a:blip r:embed="rId2"/>
          <a:stretch>
            <a:fillRect/>
          </a:stretch>
        </p:blipFill>
        <p:spPr>
          <a:xfrm>
            <a:off x="10764365" y="5763183"/>
            <a:ext cx="949846" cy="949846"/>
          </a:xfrm>
          <a:prstGeom prst="rect">
            <a:avLst/>
          </a:prstGeom>
        </p:spPr>
      </p:pic>
      <p:sp>
        <p:nvSpPr>
          <p:cNvPr id="4" name="文本框 3">
            <a:extLst>
              <a:ext uri="{FF2B5EF4-FFF2-40B4-BE49-F238E27FC236}">
                <a16:creationId xmlns:a16="http://schemas.microsoft.com/office/drawing/2014/main" id="{06BA7E08-9006-E245-F503-DDD80340230C}"/>
              </a:ext>
            </a:extLst>
          </p:cNvPr>
          <p:cNvSpPr txBox="1"/>
          <p:nvPr/>
        </p:nvSpPr>
        <p:spPr bwMode="auto">
          <a:xfrm>
            <a:off x="9193931" y="5013970"/>
            <a:ext cx="2736304" cy="400110"/>
          </a:xfrm>
          <a:prstGeom prst="rect">
            <a:avLst/>
          </a:prstGeom>
          <a:noFill/>
          <a:ln w="9525">
            <a:noFill/>
            <a:prstDash val="lgDash"/>
            <a:miter lim="800000"/>
          </a:ln>
        </p:spPr>
        <p:txBody>
          <a:bodyPr wrap="square" rtlCol="0">
            <a:spAutoFit/>
          </a:bodyPr>
          <a:lstStyle/>
          <a:p>
            <a:pPr eaLnBrk="1" hangingPunct="1"/>
            <a:r>
              <a:rPr lang="zh-CN" altLang="en-US" sz="2000" b="1" dirty="0">
                <a:solidFill>
                  <a:schemeClr val="bg1"/>
                </a:solidFill>
                <a:latin typeface="微软雅黑" panose="020B0503020204020204" pitchFamily="34" charset="-122"/>
                <a:ea typeface="微软雅黑" panose="020B0503020204020204" pitchFamily="34" charset="-122"/>
              </a:rPr>
              <a:t>汇报人：朱浩然</a:t>
            </a:r>
          </a:p>
        </p:txBody>
      </p:sp>
      <p:sp>
        <p:nvSpPr>
          <p:cNvPr id="5" name="文本框 4">
            <a:extLst>
              <a:ext uri="{FF2B5EF4-FFF2-40B4-BE49-F238E27FC236}">
                <a16:creationId xmlns:a16="http://schemas.microsoft.com/office/drawing/2014/main" id="{FEB180F6-1F0E-EB19-AF62-249449C5F2BB}"/>
              </a:ext>
            </a:extLst>
          </p:cNvPr>
          <p:cNvSpPr txBox="1"/>
          <p:nvPr/>
        </p:nvSpPr>
        <p:spPr bwMode="auto">
          <a:xfrm>
            <a:off x="9193931" y="4631651"/>
            <a:ext cx="2736304" cy="400110"/>
          </a:xfrm>
          <a:prstGeom prst="rect">
            <a:avLst/>
          </a:prstGeom>
          <a:noFill/>
          <a:ln w="9525">
            <a:noFill/>
            <a:prstDash val="lgDash"/>
            <a:miter lim="800000"/>
          </a:ln>
        </p:spPr>
        <p:txBody>
          <a:bodyPr wrap="square" rtlCol="0">
            <a:spAutoFit/>
          </a:bodyPr>
          <a:lstStyle/>
          <a:p>
            <a:pPr eaLnBrk="1" hangingPunct="1"/>
            <a:r>
              <a:rPr lang="zh-CN" altLang="en-US" sz="2000" b="1" dirty="0">
                <a:solidFill>
                  <a:schemeClr val="bg1"/>
                </a:solidFill>
                <a:latin typeface="微软雅黑" panose="020B0503020204020204" pitchFamily="34" charset="-122"/>
                <a:ea typeface="微软雅黑" panose="020B0503020204020204" pitchFamily="34" charset="-122"/>
              </a:rPr>
              <a:t>组   别：第</a:t>
            </a:r>
            <a:r>
              <a:rPr lang="en-US" altLang="zh-CN" sz="2000" b="1" dirty="0">
                <a:solidFill>
                  <a:schemeClr val="bg1"/>
                </a:solidFill>
                <a:latin typeface="微软雅黑" panose="020B0503020204020204" pitchFamily="34" charset="-122"/>
                <a:ea typeface="微软雅黑" panose="020B0503020204020204" pitchFamily="34" charset="-122"/>
              </a:rPr>
              <a:t>2</a:t>
            </a:r>
            <a:r>
              <a:rPr lang="zh-CN" altLang="en-US" sz="2000" b="1" dirty="0">
                <a:solidFill>
                  <a:schemeClr val="bg1"/>
                </a:solidFill>
                <a:latin typeface="微软雅黑" panose="020B0503020204020204" pitchFamily="34" charset="-122"/>
                <a:ea typeface="微软雅黑" panose="020B0503020204020204" pitchFamily="34" charset="-122"/>
              </a:rPr>
              <a:t>组</a:t>
            </a:r>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noChangeArrowheads="1"/>
          </p:cNvPicPr>
          <p:nvPr/>
        </p:nvPicPr>
        <p:blipFill>
          <a:blip r:embed="rId2">
            <a:duotone>
              <a:schemeClr val="accent2">
                <a:shade val="45000"/>
                <a:satMod val="135000"/>
              </a:schemeClr>
              <a:prstClr val="white"/>
            </a:duotone>
            <a:lum contrast="36000"/>
          </a:blip>
          <a:srcRect/>
          <a:stretch>
            <a:fillRect/>
          </a:stretch>
        </p:blipFill>
        <p:spPr bwMode="auto">
          <a:xfrm>
            <a:off x="-20638" y="-28575"/>
            <a:ext cx="12233276" cy="6967538"/>
          </a:xfrm>
          <a:prstGeom prst="rect">
            <a:avLst/>
          </a:prstGeom>
          <a:noFill/>
          <a:ln w="9525">
            <a:noFill/>
            <a:miter lim="800000"/>
            <a:headEnd/>
            <a:tailEnd/>
          </a:ln>
        </p:spPr>
      </p:pic>
      <p:sp>
        <p:nvSpPr>
          <p:cNvPr id="8" name="矩形 7"/>
          <p:cNvSpPr/>
          <p:nvPr/>
        </p:nvSpPr>
        <p:spPr>
          <a:xfrm>
            <a:off x="1705099" y="1629594"/>
            <a:ext cx="8572560" cy="21431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5600" b="1" dirty="0">
                <a:latin typeface="微软雅黑" pitchFamily="34" charset="-122"/>
                <a:ea typeface="微软雅黑" pitchFamily="34" charset="-122"/>
              </a:rPr>
              <a:t>功能设计</a:t>
            </a:r>
          </a:p>
          <a:p>
            <a:pPr>
              <a:lnSpc>
                <a:spcPct val="150000"/>
              </a:lnSpc>
            </a:pPr>
            <a:endParaRPr lang="en-US" altLang="zh-CN" sz="2800" b="1" dirty="0">
              <a:latin typeface="微软雅黑" pitchFamily="34" charset="-122"/>
              <a:ea typeface="微软雅黑" pitchFamily="34" charset="-122"/>
            </a:endParaRPr>
          </a:p>
        </p:txBody>
      </p:sp>
    </p:spTree>
    <p:extLst>
      <p:ext uri="{BB962C8B-B14F-4D97-AF65-F5344CB8AC3E}">
        <p14:creationId xmlns:p14="http://schemas.microsoft.com/office/powerpoint/2010/main" val="2747691859"/>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圆角 13">
            <a:extLst>
              <a:ext uri="{FF2B5EF4-FFF2-40B4-BE49-F238E27FC236}">
                <a16:creationId xmlns:a16="http://schemas.microsoft.com/office/drawing/2014/main" id="{D4849A6A-EC27-D9DC-F601-C7F6F943E42D}"/>
              </a:ext>
            </a:extLst>
          </p:cNvPr>
          <p:cNvSpPr/>
          <p:nvPr/>
        </p:nvSpPr>
        <p:spPr>
          <a:xfrm>
            <a:off x="2998061" y="5327067"/>
            <a:ext cx="8568952" cy="1122141"/>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endParaRPr>
          </a:p>
        </p:txBody>
      </p:sp>
      <p:sp>
        <p:nvSpPr>
          <p:cNvPr id="13" name="矩形: 圆角 12">
            <a:extLst>
              <a:ext uri="{FF2B5EF4-FFF2-40B4-BE49-F238E27FC236}">
                <a16:creationId xmlns:a16="http://schemas.microsoft.com/office/drawing/2014/main" id="{9E4E62CF-7E47-CFC0-2530-06C825AE0832}"/>
              </a:ext>
            </a:extLst>
          </p:cNvPr>
          <p:cNvSpPr/>
          <p:nvPr/>
        </p:nvSpPr>
        <p:spPr>
          <a:xfrm>
            <a:off x="3003984" y="3167125"/>
            <a:ext cx="8568952" cy="1477327"/>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endParaRPr>
          </a:p>
        </p:txBody>
      </p:sp>
      <p:sp>
        <p:nvSpPr>
          <p:cNvPr id="12" name="矩形: 圆角 11">
            <a:extLst>
              <a:ext uri="{FF2B5EF4-FFF2-40B4-BE49-F238E27FC236}">
                <a16:creationId xmlns:a16="http://schemas.microsoft.com/office/drawing/2014/main" id="{DA668421-31F1-7D40-E43F-FE5956D2DFEB}"/>
              </a:ext>
            </a:extLst>
          </p:cNvPr>
          <p:cNvSpPr/>
          <p:nvPr/>
        </p:nvSpPr>
        <p:spPr>
          <a:xfrm>
            <a:off x="2929235" y="1197546"/>
            <a:ext cx="8568952" cy="1349204"/>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endParaRPr>
          </a:p>
        </p:txBody>
      </p:sp>
      <p:sp>
        <p:nvSpPr>
          <p:cNvPr id="1048762" name="矩形 25"/>
          <p:cNvSpPr/>
          <p:nvPr/>
        </p:nvSpPr>
        <p:spPr>
          <a:xfrm>
            <a:off x="773557" y="1513633"/>
            <a:ext cx="1701094" cy="612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4" name="矩形 24"/>
          <p:cNvSpPr/>
          <p:nvPr/>
        </p:nvSpPr>
        <p:spPr>
          <a:xfrm>
            <a:off x="1018811" y="1619579"/>
            <a:ext cx="1210588" cy="400110"/>
          </a:xfrm>
          <a:prstGeom prst="rect">
            <a:avLst/>
          </a:prstGeom>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文档目的</a:t>
            </a:r>
          </a:p>
        </p:txBody>
      </p:sp>
      <p:sp>
        <p:nvSpPr>
          <p:cNvPr id="1048765" name="TextBox 11"/>
          <p:cNvSpPr txBox="1"/>
          <p:nvPr/>
        </p:nvSpPr>
        <p:spPr>
          <a:xfrm>
            <a:off x="335447" y="152331"/>
            <a:ext cx="8858484" cy="584800"/>
          </a:xfrm>
          <a:prstGeom prst="rect">
            <a:avLst/>
          </a:prstGeom>
          <a:noFill/>
        </p:spPr>
        <p:txBody>
          <a:bodyPr wrap="square" lIns="121944" tIns="60972" rIns="121944" bIns="60972" rtlCol="0">
            <a:spAutoFit/>
          </a:bodyPr>
          <a:lstStyle/>
          <a:p>
            <a:r>
              <a:rPr lang="zh-CN" altLang="en-US" sz="3000" b="1" dirty="0">
                <a:solidFill>
                  <a:schemeClr val="bg1"/>
                </a:solidFill>
                <a:latin typeface="微软雅黑" panose="020B0503020204020204" pitchFamily="34" charset="-122"/>
                <a:ea typeface="微软雅黑" panose="020B0503020204020204" pitchFamily="34" charset="-122"/>
              </a:rPr>
              <a:t>文档介绍</a:t>
            </a:r>
          </a:p>
        </p:txBody>
      </p:sp>
      <p:sp>
        <p:nvSpPr>
          <p:cNvPr id="6" name="矩形 1"/>
          <p:cNvSpPr/>
          <p:nvPr/>
        </p:nvSpPr>
        <p:spPr>
          <a:xfrm>
            <a:off x="3109255" y="1302859"/>
            <a:ext cx="8208912" cy="1200329"/>
          </a:xfrm>
          <a:prstGeom prst="rect">
            <a:avLst/>
          </a:prstGeom>
        </p:spPr>
        <p:txBody>
          <a:bodyPr wrap="square">
            <a:spAutoFit/>
          </a:bodyPr>
          <a:lstStyle/>
          <a:p>
            <a:pPr algn="just"/>
            <a:r>
              <a:rPr lang="zh-CN" altLang="en-US" sz="1800" dirty="0">
                <a:latin typeface="微软雅黑" panose="020B0503020204020204" pitchFamily="34" charset="-122"/>
                <a:ea typeface="微软雅黑" panose="020B0503020204020204" pitchFamily="34" charset="-122"/>
              </a:rPr>
              <a:t>本文档为可视化 </a:t>
            </a:r>
            <a:r>
              <a:rPr lang="en-US" altLang="zh-CN" sz="1800" dirty="0">
                <a:latin typeface="微软雅黑" panose="020B0503020204020204" pitchFamily="34" charset="-122"/>
                <a:ea typeface="微软雅黑" panose="020B0503020204020204" pitchFamily="34" charset="-122"/>
              </a:rPr>
              <a:t>ATC </a:t>
            </a:r>
            <a:r>
              <a:rPr lang="zh-CN" altLang="en-US" sz="1800" dirty="0">
                <a:latin typeface="微软雅黑" panose="020B0503020204020204" pitchFamily="34" charset="-122"/>
                <a:ea typeface="微软雅黑" panose="020B0503020204020204" pitchFamily="34" charset="-122"/>
              </a:rPr>
              <a:t>地空通话语音标注系统 </a:t>
            </a:r>
            <a:r>
              <a:rPr lang="en-US" altLang="zh-CN" sz="1800" dirty="0">
                <a:latin typeface="微软雅黑" panose="020B0503020204020204" pitchFamily="34" charset="-122"/>
                <a:ea typeface="微软雅黑" panose="020B0503020204020204" pitchFamily="34" charset="-122"/>
              </a:rPr>
              <a:t>A-2 </a:t>
            </a:r>
            <a:r>
              <a:rPr lang="zh-CN" altLang="en-US" sz="1800" dirty="0">
                <a:latin typeface="微软雅黑" panose="020B0503020204020204" pitchFamily="34" charset="-122"/>
                <a:ea typeface="微软雅黑" panose="020B0503020204020204" pitchFamily="34" charset="-122"/>
              </a:rPr>
              <a:t>模块功能设计说明书，旨在</a:t>
            </a:r>
            <a:r>
              <a:rPr lang="zh-CN" altLang="en-US" sz="1800" dirty="0">
                <a:solidFill>
                  <a:srgbClr val="FF0000"/>
                </a:solidFill>
                <a:latin typeface="微软雅黑" panose="020B0503020204020204" pitchFamily="34" charset="-122"/>
                <a:ea typeface="微软雅黑" panose="020B0503020204020204" pitchFamily="34" charset="-122"/>
              </a:rPr>
              <a:t>明确该模块的总体功能要求</a:t>
            </a:r>
            <a:r>
              <a:rPr lang="zh-CN" altLang="en-US" sz="1800" dirty="0">
                <a:latin typeface="微软雅黑" panose="020B0503020204020204" pitchFamily="34" charset="-122"/>
                <a:ea typeface="微软雅黑" panose="020B0503020204020204" pitchFamily="34" charset="-122"/>
              </a:rPr>
              <a:t>，为用户与软件开发人员建立相互理解的基础；同时阐述</a:t>
            </a:r>
            <a:r>
              <a:rPr lang="zh-CN" altLang="en-US" sz="1800" dirty="0">
                <a:solidFill>
                  <a:srgbClr val="FF0000"/>
                </a:solidFill>
                <a:latin typeface="微软雅黑" panose="020B0503020204020204" pitchFamily="34" charset="-122"/>
                <a:ea typeface="微软雅黑" panose="020B0503020204020204" pitchFamily="34" charset="-122"/>
              </a:rPr>
              <a:t>性能要求、初步设计方案及相关用户影响信息</a:t>
            </a:r>
            <a:r>
              <a:rPr lang="zh-CN" altLang="en-US" sz="1800" dirty="0">
                <a:latin typeface="微软雅黑" panose="020B0503020204020204" pitchFamily="34" charset="-122"/>
                <a:ea typeface="微软雅黑" panose="020B0503020204020204" pitchFamily="34" charset="-122"/>
              </a:rPr>
              <a:t>，为软件开发人员开展软件结构设计与编码工作提供依据，并作为软件整体测试的参考标准。</a:t>
            </a:r>
          </a:p>
        </p:txBody>
      </p:sp>
      <p:sp>
        <p:nvSpPr>
          <p:cNvPr id="2" name="矩形 25">
            <a:extLst>
              <a:ext uri="{FF2B5EF4-FFF2-40B4-BE49-F238E27FC236}">
                <a16:creationId xmlns:a16="http://schemas.microsoft.com/office/drawing/2014/main" id="{75B94AF9-1E0B-E7DC-E408-036AED41737C}"/>
              </a:ext>
            </a:extLst>
          </p:cNvPr>
          <p:cNvSpPr/>
          <p:nvPr/>
        </p:nvSpPr>
        <p:spPr>
          <a:xfrm>
            <a:off x="806823" y="3506482"/>
            <a:ext cx="1701094" cy="612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4">
            <a:extLst>
              <a:ext uri="{FF2B5EF4-FFF2-40B4-BE49-F238E27FC236}">
                <a16:creationId xmlns:a16="http://schemas.microsoft.com/office/drawing/2014/main" id="{92867ACA-E303-0D41-B81B-1C369B073370}"/>
              </a:ext>
            </a:extLst>
          </p:cNvPr>
          <p:cNvSpPr/>
          <p:nvPr/>
        </p:nvSpPr>
        <p:spPr>
          <a:xfrm>
            <a:off x="1052078" y="3612428"/>
            <a:ext cx="1210588" cy="400110"/>
          </a:xfrm>
          <a:prstGeom prst="rect">
            <a:avLst/>
          </a:prstGeom>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文档范围</a:t>
            </a:r>
          </a:p>
        </p:txBody>
      </p:sp>
      <p:sp>
        <p:nvSpPr>
          <p:cNvPr id="4" name="矩形 1">
            <a:extLst>
              <a:ext uri="{FF2B5EF4-FFF2-40B4-BE49-F238E27FC236}">
                <a16:creationId xmlns:a16="http://schemas.microsoft.com/office/drawing/2014/main" id="{B26A4C77-DB7B-949F-3174-440C7F7241B1}"/>
              </a:ext>
            </a:extLst>
          </p:cNvPr>
          <p:cNvSpPr/>
          <p:nvPr/>
        </p:nvSpPr>
        <p:spPr>
          <a:xfrm>
            <a:off x="3184004" y="3294670"/>
            <a:ext cx="8208912" cy="1477328"/>
          </a:xfrm>
          <a:prstGeom prst="rect">
            <a:avLst/>
          </a:prstGeom>
        </p:spPr>
        <p:txBody>
          <a:bodyPr wrap="square">
            <a:spAutoFit/>
          </a:bodyPr>
          <a:lstStyle/>
          <a:p>
            <a:pPr algn="just"/>
            <a:r>
              <a:rPr lang="zh-CN" altLang="zh-CN" sz="1800" dirty="0">
                <a:latin typeface="微软雅黑" panose="020B0503020204020204" pitchFamily="34" charset="-122"/>
                <a:ea typeface="微软雅黑" panose="020B0503020204020204" pitchFamily="34" charset="-122"/>
              </a:rPr>
              <a:t>本文档主要涵盖可视化</a:t>
            </a:r>
            <a:r>
              <a:rPr lang="en-US" altLang="zh-CN" sz="1800" dirty="0">
                <a:latin typeface="微软雅黑" panose="020B0503020204020204" pitchFamily="34" charset="-122"/>
                <a:ea typeface="微软雅黑" panose="020B0503020204020204" pitchFamily="34" charset="-122"/>
              </a:rPr>
              <a:t>ATC</a:t>
            </a:r>
            <a:r>
              <a:rPr lang="zh-CN" altLang="zh-CN" sz="1800" dirty="0">
                <a:latin typeface="微软雅黑" panose="020B0503020204020204" pitchFamily="34" charset="-122"/>
                <a:ea typeface="微软雅黑" panose="020B0503020204020204" pitchFamily="34" charset="-122"/>
              </a:rPr>
              <a:t>地空通话语音标注系统</a:t>
            </a:r>
            <a:r>
              <a:rPr lang="en-US" altLang="zh-CN" sz="1800" dirty="0">
                <a:solidFill>
                  <a:srgbClr val="FF0000"/>
                </a:solidFill>
                <a:latin typeface="微软雅黑" panose="020B0503020204020204" pitchFamily="34" charset="-122"/>
                <a:ea typeface="微软雅黑" panose="020B0503020204020204" pitchFamily="34" charset="-122"/>
              </a:rPr>
              <a:t>A-2</a:t>
            </a:r>
            <a:r>
              <a:rPr lang="zh-CN" altLang="zh-CN" sz="1800" dirty="0">
                <a:solidFill>
                  <a:srgbClr val="FF0000"/>
                </a:solidFill>
                <a:latin typeface="微软雅黑" panose="020B0503020204020204" pitchFamily="34" charset="-122"/>
                <a:ea typeface="微软雅黑" panose="020B0503020204020204" pitchFamily="34" charset="-122"/>
              </a:rPr>
              <a:t>模块功能及功能操作方式</a:t>
            </a:r>
            <a:r>
              <a:rPr lang="zh-CN" altLang="zh-CN" sz="1800" dirty="0">
                <a:latin typeface="微软雅黑" panose="020B0503020204020204" pitchFamily="34" charset="-122"/>
                <a:ea typeface="微软雅黑" panose="020B0503020204020204" pitchFamily="34" charset="-122"/>
              </a:rPr>
              <a:t>的基本描述。它限定在</a:t>
            </a:r>
            <a:r>
              <a:rPr lang="en-US" altLang="zh-CN" sz="1800" dirty="0">
                <a:solidFill>
                  <a:srgbClr val="FF0000"/>
                </a:solidFill>
                <a:latin typeface="微软雅黑" panose="020B0503020204020204" pitchFamily="34" charset="-122"/>
                <a:ea typeface="微软雅黑" panose="020B0503020204020204" pitchFamily="34" charset="-122"/>
              </a:rPr>
              <a:t>A-2</a:t>
            </a:r>
            <a:r>
              <a:rPr lang="zh-CN" altLang="zh-CN" sz="1800" dirty="0">
                <a:solidFill>
                  <a:srgbClr val="FF0000"/>
                </a:solidFill>
                <a:latin typeface="微软雅黑" panose="020B0503020204020204" pitchFamily="34" charset="-122"/>
                <a:ea typeface="微软雅黑" panose="020B0503020204020204" pitchFamily="34" charset="-122"/>
              </a:rPr>
              <a:t>模块内部业务流转和与</a:t>
            </a:r>
            <a:r>
              <a:rPr lang="en-US" altLang="zh-CN" sz="1800" dirty="0">
                <a:solidFill>
                  <a:srgbClr val="FF0000"/>
                </a:solidFill>
                <a:latin typeface="微软雅黑" panose="020B0503020204020204" pitchFamily="34" charset="-122"/>
                <a:ea typeface="微软雅黑" panose="020B0503020204020204" pitchFamily="34" charset="-122"/>
              </a:rPr>
              <a:t>A-3</a:t>
            </a:r>
            <a:r>
              <a:rPr lang="zh-CN" altLang="zh-CN" sz="1800" dirty="0">
                <a:solidFill>
                  <a:srgbClr val="FF0000"/>
                </a:solidFill>
                <a:latin typeface="微软雅黑" panose="020B0503020204020204" pitchFamily="34" charset="-122"/>
                <a:ea typeface="微软雅黑" panose="020B0503020204020204" pitchFamily="34" charset="-122"/>
              </a:rPr>
              <a:t>模块</a:t>
            </a:r>
            <a:r>
              <a:rPr lang="en-US" altLang="zh-CN" sz="1800" dirty="0">
                <a:solidFill>
                  <a:srgbClr val="FF0000"/>
                </a:solidFill>
                <a:latin typeface="微软雅黑" panose="020B0503020204020204" pitchFamily="34" charset="-122"/>
                <a:ea typeface="微软雅黑" panose="020B0503020204020204" pitchFamily="34" charset="-122"/>
              </a:rPr>
              <a:t>A-5</a:t>
            </a:r>
            <a:r>
              <a:rPr lang="zh-CN" altLang="zh-CN" sz="1800" dirty="0">
                <a:solidFill>
                  <a:srgbClr val="FF0000"/>
                </a:solidFill>
                <a:latin typeface="微软雅黑" panose="020B0503020204020204" pitchFamily="34" charset="-122"/>
                <a:ea typeface="微软雅黑" panose="020B0503020204020204" pitchFamily="34" charset="-122"/>
              </a:rPr>
              <a:t>模块的边界交互上</a:t>
            </a:r>
            <a:r>
              <a:rPr lang="zh-CN" altLang="zh-CN" sz="1800" dirty="0">
                <a:latin typeface="微软雅黑" panose="020B0503020204020204" pitchFamily="34" charset="-122"/>
                <a:ea typeface="微软雅黑" panose="020B0503020204020204" pitchFamily="34" charset="-122"/>
              </a:rPr>
              <a:t>。它详细规定了自动录音抓取引擎的底层实现极低内存下的非阻塞音频流控制异步通信机制返回数据解析算法以及入库数据格式。</a:t>
            </a:r>
          </a:p>
          <a:p>
            <a:pPr algn="just"/>
            <a:endParaRPr lang="en-US" altLang="zh-CN" sz="1800" dirty="0">
              <a:latin typeface="微软雅黑" panose="020B0503020204020204" pitchFamily="34" charset="-122"/>
              <a:ea typeface="微软雅黑" panose="020B0503020204020204" pitchFamily="34" charset="-122"/>
            </a:endParaRPr>
          </a:p>
        </p:txBody>
      </p:sp>
      <p:sp>
        <p:nvSpPr>
          <p:cNvPr id="5" name="矩形 25">
            <a:extLst>
              <a:ext uri="{FF2B5EF4-FFF2-40B4-BE49-F238E27FC236}">
                <a16:creationId xmlns:a16="http://schemas.microsoft.com/office/drawing/2014/main" id="{321B4BF8-620A-F923-A200-D6B38073E27C}"/>
              </a:ext>
            </a:extLst>
          </p:cNvPr>
          <p:cNvSpPr/>
          <p:nvPr/>
        </p:nvSpPr>
        <p:spPr>
          <a:xfrm>
            <a:off x="820377" y="5593854"/>
            <a:ext cx="1701094" cy="612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24">
            <a:extLst>
              <a:ext uri="{FF2B5EF4-FFF2-40B4-BE49-F238E27FC236}">
                <a16:creationId xmlns:a16="http://schemas.microsoft.com/office/drawing/2014/main" id="{DA2B8596-FD7E-0F45-DC9A-338B2636712E}"/>
              </a:ext>
            </a:extLst>
          </p:cNvPr>
          <p:cNvSpPr/>
          <p:nvPr/>
        </p:nvSpPr>
        <p:spPr>
          <a:xfrm>
            <a:off x="1065633" y="5699800"/>
            <a:ext cx="1210588" cy="400110"/>
          </a:xfrm>
          <a:prstGeom prst="rect">
            <a:avLst/>
          </a:prstGeom>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读者对象</a:t>
            </a:r>
          </a:p>
        </p:txBody>
      </p:sp>
      <p:sp>
        <p:nvSpPr>
          <p:cNvPr id="8" name="矩形 1">
            <a:extLst>
              <a:ext uri="{FF2B5EF4-FFF2-40B4-BE49-F238E27FC236}">
                <a16:creationId xmlns:a16="http://schemas.microsoft.com/office/drawing/2014/main" id="{B89812B5-E431-D8BF-8A2A-18617E7A5FAD}"/>
              </a:ext>
            </a:extLst>
          </p:cNvPr>
          <p:cNvSpPr/>
          <p:nvPr/>
        </p:nvSpPr>
        <p:spPr>
          <a:xfrm>
            <a:off x="3178081" y="5448482"/>
            <a:ext cx="8208912" cy="923330"/>
          </a:xfrm>
          <a:prstGeom prst="rect">
            <a:avLst/>
          </a:prstGeom>
        </p:spPr>
        <p:txBody>
          <a:bodyPr wrap="square">
            <a:spAutoFit/>
          </a:bodyPr>
          <a:lstStyle/>
          <a:p>
            <a:pPr algn="just"/>
            <a:r>
              <a:rPr lang="zh-CN" altLang="zh-CN" sz="1800" dirty="0">
                <a:latin typeface="微软雅黑" panose="020B0503020204020204" pitchFamily="34" charset="-122"/>
                <a:ea typeface="微软雅黑" panose="020B0503020204020204" pitchFamily="34" charset="-122"/>
              </a:rPr>
              <a:t>本文档的主要读者包括项目开发人员系统架构设计人员项目管理人员测试人员和项目评审人员。</a:t>
            </a:r>
          </a:p>
          <a:p>
            <a:pPr algn="just"/>
            <a:endParaRPr lang="en-US" altLang="zh-CN" sz="18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20041930"/>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EAD23-E8C5-0E8B-1281-707374EB6683}"/>
            </a:ext>
          </a:extLst>
        </p:cNvPr>
        <p:cNvGrpSpPr/>
        <p:nvPr/>
      </p:nvGrpSpPr>
      <p:grpSpPr>
        <a:xfrm>
          <a:off x="0" y="0"/>
          <a:ext cx="0" cy="0"/>
          <a:chOff x="0" y="0"/>
          <a:chExt cx="0" cy="0"/>
        </a:xfrm>
      </p:grpSpPr>
      <p:sp>
        <p:nvSpPr>
          <p:cNvPr id="1048764" name="矩形 24">
            <a:extLst>
              <a:ext uri="{FF2B5EF4-FFF2-40B4-BE49-F238E27FC236}">
                <a16:creationId xmlns:a16="http://schemas.microsoft.com/office/drawing/2014/main" id="{FF7137B9-A34F-C9DC-F519-4A51E9E9F9C9}"/>
              </a:ext>
            </a:extLst>
          </p:cNvPr>
          <p:cNvSpPr/>
          <p:nvPr/>
        </p:nvSpPr>
        <p:spPr>
          <a:xfrm>
            <a:off x="955407" y="1896721"/>
            <a:ext cx="1467069" cy="400110"/>
          </a:xfrm>
          <a:prstGeom prst="rect">
            <a:avLst/>
          </a:prstGeom>
        </p:spPr>
        <p:txBody>
          <a:bodyPr wrap="none">
            <a:sp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rPr>
              <a:t>模块负责人</a:t>
            </a:r>
          </a:p>
        </p:txBody>
      </p:sp>
      <p:sp>
        <p:nvSpPr>
          <p:cNvPr id="1048765" name="TextBox 11">
            <a:extLst>
              <a:ext uri="{FF2B5EF4-FFF2-40B4-BE49-F238E27FC236}">
                <a16:creationId xmlns:a16="http://schemas.microsoft.com/office/drawing/2014/main" id="{B6CDE29B-5051-46EB-08B8-F003382257AA}"/>
              </a:ext>
            </a:extLst>
          </p:cNvPr>
          <p:cNvSpPr txBox="1"/>
          <p:nvPr/>
        </p:nvSpPr>
        <p:spPr>
          <a:xfrm>
            <a:off x="335447" y="152331"/>
            <a:ext cx="8858484" cy="584800"/>
          </a:xfrm>
          <a:prstGeom prst="rect">
            <a:avLst/>
          </a:prstGeom>
          <a:noFill/>
        </p:spPr>
        <p:txBody>
          <a:bodyPr wrap="square" lIns="121944" tIns="60972" rIns="121944" bIns="60972" rtlCol="0">
            <a:spAutoFit/>
          </a:bodyPr>
          <a:lstStyle/>
          <a:p>
            <a:r>
              <a:rPr lang="zh-CN" altLang="en-US" sz="3000" b="1" dirty="0">
                <a:solidFill>
                  <a:schemeClr val="bg1"/>
                </a:solidFill>
                <a:latin typeface="微软雅黑" panose="020B0503020204020204" pitchFamily="34" charset="-122"/>
                <a:ea typeface="微软雅黑" panose="020B0503020204020204" pitchFamily="34" charset="-122"/>
              </a:rPr>
              <a:t>需求回顾</a:t>
            </a:r>
          </a:p>
        </p:txBody>
      </p:sp>
      <p:sp>
        <p:nvSpPr>
          <p:cNvPr id="6" name="矩形 24">
            <a:extLst>
              <a:ext uri="{FF2B5EF4-FFF2-40B4-BE49-F238E27FC236}">
                <a16:creationId xmlns:a16="http://schemas.microsoft.com/office/drawing/2014/main" id="{C1FB98F1-5F9B-4280-EF10-8645D011E279}"/>
              </a:ext>
            </a:extLst>
          </p:cNvPr>
          <p:cNvSpPr/>
          <p:nvPr/>
        </p:nvSpPr>
        <p:spPr>
          <a:xfrm>
            <a:off x="719977" y="4988437"/>
            <a:ext cx="1980029" cy="707886"/>
          </a:xfrm>
          <a:prstGeom prst="rect">
            <a:avLst/>
          </a:prstGeom>
        </p:spPr>
        <p:txBody>
          <a:bodyPr wrap="none">
            <a:spAutoFit/>
          </a:bodyPr>
          <a:lstStyle/>
          <a:p>
            <a:pPr algn="ctr"/>
            <a:r>
              <a:rPr lang="en-US" altLang="zh-CN" sz="2000" dirty="0">
                <a:solidFill>
                  <a:schemeClr val="bg1"/>
                </a:solidFill>
                <a:latin typeface="微软雅黑" panose="020B0503020204020204" pitchFamily="34" charset="-122"/>
                <a:ea typeface="微软雅黑" panose="020B0503020204020204" pitchFamily="34" charset="-122"/>
              </a:rPr>
              <a:t>API</a:t>
            </a:r>
            <a:r>
              <a:rPr lang="zh-CN" altLang="en-US" sz="2000" dirty="0">
                <a:solidFill>
                  <a:schemeClr val="bg1"/>
                </a:solidFill>
                <a:latin typeface="微软雅黑" panose="020B0503020204020204" pitchFamily="34" charset="-122"/>
                <a:ea typeface="微软雅黑" panose="020B0503020204020204" pitchFamily="34" charset="-122"/>
              </a:rPr>
              <a:t>集成与</a:t>
            </a:r>
            <a:endParaRPr lang="en-US" altLang="zh-CN" sz="2000" dirty="0">
              <a:solidFill>
                <a:schemeClr val="bg1"/>
              </a:solidFill>
              <a:latin typeface="微软雅黑" panose="020B0503020204020204" pitchFamily="34" charset="-122"/>
              <a:ea typeface="微软雅黑" panose="020B0503020204020204" pitchFamily="34" charset="-122"/>
            </a:endParaRPr>
          </a:p>
          <a:p>
            <a:pPr algn="ctr"/>
            <a:r>
              <a:rPr lang="zh-CN" altLang="en-US" sz="2000" dirty="0">
                <a:solidFill>
                  <a:schemeClr val="bg1"/>
                </a:solidFill>
                <a:latin typeface="微软雅黑" panose="020B0503020204020204" pitchFamily="34" charset="-122"/>
                <a:ea typeface="微软雅黑" panose="020B0503020204020204" pitchFamily="34" charset="-122"/>
              </a:rPr>
              <a:t>数据处理工程师</a:t>
            </a:r>
          </a:p>
        </p:txBody>
      </p:sp>
      <p:graphicFrame>
        <p:nvGraphicFramePr>
          <p:cNvPr id="7" name="表格 6">
            <a:extLst>
              <a:ext uri="{FF2B5EF4-FFF2-40B4-BE49-F238E27FC236}">
                <a16:creationId xmlns:a16="http://schemas.microsoft.com/office/drawing/2014/main" id="{51220E94-ECC3-1DAB-C81C-1297B262DAD4}"/>
              </a:ext>
            </a:extLst>
          </p:cNvPr>
          <p:cNvGraphicFramePr>
            <a:graphicFrameLocks noGrp="1"/>
          </p:cNvGraphicFramePr>
          <p:nvPr/>
        </p:nvGraphicFramePr>
        <p:xfrm>
          <a:off x="1068522" y="1158379"/>
          <a:ext cx="10058130" cy="5384800"/>
        </p:xfrm>
        <a:graphic>
          <a:graphicData uri="http://schemas.openxmlformats.org/drawingml/2006/table">
            <a:tbl>
              <a:tblPr firstRow="1" bandRow="1">
                <a:tableStyleId>{5C22544A-7EE6-4342-B048-85BDC9FD1C3A}</a:tableStyleId>
              </a:tblPr>
              <a:tblGrid>
                <a:gridCol w="2163275">
                  <a:extLst>
                    <a:ext uri="{9D8B030D-6E8A-4147-A177-3AD203B41FA5}">
                      <a16:colId xmlns:a16="http://schemas.microsoft.com/office/drawing/2014/main" val="4203299727"/>
                    </a:ext>
                  </a:extLst>
                </a:gridCol>
                <a:gridCol w="2589253">
                  <a:extLst>
                    <a:ext uri="{9D8B030D-6E8A-4147-A177-3AD203B41FA5}">
                      <a16:colId xmlns:a16="http://schemas.microsoft.com/office/drawing/2014/main" val="3865704572"/>
                    </a:ext>
                  </a:extLst>
                </a:gridCol>
                <a:gridCol w="2160240">
                  <a:extLst>
                    <a:ext uri="{9D8B030D-6E8A-4147-A177-3AD203B41FA5}">
                      <a16:colId xmlns:a16="http://schemas.microsoft.com/office/drawing/2014/main" val="2301520394"/>
                    </a:ext>
                  </a:extLst>
                </a:gridCol>
                <a:gridCol w="3145362">
                  <a:extLst>
                    <a:ext uri="{9D8B030D-6E8A-4147-A177-3AD203B41FA5}">
                      <a16:colId xmlns:a16="http://schemas.microsoft.com/office/drawing/2014/main" val="1413863630"/>
                    </a:ext>
                  </a:extLst>
                </a:gridCol>
              </a:tblGrid>
              <a:tr h="279565">
                <a:tc>
                  <a:txBody>
                    <a:bodyPr/>
                    <a:lstStyle/>
                    <a:p>
                      <a:pPr algn="ctr" rtl="0">
                        <a:buNone/>
                      </a:pPr>
                      <a:r>
                        <a:rPr lang="zh-CN" altLang="en-US" sz="1200" b="1" dirty="0">
                          <a:solidFill>
                            <a:srgbClr val="1F1F1F"/>
                          </a:solidFill>
                          <a:effectLst/>
                          <a:latin typeface="微软雅黑" panose="020B0503020204020204" pitchFamily="34" charset="-122"/>
                          <a:ea typeface="微软雅黑" panose="020B0503020204020204" pitchFamily="34" charset="-122"/>
                        </a:rPr>
                        <a:t>一级需求编号</a:t>
                      </a:r>
                      <a:endParaRPr lang="zh-CN" altLang="en-US" sz="120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zh-CN" altLang="en-US" sz="1200" b="1" dirty="0">
                          <a:solidFill>
                            <a:srgbClr val="1F1F1F"/>
                          </a:solidFill>
                          <a:effectLst/>
                          <a:latin typeface="微软雅黑" panose="020B0503020204020204" pitchFamily="34" charset="-122"/>
                          <a:ea typeface="微软雅黑" panose="020B0503020204020204" pitchFamily="34" charset="-122"/>
                        </a:rPr>
                        <a:t>一级需求名称</a:t>
                      </a:r>
                      <a:endParaRPr lang="zh-CN" altLang="en-US" sz="120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zh-CN" altLang="en-US" sz="1200" dirty="0">
                          <a:solidFill>
                            <a:srgbClr val="1F1F1F"/>
                          </a:solidFill>
                          <a:effectLst/>
                          <a:latin typeface="微软雅黑" panose="020B0503020204020204" pitchFamily="34" charset="-122"/>
                          <a:ea typeface="微软雅黑" panose="020B0503020204020204" pitchFamily="34" charset="-122"/>
                        </a:rPr>
                        <a:t>二级需求编号</a:t>
                      </a:r>
                    </a:p>
                  </a:txBody>
                  <a:tcPr marR="76200" marT="101600" marB="101600" anchor="ctr">
                    <a:solidFill>
                      <a:schemeClr val="accent2"/>
                    </a:solidFill>
                  </a:tcPr>
                </a:tc>
                <a:tc>
                  <a:txBody>
                    <a:bodyPr/>
                    <a:lstStyle/>
                    <a:p>
                      <a:pPr algn="ctr" rtl="0">
                        <a:buNone/>
                      </a:pPr>
                      <a:r>
                        <a:rPr lang="zh-CN" altLang="en-US" sz="1200" b="1" dirty="0">
                          <a:solidFill>
                            <a:srgbClr val="1F1F1F"/>
                          </a:solidFill>
                          <a:effectLst/>
                          <a:latin typeface="微软雅黑" panose="020B0503020204020204" pitchFamily="34" charset="-122"/>
                          <a:ea typeface="微软雅黑" panose="020B0503020204020204" pitchFamily="34" charset="-122"/>
                        </a:rPr>
                        <a:t>二级需求名称</a:t>
                      </a:r>
                      <a:endParaRPr lang="zh-CN" altLang="en-US" sz="120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rgbClr val="C0504D"/>
                    </a:solidFill>
                  </a:tcPr>
                </a:tc>
                <a:extLst>
                  <a:ext uri="{0D108BD9-81ED-4DB2-BD59-A6C34878D82A}">
                    <a16:rowId xmlns:a16="http://schemas.microsoft.com/office/drawing/2014/main" val="2162730170"/>
                  </a:ext>
                </a:extLst>
              </a:tr>
              <a:tr h="279565">
                <a:tc rowSpan="2">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800" b="1" dirty="0">
                          <a:solidFill>
                            <a:srgbClr val="1F1F1F"/>
                          </a:solidFill>
                          <a:effectLst/>
                          <a:latin typeface="Calibri (正文)"/>
                          <a:ea typeface="微软雅黑" panose="020B0503020204020204" pitchFamily="34" charset="-122"/>
                        </a:rPr>
                        <a:t>RQ-A-0-10</a:t>
                      </a:r>
                      <a:endParaRPr lang="zh-CN" altLang="en-US" sz="1800" dirty="0">
                        <a:solidFill>
                          <a:srgbClr val="1F1F1F"/>
                        </a:solidFill>
                        <a:effectLst/>
                        <a:latin typeface="Calibri (正文)"/>
                        <a:ea typeface="微软雅黑" panose="020B0503020204020204" pitchFamily="34" charset="-122"/>
                      </a:endParaRPr>
                    </a:p>
                  </a:txBody>
                  <a:tcPr marR="76200" marT="101600" marB="101600" anchor="ctr">
                    <a:solidFill>
                      <a:schemeClr val="accent2">
                        <a:lumMod val="20000"/>
                        <a:lumOff val="80000"/>
                      </a:schemeClr>
                    </a:solidFill>
                  </a:tcPr>
                </a:tc>
                <a:tc rowSpan="2">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zh-CN" altLang="en-US" sz="1800" b="1" dirty="0">
                          <a:solidFill>
                            <a:srgbClr val="1F1F1F"/>
                          </a:solidFill>
                          <a:effectLst/>
                          <a:latin typeface="微软雅黑" panose="020B0503020204020204" pitchFamily="34" charset="-122"/>
                          <a:ea typeface="微软雅黑" panose="020B0503020204020204" pitchFamily="34" charset="-122"/>
                        </a:rPr>
                        <a:t>对象要求</a:t>
                      </a:r>
                    </a:p>
                  </a:txBody>
                  <a:tcPr marR="76200" marT="101600" marB="101600" anchor="ctr">
                    <a:solidFill>
                      <a:schemeClr val="accent2">
                        <a:lumMod val="20000"/>
                        <a:lumOff val="80000"/>
                      </a:schemeClr>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400" kern="1200" dirty="0">
                          <a:solidFill>
                            <a:schemeClr val="dk1"/>
                          </a:solidFill>
                          <a:effectLst/>
                          <a:latin typeface="+mn-lt"/>
                          <a:ea typeface="+mn-ea"/>
                          <a:cs typeface="+mn-cs"/>
                        </a:rPr>
                        <a:t>RQ-A-0-10-01</a:t>
                      </a:r>
                      <a:endParaRPr lang="zh-CN" altLang="en-US" sz="14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tc>
                  <a:txBody>
                    <a:bodyPr/>
                    <a:lstStyle/>
                    <a:p>
                      <a:pPr algn="ctr" rtl="0">
                        <a:buNone/>
                      </a:pPr>
                      <a:r>
                        <a:rPr lang="zh-CN" altLang="zh-CN" sz="1200" kern="1200" dirty="0">
                          <a:solidFill>
                            <a:schemeClr val="dk1"/>
                          </a:solidFill>
                          <a:effectLst/>
                          <a:latin typeface="微软雅黑" panose="020B0503020204020204" pitchFamily="34" charset="-122"/>
                          <a:ea typeface="微软雅黑" panose="020B0503020204020204" pitchFamily="34" charset="-122"/>
                          <a:cs typeface="+mn-cs"/>
                        </a:rPr>
                        <a:t>锁定机场坐标与有效频道源</a:t>
                      </a:r>
                      <a:endParaRPr lang="en-US" altLang="zh-CN" sz="12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extLst>
                  <a:ext uri="{0D108BD9-81ED-4DB2-BD59-A6C34878D82A}">
                    <a16:rowId xmlns:a16="http://schemas.microsoft.com/office/drawing/2014/main" val="1588598240"/>
                  </a:ext>
                </a:extLst>
              </a:tr>
              <a:tr h="279565">
                <a:tc vMerge="1">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endParaRPr lang="zh-CN" altLang="en-US" sz="1800" b="1"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tc vMerge="1">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endParaRPr lang="zh-CN" altLang="en-US" sz="1800" b="1"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400" kern="1200" dirty="0">
                          <a:solidFill>
                            <a:schemeClr val="dk1"/>
                          </a:solidFill>
                          <a:effectLst/>
                          <a:latin typeface="+mn-lt"/>
                          <a:ea typeface="+mn-ea"/>
                          <a:cs typeface="+mn-cs"/>
                        </a:rPr>
                        <a:t>RQ-A-0-10-02</a:t>
                      </a:r>
                      <a:endParaRPr lang="zh-CN" altLang="en-US" sz="14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tc>
                  <a:txBody>
                    <a:bodyPr/>
                    <a:lstStyle/>
                    <a:p>
                      <a:pPr algn="ctr" rtl="0">
                        <a:buNone/>
                      </a:pPr>
                      <a:r>
                        <a:rPr lang="zh-CN" altLang="zh-CN" sz="1200" kern="1200" dirty="0">
                          <a:solidFill>
                            <a:schemeClr val="dk1"/>
                          </a:solidFill>
                          <a:effectLst/>
                          <a:latin typeface="微软雅黑" panose="020B0503020204020204" pitchFamily="34" charset="-122"/>
                          <a:ea typeface="微软雅黑" panose="020B0503020204020204" pitchFamily="34" charset="-122"/>
                          <a:cs typeface="+mn-cs"/>
                        </a:rPr>
                        <a:t>越界冗余数据过滤与标记</a:t>
                      </a:r>
                      <a:endParaRPr lang="en-US" altLang="zh-CN" sz="12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extLst>
                  <a:ext uri="{0D108BD9-81ED-4DB2-BD59-A6C34878D82A}">
                    <a16:rowId xmlns:a16="http://schemas.microsoft.com/office/drawing/2014/main" val="4001150682"/>
                  </a:ext>
                </a:extLst>
              </a:tr>
              <a:tr h="279565">
                <a:tc rowSpan="2">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800" b="1" dirty="0">
                          <a:solidFill>
                            <a:srgbClr val="1F1F1F"/>
                          </a:solidFill>
                          <a:effectLst/>
                          <a:latin typeface="Calibri (正文)"/>
                          <a:ea typeface="微软雅黑" panose="020B0503020204020204" pitchFamily="34" charset="-122"/>
                        </a:rPr>
                        <a:t>RQ-A-0-20</a:t>
                      </a:r>
                      <a:endParaRPr lang="zh-CN" altLang="en-US" sz="1800" dirty="0">
                        <a:solidFill>
                          <a:srgbClr val="1F1F1F"/>
                        </a:solidFill>
                        <a:effectLst/>
                        <a:latin typeface="Calibri (正文)"/>
                        <a:ea typeface="微软雅黑" panose="020B0503020204020204" pitchFamily="34" charset="-122"/>
                      </a:endParaRPr>
                    </a:p>
                  </a:txBody>
                  <a:tcPr marR="76200" marT="101600" marB="101600" anchor="ctr">
                    <a:solidFill>
                      <a:schemeClr val="accent2">
                        <a:lumMod val="60000"/>
                        <a:lumOff val="40000"/>
                      </a:schemeClr>
                    </a:solidFill>
                  </a:tcPr>
                </a:tc>
                <a:tc rowSpan="2">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zh-CN" altLang="en-US" sz="1800" b="1" dirty="0">
                          <a:solidFill>
                            <a:srgbClr val="1F1F1F"/>
                          </a:solidFill>
                          <a:effectLst/>
                          <a:latin typeface="微软雅黑" panose="020B0503020204020204" pitchFamily="34" charset="-122"/>
                          <a:ea typeface="微软雅黑" panose="020B0503020204020204" pitchFamily="34" charset="-122"/>
                        </a:rPr>
                        <a:t>开发规范</a:t>
                      </a:r>
                    </a:p>
                  </a:txBody>
                  <a:tcPr marR="76200" marT="101600" marB="101600" anchor="ctr">
                    <a:solidFill>
                      <a:schemeClr val="accent2">
                        <a:lumMod val="60000"/>
                        <a:lumOff val="40000"/>
                      </a:schemeClr>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400" kern="1200" dirty="0">
                          <a:solidFill>
                            <a:schemeClr val="dk1"/>
                          </a:solidFill>
                          <a:effectLst/>
                          <a:latin typeface="+mn-lt"/>
                          <a:ea typeface="+mn-ea"/>
                          <a:cs typeface="+mn-cs"/>
                        </a:rPr>
                        <a:t>RQ-A-0-20-01</a:t>
                      </a:r>
                      <a:endParaRPr lang="zh-CN" altLang="en-US" sz="10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a:txBody>
                    <a:bodyPr/>
                    <a:lstStyle/>
                    <a:p>
                      <a:pPr algn="ctr" rtl="0">
                        <a:buNone/>
                      </a:pPr>
                      <a:r>
                        <a:rPr lang="zh-CN" altLang="zh-CN" sz="1200" kern="1200" dirty="0">
                          <a:solidFill>
                            <a:schemeClr val="dk1"/>
                          </a:solidFill>
                          <a:effectLst/>
                          <a:latin typeface="微软雅黑" panose="020B0503020204020204" pitchFamily="34" charset="-122"/>
                          <a:ea typeface="微软雅黑" panose="020B0503020204020204" pitchFamily="34" charset="-122"/>
                          <a:cs typeface="+mn-cs"/>
                        </a:rPr>
                        <a:t>适配低内存限制的异步框架</a:t>
                      </a:r>
                      <a:endParaRPr lang="en-US" altLang="zh-CN" sz="12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extLst>
                  <a:ext uri="{0D108BD9-81ED-4DB2-BD59-A6C34878D82A}">
                    <a16:rowId xmlns:a16="http://schemas.microsoft.com/office/drawing/2014/main" val="1292045482"/>
                  </a:ext>
                </a:extLst>
              </a:tr>
              <a:tr h="279565">
                <a:tc vMerge="1">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endParaRPr lang="zh-CN" altLang="en-US" sz="1800" b="1"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tc vMerge="1">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endParaRPr lang="zh-CN" altLang="en-US" sz="1800" b="1"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400" kern="1200" dirty="0">
                          <a:solidFill>
                            <a:schemeClr val="dk1"/>
                          </a:solidFill>
                          <a:effectLst/>
                          <a:latin typeface="+mn-lt"/>
                          <a:ea typeface="+mn-ea"/>
                          <a:cs typeface="+mn-cs"/>
                        </a:rPr>
                        <a:t>RQ-A-0-20-02</a:t>
                      </a:r>
                      <a:endParaRPr lang="zh-CN" altLang="en-US" sz="14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a:txBody>
                    <a:bodyPr/>
                    <a:lstStyle/>
                    <a:p>
                      <a:pPr algn="ctr" rtl="0">
                        <a:buNone/>
                      </a:pPr>
                      <a:r>
                        <a:rPr lang="zh-CN" altLang="zh-CN" sz="1200" kern="1200" dirty="0">
                          <a:solidFill>
                            <a:schemeClr val="dk1"/>
                          </a:solidFill>
                          <a:effectLst/>
                          <a:latin typeface="微软雅黑" panose="020B0503020204020204" pitchFamily="34" charset="-122"/>
                          <a:ea typeface="微软雅黑" panose="020B0503020204020204" pitchFamily="34" charset="-122"/>
                          <a:cs typeface="+mn-cs"/>
                        </a:rPr>
                        <a:t>部署脚本与宿主机环境匹配</a:t>
                      </a:r>
                      <a:endParaRPr lang="en-US" altLang="zh-CN" sz="12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extLst>
                  <a:ext uri="{0D108BD9-81ED-4DB2-BD59-A6C34878D82A}">
                    <a16:rowId xmlns:a16="http://schemas.microsoft.com/office/drawing/2014/main" val="2653075033"/>
                  </a:ext>
                </a:extLst>
              </a:tr>
              <a:tr h="279565">
                <a:tc rowSpan="2">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800" b="1" dirty="0"/>
                        <a:t>RQ-A-2-10</a:t>
                      </a:r>
                      <a:endParaRPr lang="zh-CN" altLang="en-US" sz="1800" b="1"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tc rowSpan="2">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zh-CN" altLang="en-US" sz="1800" b="1" dirty="0">
                          <a:solidFill>
                            <a:srgbClr val="1F1F1F"/>
                          </a:solidFill>
                          <a:effectLst/>
                          <a:latin typeface="微软雅黑" panose="020B0503020204020204" pitchFamily="34" charset="-122"/>
                          <a:ea typeface="微软雅黑" panose="020B0503020204020204" pitchFamily="34" charset="-122"/>
                        </a:rPr>
                        <a:t>语音数据接收</a:t>
                      </a:r>
                    </a:p>
                  </a:txBody>
                  <a:tcPr marR="76200" marT="101600" marB="101600" anchor="ctr">
                    <a:solidFill>
                      <a:schemeClr val="accent2">
                        <a:lumMod val="20000"/>
                        <a:lumOff val="80000"/>
                      </a:schemeClr>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400" b="0" dirty="0"/>
                        <a:t>RQ-A-2-10-01</a:t>
                      </a:r>
                      <a:endParaRPr lang="zh-CN" altLang="en-US" sz="14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tc>
                  <a:txBody>
                    <a:bodyPr/>
                    <a:lstStyle/>
                    <a:p>
                      <a:pPr algn="ctr">
                        <a:lnSpc>
                          <a:spcPts val="1500"/>
                        </a:lnSpc>
                        <a:buNone/>
                      </a:pPr>
                      <a:r>
                        <a:rPr lang="zh-CN" sz="1200" kern="100" dirty="0">
                          <a:solidFill>
                            <a:srgbClr val="1F1F1F"/>
                          </a:solidFill>
                          <a:effectLst/>
                          <a:latin typeface="微软雅黑" panose="020B0503020204020204" pitchFamily="34" charset="-122"/>
                          <a:ea typeface="微软雅黑" panose="020B0503020204020204" pitchFamily="34" charset="-122"/>
                          <a:cs typeface="Arial" panose="020B0604020202020204" pitchFamily="34" charset="0"/>
                        </a:rPr>
                        <a:t>建立实时音频流高可用监听</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solidFill>
                      <a:schemeClr val="accent2">
                        <a:lumMod val="20000"/>
                        <a:lumOff val="80000"/>
                      </a:schemeClr>
                    </a:solidFill>
                  </a:tcPr>
                </a:tc>
                <a:extLst>
                  <a:ext uri="{0D108BD9-81ED-4DB2-BD59-A6C34878D82A}">
                    <a16:rowId xmlns:a16="http://schemas.microsoft.com/office/drawing/2014/main" val="1354966573"/>
                  </a:ext>
                </a:extLst>
              </a:tr>
              <a:tr h="0">
                <a:tc vMerge="1">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endParaRPr lang="zh-CN" altLang="en-US" sz="120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vMerge="1">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endParaRPr lang="zh-CN" altLang="en-US" sz="1200" b="1"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400" b="0" dirty="0"/>
                        <a:t>RQ-A-2-10-02</a:t>
                      </a:r>
                      <a:endParaRPr lang="zh-CN" altLang="en-US" sz="14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tc>
                  <a:txBody>
                    <a:bodyPr/>
                    <a:lstStyle/>
                    <a:p>
                      <a:pPr algn="ctr" rtl="0">
                        <a:buNone/>
                      </a:pPr>
                      <a:r>
                        <a:rPr lang="zh-CN" altLang="zh-CN" sz="1200" kern="1200" dirty="0">
                          <a:solidFill>
                            <a:schemeClr val="dk1"/>
                          </a:solidFill>
                          <a:effectLst/>
                          <a:latin typeface="微软雅黑" panose="020B0503020204020204" pitchFamily="34" charset="-122"/>
                          <a:ea typeface="微软雅黑" panose="020B0503020204020204" pitchFamily="34" charset="-122"/>
                          <a:cs typeface="+mn-cs"/>
                        </a:rPr>
                        <a:t>流式截断分块与动态时标推演</a:t>
                      </a:r>
                      <a:endParaRPr lang="en-US" altLang="zh-CN" sz="12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extLst>
                  <a:ext uri="{0D108BD9-81ED-4DB2-BD59-A6C34878D82A}">
                    <a16:rowId xmlns:a16="http://schemas.microsoft.com/office/drawing/2014/main" val="2812169097"/>
                  </a:ext>
                </a:extLst>
              </a:tr>
              <a:tr h="279565">
                <a:tc rowSpan="2">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800" b="1" dirty="0"/>
                        <a:t>RQ-A-2-20</a:t>
                      </a:r>
                      <a:endParaRPr lang="zh-CN" altLang="en-US" sz="1800" b="1"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rowSpan="2">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zh-CN" altLang="en-US" sz="1800" b="1" dirty="0">
                          <a:solidFill>
                            <a:srgbClr val="1F1F1F"/>
                          </a:solidFill>
                          <a:effectLst/>
                          <a:latin typeface="微软雅黑" panose="020B0503020204020204" pitchFamily="34" charset="-122"/>
                          <a:ea typeface="微软雅黑" panose="020B0503020204020204" pitchFamily="34" charset="-122"/>
                        </a:rPr>
                        <a:t>语音数据下载</a:t>
                      </a:r>
                    </a:p>
                  </a:txBody>
                  <a:tcPr marR="76200" marT="101600" marB="101600" anchor="ctr">
                    <a:solidFill>
                      <a:schemeClr val="accent2">
                        <a:lumMod val="60000"/>
                        <a:lumOff val="40000"/>
                      </a:schemeClr>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400" b="0" dirty="0"/>
                        <a:t>RQ-A-2-20-01</a:t>
                      </a:r>
                      <a:endParaRPr lang="zh-CN" altLang="en-US" sz="14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a:txBody>
                    <a:bodyPr/>
                    <a:lstStyle/>
                    <a:p>
                      <a:pPr algn="ctr" rtl="0">
                        <a:buNone/>
                      </a:pPr>
                      <a:r>
                        <a:rPr lang="zh-CN" altLang="zh-CN" sz="1200" kern="1200" dirty="0">
                          <a:solidFill>
                            <a:schemeClr val="dk1"/>
                          </a:solidFill>
                          <a:effectLst/>
                          <a:latin typeface="微软雅黑" panose="020B0503020204020204" pitchFamily="34" charset="-122"/>
                          <a:ea typeface="微软雅黑" panose="020B0503020204020204" pitchFamily="34" charset="-122"/>
                          <a:cs typeface="+mn-cs"/>
                        </a:rPr>
                        <a:t>历史归档音频队列自动化拉取</a:t>
                      </a:r>
                      <a:endParaRPr lang="en-US" altLang="zh-CN" sz="12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extLst>
                  <a:ext uri="{0D108BD9-81ED-4DB2-BD59-A6C34878D82A}">
                    <a16:rowId xmlns:a16="http://schemas.microsoft.com/office/drawing/2014/main" val="1072802135"/>
                  </a:ext>
                </a:extLst>
              </a:tr>
              <a:tr h="0">
                <a:tc vMerge="1">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endParaRPr lang="zh-CN" altLang="en-US" sz="120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vMerge="1">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endParaRPr lang="zh-CN" altLang="en-US" sz="1200" b="1"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400" b="0" dirty="0"/>
                        <a:t>RQ-A-2-20-02</a:t>
                      </a:r>
                      <a:endParaRPr lang="zh-CN" altLang="en-US" sz="14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a:txBody>
                    <a:bodyPr/>
                    <a:lstStyle/>
                    <a:p>
                      <a:pPr algn="ctr" rtl="0">
                        <a:buNone/>
                      </a:pPr>
                      <a:r>
                        <a:rPr lang="zh-CN" altLang="zh-CN" sz="1200" kern="1200" dirty="0">
                          <a:solidFill>
                            <a:schemeClr val="dk1"/>
                          </a:solidFill>
                          <a:effectLst/>
                          <a:latin typeface="微软雅黑" panose="020B0503020204020204" pitchFamily="34" charset="-122"/>
                          <a:ea typeface="微软雅黑" panose="020B0503020204020204" pitchFamily="34" charset="-122"/>
                          <a:cs typeface="+mn-cs"/>
                        </a:rPr>
                        <a:t>命名规则解析与绝对时间对齐</a:t>
                      </a:r>
                      <a:endParaRPr lang="en-US" altLang="zh-CN" sz="12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extLst>
                  <a:ext uri="{0D108BD9-81ED-4DB2-BD59-A6C34878D82A}">
                    <a16:rowId xmlns:a16="http://schemas.microsoft.com/office/drawing/2014/main" val="4142206459"/>
                  </a:ext>
                </a:extLst>
              </a:tr>
              <a:tr h="279565">
                <a:tc rowSpan="2">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800" b="1" dirty="0"/>
                        <a:t>RQ-A-2-30</a:t>
                      </a:r>
                      <a:endParaRPr lang="zh-CN" altLang="en-US" sz="1800" b="1"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tc rowSpan="2">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zh-CN" altLang="en-US" sz="1800" b="1" dirty="0">
                          <a:solidFill>
                            <a:srgbClr val="1F1F1F"/>
                          </a:solidFill>
                          <a:effectLst/>
                          <a:latin typeface="微软雅黑" panose="020B0503020204020204" pitchFamily="34" charset="-122"/>
                          <a:ea typeface="微软雅黑" panose="020B0503020204020204" pitchFamily="34" charset="-122"/>
                        </a:rPr>
                        <a:t>语音数据存储</a:t>
                      </a:r>
                    </a:p>
                  </a:txBody>
                  <a:tcPr marR="76200" marT="101600" marB="101600" anchor="ctr">
                    <a:solidFill>
                      <a:schemeClr val="accent2">
                        <a:lumMod val="20000"/>
                        <a:lumOff val="80000"/>
                      </a:schemeClr>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400" b="0" dirty="0"/>
                        <a:t>RQ-A-2-30-01</a:t>
                      </a:r>
                      <a:endParaRPr lang="zh-CN" altLang="en-US" sz="14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tc>
                  <a:txBody>
                    <a:bodyPr/>
                    <a:lstStyle/>
                    <a:p>
                      <a:pPr algn="ctr" rtl="0">
                        <a:buNone/>
                      </a:pPr>
                      <a:r>
                        <a:rPr lang="zh-CN" altLang="zh-CN" sz="1200" kern="1200" dirty="0">
                          <a:solidFill>
                            <a:schemeClr val="dk1"/>
                          </a:solidFill>
                          <a:effectLst/>
                          <a:latin typeface="微软雅黑" panose="020B0503020204020204" pitchFamily="34" charset="-122"/>
                          <a:ea typeface="微软雅黑" panose="020B0503020204020204" pitchFamily="34" charset="-122"/>
                          <a:cs typeface="+mn-cs"/>
                        </a:rPr>
                        <a:t>磁盘容量监控与预警熔断控制</a:t>
                      </a:r>
                      <a:endParaRPr lang="en-US" altLang="zh-CN" sz="12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extLst>
                  <a:ext uri="{0D108BD9-81ED-4DB2-BD59-A6C34878D82A}">
                    <a16:rowId xmlns:a16="http://schemas.microsoft.com/office/drawing/2014/main" val="3243260566"/>
                  </a:ext>
                </a:extLst>
              </a:tr>
              <a:tr h="0">
                <a:tc vMerge="1">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endParaRPr lang="en-US" altLang="zh-CN" sz="120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vMerge="1">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endParaRPr lang="zh-CN" altLang="en-US" sz="1200" b="1"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400" b="0" dirty="0"/>
                        <a:t>RQ-A-2-30-02</a:t>
                      </a:r>
                      <a:endParaRPr lang="zh-CN" altLang="en-US" sz="14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tc>
                  <a:txBody>
                    <a:bodyPr/>
                    <a:lstStyle/>
                    <a:p>
                      <a:pPr algn="ctr" rtl="0">
                        <a:buNone/>
                      </a:pPr>
                      <a:r>
                        <a:rPr lang="zh-CN" altLang="zh-CN" sz="1200" kern="1200" dirty="0">
                          <a:solidFill>
                            <a:schemeClr val="dk1"/>
                          </a:solidFill>
                          <a:effectLst/>
                          <a:latin typeface="微软雅黑" panose="020B0503020204020204" pitchFamily="34" charset="-122"/>
                          <a:ea typeface="微软雅黑" panose="020B0503020204020204" pitchFamily="34" charset="-122"/>
                          <a:cs typeface="+mn-cs"/>
                        </a:rPr>
                        <a:t>基于业务状态的滚动淘汰机制</a:t>
                      </a:r>
                      <a:endParaRPr lang="en-US" altLang="zh-CN" sz="12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extLst>
                  <a:ext uri="{0D108BD9-81ED-4DB2-BD59-A6C34878D82A}">
                    <a16:rowId xmlns:a16="http://schemas.microsoft.com/office/drawing/2014/main" val="1137063082"/>
                  </a:ext>
                </a:extLst>
              </a:tr>
              <a:tr h="279565">
                <a:tc rowSpan="2">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800" b="1" dirty="0"/>
                        <a:t>RQ-A-2-40</a:t>
                      </a:r>
                      <a:endParaRPr lang="zh-CN" altLang="en-US" sz="1800" b="1"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rowSpan="2">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zh-CN" altLang="en-US" sz="1800" b="1" dirty="0">
                          <a:solidFill>
                            <a:srgbClr val="1F1F1F"/>
                          </a:solidFill>
                          <a:effectLst/>
                          <a:latin typeface="微软雅黑" panose="020B0503020204020204" pitchFamily="34" charset="-122"/>
                          <a:ea typeface="微软雅黑" panose="020B0503020204020204" pitchFamily="34" charset="-122"/>
                        </a:rPr>
                        <a:t>语音数据接口</a:t>
                      </a:r>
                    </a:p>
                  </a:txBody>
                  <a:tcPr marR="76200" marT="101600" marB="101600" anchor="ctr">
                    <a:solidFill>
                      <a:schemeClr val="accent2">
                        <a:lumMod val="60000"/>
                        <a:lumOff val="40000"/>
                      </a:schemeClr>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400" b="0" dirty="0"/>
                        <a:t>RQ-A-2-40-01</a:t>
                      </a:r>
                      <a:endParaRPr lang="zh-CN" altLang="en-US" sz="14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a:txBody>
                    <a:bodyPr/>
                    <a:lstStyle/>
                    <a:p>
                      <a:pPr algn="ctr" rtl="0">
                        <a:buNone/>
                      </a:pPr>
                      <a:r>
                        <a:rPr lang="zh-CN" altLang="zh-CN" sz="1200" kern="1200" dirty="0">
                          <a:solidFill>
                            <a:schemeClr val="dk1"/>
                          </a:solidFill>
                          <a:effectLst/>
                          <a:latin typeface="微软雅黑" panose="020B0503020204020204" pitchFamily="34" charset="-122"/>
                          <a:ea typeface="微软雅黑" panose="020B0503020204020204" pitchFamily="34" charset="-122"/>
                          <a:cs typeface="+mn-cs"/>
                        </a:rPr>
                        <a:t>请求参数解析与本地时标检索</a:t>
                      </a:r>
                      <a:endParaRPr lang="en-US" altLang="zh-CN" sz="12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extLst>
                  <a:ext uri="{0D108BD9-81ED-4DB2-BD59-A6C34878D82A}">
                    <a16:rowId xmlns:a16="http://schemas.microsoft.com/office/drawing/2014/main" val="3175003931"/>
                  </a:ext>
                </a:extLst>
              </a:tr>
              <a:tr h="279565">
                <a:tc vMerge="1">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endParaRPr lang="en-US" altLang="zh-CN" sz="120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vMerge="1">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endParaRPr lang="zh-CN" altLang="en-US" sz="1200" b="1"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400" b="0" dirty="0"/>
                        <a:t>RQ-A-2-40-02</a:t>
                      </a:r>
                      <a:endParaRPr lang="zh-CN" altLang="en-US" sz="14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a:txBody>
                    <a:bodyPr/>
                    <a:lstStyle/>
                    <a:p>
                      <a:pPr algn="ctr" rtl="0">
                        <a:buNone/>
                      </a:pPr>
                      <a:r>
                        <a:rPr lang="zh-CN" altLang="zh-CN" sz="1200" kern="1200" dirty="0">
                          <a:solidFill>
                            <a:schemeClr val="dk1"/>
                          </a:solidFill>
                          <a:effectLst/>
                          <a:latin typeface="微软雅黑" panose="020B0503020204020204" pitchFamily="34" charset="-122"/>
                          <a:ea typeface="微软雅黑" panose="020B0503020204020204" pitchFamily="34" charset="-122"/>
                          <a:cs typeface="+mn-cs"/>
                        </a:rPr>
                        <a:t>异步文件流分块下发处理</a:t>
                      </a:r>
                      <a:endParaRPr lang="en-US" altLang="zh-CN" sz="12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extLst>
                  <a:ext uri="{0D108BD9-81ED-4DB2-BD59-A6C34878D82A}">
                    <a16:rowId xmlns:a16="http://schemas.microsoft.com/office/drawing/2014/main" val="3531006857"/>
                  </a:ext>
                </a:extLst>
              </a:tr>
            </a:tbl>
          </a:graphicData>
        </a:graphic>
      </p:graphicFrame>
    </p:spTree>
    <p:extLst>
      <p:ext uri="{BB962C8B-B14F-4D97-AF65-F5344CB8AC3E}">
        <p14:creationId xmlns:p14="http://schemas.microsoft.com/office/powerpoint/2010/main" val="2100772500"/>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D8782-227D-CACC-D9AD-2263BB9E2530}"/>
            </a:ext>
          </a:extLst>
        </p:cNvPr>
        <p:cNvGrpSpPr/>
        <p:nvPr/>
      </p:nvGrpSpPr>
      <p:grpSpPr>
        <a:xfrm>
          <a:off x="0" y="0"/>
          <a:ext cx="0" cy="0"/>
          <a:chOff x="0" y="0"/>
          <a:chExt cx="0" cy="0"/>
        </a:xfrm>
      </p:grpSpPr>
      <p:sp>
        <p:nvSpPr>
          <p:cNvPr id="17" name="矩形: 圆角 16">
            <a:extLst>
              <a:ext uri="{FF2B5EF4-FFF2-40B4-BE49-F238E27FC236}">
                <a16:creationId xmlns:a16="http://schemas.microsoft.com/office/drawing/2014/main" id="{20D06431-0570-2581-53C0-F787DA79DF00}"/>
              </a:ext>
            </a:extLst>
          </p:cNvPr>
          <p:cNvSpPr/>
          <p:nvPr/>
        </p:nvSpPr>
        <p:spPr>
          <a:xfrm>
            <a:off x="841003" y="981522"/>
            <a:ext cx="11039476" cy="1440160"/>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a:extLst>
              <a:ext uri="{FF2B5EF4-FFF2-40B4-BE49-F238E27FC236}">
                <a16:creationId xmlns:a16="http://schemas.microsoft.com/office/drawing/2014/main" id="{2B6BDE12-AAC0-95A2-A260-1A5D3DF72643}"/>
              </a:ext>
            </a:extLst>
          </p:cNvPr>
          <p:cNvSpPr/>
          <p:nvPr/>
        </p:nvSpPr>
        <p:spPr>
          <a:xfrm>
            <a:off x="115167" y="3374730"/>
            <a:ext cx="5622380" cy="3359577"/>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5" name="TextBox 11">
            <a:extLst>
              <a:ext uri="{FF2B5EF4-FFF2-40B4-BE49-F238E27FC236}">
                <a16:creationId xmlns:a16="http://schemas.microsoft.com/office/drawing/2014/main" id="{7F49507B-A43D-F79F-F91D-E6CE3B388604}"/>
              </a:ext>
            </a:extLst>
          </p:cNvPr>
          <p:cNvSpPr txBox="1"/>
          <p:nvPr/>
        </p:nvSpPr>
        <p:spPr>
          <a:xfrm>
            <a:off x="335447" y="152331"/>
            <a:ext cx="8858484" cy="584800"/>
          </a:xfrm>
          <a:prstGeom prst="rect">
            <a:avLst/>
          </a:prstGeom>
          <a:noFill/>
        </p:spPr>
        <p:txBody>
          <a:bodyPr wrap="square" lIns="121944" tIns="60972" rIns="121944" bIns="60972" rtlCol="0">
            <a:spAutoFit/>
          </a:bodyPr>
          <a:lstStyle/>
          <a:p>
            <a:r>
              <a:rPr lang="zh-CN" altLang="en-US" sz="3000" b="1" dirty="0">
                <a:solidFill>
                  <a:schemeClr val="bg1"/>
                </a:solidFill>
                <a:latin typeface="微软雅黑" panose="020B0503020204020204" pitchFamily="34" charset="-122"/>
                <a:ea typeface="微软雅黑" panose="020B0503020204020204" pitchFamily="34" charset="-122"/>
              </a:rPr>
              <a:t>界面设计和功能</a:t>
            </a:r>
          </a:p>
        </p:txBody>
      </p:sp>
      <p:sp>
        <p:nvSpPr>
          <p:cNvPr id="4" name="文本框 3">
            <a:extLst>
              <a:ext uri="{FF2B5EF4-FFF2-40B4-BE49-F238E27FC236}">
                <a16:creationId xmlns:a16="http://schemas.microsoft.com/office/drawing/2014/main" id="{80850032-8338-D401-377C-E3772096390B}"/>
              </a:ext>
            </a:extLst>
          </p:cNvPr>
          <p:cNvSpPr txBox="1"/>
          <p:nvPr/>
        </p:nvSpPr>
        <p:spPr bwMode="auto">
          <a:xfrm>
            <a:off x="254899" y="3544289"/>
            <a:ext cx="5410640" cy="3139321"/>
          </a:xfrm>
          <a:prstGeom prst="rect">
            <a:avLst/>
          </a:prstGeom>
          <a:noFill/>
          <a:ln w="9525">
            <a:noFill/>
            <a:prstDash val="lgDash"/>
            <a:miter lim="800000"/>
          </a:ln>
        </p:spPr>
        <p:txBody>
          <a:bodyPr wrap="square">
            <a:spAutoFit/>
          </a:bodyPr>
          <a:lstStyle/>
          <a:p>
            <a:r>
              <a:rPr lang="zh-CN" altLang="zh-CN" sz="1800" dirty="0">
                <a:latin typeface="微软雅黑" panose="020B0503020204020204" pitchFamily="34" charset="-122"/>
                <a:ea typeface="微软雅黑" panose="020B0503020204020204" pitchFamily="34" charset="-122"/>
              </a:rPr>
              <a:t>前台界面主要指代面向</a:t>
            </a:r>
            <a:r>
              <a:rPr lang="en-US" altLang="zh-CN" sz="1800" dirty="0">
                <a:latin typeface="微软雅黑" panose="020B0503020204020204" pitchFamily="34" charset="-122"/>
                <a:ea typeface="微软雅黑" panose="020B0503020204020204" pitchFamily="34" charset="-122"/>
              </a:rPr>
              <a:t>A-4</a:t>
            </a:r>
            <a:r>
              <a:rPr lang="zh-CN" altLang="zh-CN" sz="1800" dirty="0">
                <a:latin typeface="微软雅黑" panose="020B0503020204020204" pitchFamily="34" charset="-122"/>
                <a:ea typeface="微软雅黑" panose="020B0503020204020204" pitchFamily="34" charset="-122"/>
              </a:rPr>
              <a:t>可视化前端标注模块所暴露的</a:t>
            </a:r>
            <a:r>
              <a:rPr lang="zh-CN" altLang="zh-CN" sz="1800" dirty="0">
                <a:solidFill>
                  <a:srgbClr val="FF0000"/>
                </a:solidFill>
                <a:latin typeface="微软雅黑" panose="020B0503020204020204" pitchFamily="34" charset="-122"/>
                <a:ea typeface="微软雅黑" panose="020B0503020204020204" pitchFamily="34" charset="-122"/>
              </a:rPr>
              <a:t>数据访问与调度服务</a:t>
            </a:r>
            <a:r>
              <a:rPr lang="zh-CN" altLang="zh-CN" sz="1800" dirty="0">
                <a:latin typeface="微软雅黑" panose="020B0503020204020204" pitchFamily="34" charset="-122"/>
                <a:ea typeface="微软雅黑" panose="020B0503020204020204" pitchFamily="34" charset="-122"/>
              </a:rPr>
              <a:t>。功能列表说明如下： </a:t>
            </a:r>
          </a:p>
          <a:p>
            <a:pPr marL="285750" lvl="0" indent="-285750">
              <a:buFont typeface="Arial" panose="020B0604020202020204" pitchFamily="34" charset="0"/>
              <a:buChar char="•"/>
            </a:pPr>
            <a:r>
              <a:rPr lang="zh-CN" altLang="zh-CN" sz="1800" dirty="0">
                <a:latin typeface="微软雅黑" panose="020B0503020204020204" pitchFamily="34" charset="-122"/>
                <a:ea typeface="微软雅黑" panose="020B0503020204020204" pitchFamily="34" charset="-122"/>
              </a:rPr>
              <a:t>根据系统统一的</a:t>
            </a:r>
            <a:r>
              <a:rPr lang="en-US" altLang="zh-CN" sz="1800" dirty="0">
                <a:latin typeface="微软雅黑" panose="020B0503020204020204" pitchFamily="34" charset="-122"/>
                <a:ea typeface="微软雅黑" panose="020B0503020204020204" pitchFamily="34" charset="-122"/>
              </a:rPr>
              <a:t>UTC</a:t>
            </a:r>
            <a:r>
              <a:rPr lang="zh-CN" altLang="zh-CN" sz="1800" dirty="0">
                <a:latin typeface="微软雅黑" panose="020B0503020204020204" pitchFamily="34" charset="-122"/>
                <a:ea typeface="微软雅黑" panose="020B0503020204020204" pitchFamily="34" charset="-122"/>
              </a:rPr>
              <a:t>绝对时间跨度参数，检索底层数据库中可用的</a:t>
            </a:r>
            <a:r>
              <a:rPr lang="en-US" altLang="zh-CN" sz="1800" dirty="0">
                <a:latin typeface="微软雅黑" panose="020B0503020204020204" pitchFamily="34" charset="-122"/>
                <a:ea typeface="微软雅黑" panose="020B0503020204020204" pitchFamily="34" charset="-122"/>
              </a:rPr>
              <a:t>ATC</a:t>
            </a:r>
            <a:r>
              <a:rPr lang="zh-CN" altLang="zh-CN" sz="1800" dirty="0">
                <a:latin typeface="微软雅黑" panose="020B0503020204020204" pitchFamily="34" charset="-122"/>
                <a:ea typeface="微软雅黑" panose="020B0503020204020204" pitchFamily="34" charset="-122"/>
              </a:rPr>
              <a:t>音频切片元数据与预处理文本。</a:t>
            </a:r>
          </a:p>
          <a:p>
            <a:pPr marL="285750" lvl="0" indent="-285750">
              <a:buFont typeface="Arial" panose="020B0604020202020204" pitchFamily="34" charset="0"/>
              <a:buChar char="•"/>
            </a:pPr>
            <a:r>
              <a:rPr lang="zh-CN" altLang="zh-CN" sz="1800" dirty="0">
                <a:latin typeface="微软雅黑" panose="020B0503020204020204" pitchFamily="34" charset="-122"/>
                <a:ea typeface="微软雅黑" panose="020B0503020204020204" pitchFamily="34" charset="-122"/>
              </a:rPr>
              <a:t>接收前端由于用户拖动波形图或播放进度条而产生的动态时间偏移量请求，并在后端精准定位至物理媒体文件的特定字节位置。</a:t>
            </a:r>
          </a:p>
          <a:p>
            <a:pPr marL="285750" lvl="0" indent="-285750">
              <a:buFont typeface="Arial" panose="020B0604020202020204" pitchFamily="34" charset="0"/>
              <a:buChar char="•"/>
            </a:pPr>
            <a:r>
              <a:rPr lang="zh-CN" altLang="zh-CN" sz="1800" dirty="0">
                <a:latin typeface="微软雅黑" panose="020B0503020204020204" pitchFamily="34" charset="-122"/>
                <a:ea typeface="微软雅黑" panose="020B0503020204020204" pitchFamily="34" charset="-122"/>
              </a:rPr>
              <a:t>基于</a:t>
            </a:r>
            <a:r>
              <a:rPr lang="en-US" altLang="zh-CN" sz="1800" dirty="0" err="1">
                <a:latin typeface="微软雅黑" panose="020B0503020204020204" pitchFamily="34" charset="-122"/>
                <a:ea typeface="微软雅黑" panose="020B0503020204020204" pitchFamily="34" charset="-122"/>
              </a:rPr>
              <a:t>FastAPI</a:t>
            </a:r>
            <a:r>
              <a:rPr lang="zh-CN" altLang="zh-CN" sz="1800" dirty="0">
                <a:latin typeface="微软雅黑" panose="020B0503020204020204" pitchFamily="34" charset="-122"/>
                <a:ea typeface="微软雅黑" panose="020B0503020204020204" pitchFamily="34" charset="-122"/>
              </a:rPr>
              <a:t>异步框架封装低内存消耗的二进制音频流下发通道，保障前端波形图与时标数据的实时同步加载与可视化渲染。</a:t>
            </a:r>
          </a:p>
        </p:txBody>
      </p:sp>
      <p:sp>
        <p:nvSpPr>
          <p:cNvPr id="14" name="文本框 13">
            <a:extLst>
              <a:ext uri="{FF2B5EF4-FFF2-40B4-BE49-F238E27FC236}">
                <a16:creationId xmlns:a16="http://schemas.microsoft.com/office/drawing/2014/main" id="{05085F1A-FE76-118D-36BA-4000F633EA8A}"/>
              </a:ext>
            </a:extLst>
          </p:cNvPr>
          <p:cNvSpPr txBox="1"/>
          <p:nvPr/>
        </p:nvSpPr>
        <p:spPr bwMode="auto">
          <a:xfrm>
            <a:off x="979434" y="1076509"/>
            <a:ext cx="10775057" cy="1200329"/>
          </a:xfrm>
          <a:prstGeom prst="rect">
            <a:avLst/>
          </a:prstGeom>
          <a:noFill/>
          <a:ln w="9525">
            <a:noFill/>
            <a:prstDash val="lgDash"/>
            <a:miter lim="800000"/>
          </a:ln>
        </p:spPr>
        <p:txBody>
          <a:bodyPr wrap="square">
            <a:spAutoFit/>
          </a:bodyPr>
          <a:lstStyle/>
          <a:p>
            <a:r>
              <a:rPr lang="zh-CN" altLang="zh-CN" sz="1800" dirty="0">
                <a:latin typeface="微软雅黑" panose="020B0503020204020204" pitchFamily="34" charset="-122"/>
                <a:ea typeface="微软雅黑" panose="020B0503020204020204" pitchFamily="34" charset="-122"/>
              </a:rPr>
              <a:t>鉴于</a:t>
            </a:r>
            <a:r>
              <a:rPr lang="en-US" altLang="zh-CN" sz="1800" dirty="0">
                <a:latin typeface="微软雅黑" panose="020B0503020204020204" pitchFamily="34" charset="-122"/>
                <a:ea typeface="微软雅黑" panose="020B0503020204020204" pitchFamily="34" charset="-122"/>
              </a:rPr>
              <a:t>A-2</a:t>
            </a:r>
            <a:r>
              <a:rPr lang="zh-CN" altLang="zh-CN" sz="1800" dirty="0">
                <a:latin typeface="微软雅黑" panose="020B0503020204020204" pitchFamily="34" charset="-122"/>
                <a:ea typeface="微软雅黑" panose="020B0503020204020204" pitchFamily="34" charset="-122"/>
              </a:rPr>
              <a:t>语音处理模块作为系统的后端核心数据处理管道，本模块</a:t>
            </a:r>
            <a:r>
              <a:rPr lang="zh-CN" altLang="zh-CN" sz="1800" dirty="0">
                <a:solidFill>
                  <a:srgbClr val="FF0000"/>
                </a:solidFill>
                <a:latin typeface="微软雅黑" panose="020B0503020204020204" pitchFamily="34" charset="-122"/>
                <a:ea typeface="微软雅黑" panose="020B0503020204020204" pitchFamily="34" charset="-122"/>
              </a:rPr>
              <a:t>不包含直接面向终端用户的图形可视化界面</a:t>
            </a:r>
            <a:r>
              <a:rPr lang="zh-CN" altLang="zh-CN" sz="1800" dirty="0">
                <a:latin typeface="微软雅黑" panose="020B0503020204020204" pitchFamily="34" charset="-122"/>
                <a:ea typeface="微软雅黑" panose="020B0503020204020204" pitchFamily="34" charset="-122"/>
              </a:rPr>
              <a:t> 。为了严格遵循软件工程规范与前后端分离架构，本节将传统需求分析模板中的界面设计要求，映射为</a:t>
            </a:r>
            <a:r>
              <a:rPr lang="zh-CN" altLang="zh-CN" sz="1800" dirty="0">
                <a:solidFill>
                  <a:srgbClr val="FF0000"/>
                </a:solidFill>
                <a:latin typeface="微软雅黑" panose="020B0503020204020204" pitchFamily="34" charset="-122"/>
                <a:ea typeface="微软雅黑" panose="020B0503020204020204" pitchFamily="34" charset="-122"/>
              </a:rPr>
              <a:t>面向内部微服务架构与外部前端系统的</a:t>
            </a:r>
            <a:r>
              <a:rPr lang="en-US" altLang="zh-CN" sz="1800" dirty="0">
                <a:solidFill>
                  <a:srgbClr val="FF0000"/>
                </a:solidFill>
                <a:latin typeface="微软雅黑" panose="020B0503020204020204" pitchFamily="34" charset="-122"/>
                <a:ea typeface="微软雅黑" panose="020B0503020204020204" pitchFamily="34" charset="-122"/>
              </a:rPr>
              <a:t>API</a:t>
            </a:r>
            <a:r>
              <a:rPr lang="zh-CN" altLang="zh-CN" sz="1800" dirty="0">
                <a:solidFill>
                  <a:srgbClr val="FF0000"/>
                </a:solidFill>
                <a:latin typeface="微软雅黑" panose="020B0503020204020204" pitchFamily="34" charset="-122"/>
                <a:ea typeface="微软雅黑" panose="020B0503020204020204" pitchFamily="34" charset="-122"/>
              </a:rPr>
              <a:t>数据交互接口规范</a:t>
            </a:r>
            <a:r>
              <a:rPr lang="zh-CN" altLang="zh-CN" sz="1800" dirty="0">
                <a:latin typeface="微软雅黑" panose="020B0503020204020204" pitchFamily="34" charset="-122"/>
                <a:ea typeface="微软雅黑" panose="020B0503020204020204" pitchFamily="34" charset="-122"/>
              </a:rPr>
              <a:t>，以此作为各项目组之间联调与数据交互的工程契约。</a:t>
            </a:r>
          </a:p>
        </p:txBody>
      </p:sp>
      <p:sp>
        <p:nvSpPr>
          <p:cNvPr id="2" name="矩形 25">
            <a:extLst>
              <a:ext uri="{FF2B5EF4-FFF2-40B4-BE49-F238E27FC236}">
                <a16:creationId xmlns:a16="http://schemas.microsoft.com/office/drawing/2014/main" id="{85507EDE-1ABC-CCAB-D1D9-053AC6074B8A}"/>
              </a:ext>
            </a:extLst>
          </p:cNvPr>
          <p:cNvSpPr/>
          <p:nvPr/>
        </p:nvSpPr>
        <p:spPr>
          <a:xfrm>
            <a:off x="196102" y="980805"/>
            <a:ext cx="471410" cy="14401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4">
            <a:extLst>
              <a:ext uri="{FF2B5EF4-FFF2-40B4-BE49-F238E27FC236}">
                <a16:creationId xmlns:a16="http://schemas.microsoft.com/office/drawing/2014/main" id="{4F166A2E-8180-6C99-4CB1-E1A1C7600C90}"/>
              </a:ext>
            </a:extLst>
          </p:cNvPr>
          <p:cNvSpPr/>
          <p:nvPr/>
        </p:nvSpPr>
        <p:spPr>
          <a:xfrm>
            <a:off x="226366" y="1106837"/>
            <a:ext cx="441146" cy="1323439"/>
          </a:xfrm>
          <a:prstGeom prst="rect">
            <a:avLst/>
          </a:prstGeom>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设</a:t>
            </a:r>
            <a:endParaRPr lang="en-US" altLang="zh-CN" sz="2000" b="1" dirty="0">
              <a:solidFill>
                <a:schemeClr val="bg1"/>
              </a:solidFill>
              <a:latin typeface="微软雅黑" panose="020B0503020204020204" pitchFamily="34" charset="-122"/>
              <a:ea typeface="微软雅黑" panose="020B0503020204020204" pitchFamily="34" charset="-122"/>
            </a:endParaRPr>
          </a:p>
          <a:p>
            <a:pPr algn="ctr"/>
            <a:r>
              <a:rPr lang="zh-CN" altLang="en-US" sz="2000" b="1" dirty="0">
                <a:solidFill>
                  <a:schemeClr val="bg1"/>
                </a:solidFill>
                <a:latin typeface="微软雅黑" panose="020B0503020204020204" pitchFamily="34" charset="-122"/>
                <a:ea typeface="微软雅黑" panose="020B0503020204020204" pitchFamily="34" charset="-122"/>
              </a:rPr>
              <a:t>计</a:t>
            </a:r>
            <a:endParaRPr lang="en-US" altLang="zh-CN" sz="2000" b="1" dirty="0">
              <a:solidFill>
                <a:schemeClr val="bg1"/>
              </a:solidFill>
              <a:latin typeface="微软雅黑" panose="020B0503020204020204" pitchFamily="34" charset="-122"/>
              <a:ea typeface="微软雅黑" panose="020B0503020204020204" pitchFamily="34" charset="-122"/>
            </a:endParaRPr>
          </a:p>
          <a:p>
            <a:pPr algn="ctr"/>
            <a:r>
              <a:rPr lang="zh-CN" altLang="en-US" sz="2000" b="1" dirty="0">
                <a:solidFill>
                  <a:schemeClr val="bg1"/>
                </a:solidFill>
                <a:latin typeface="微软雅黑" panose="020B0503020204020204" pitchFamily="34" charset="-122"/>
                <a:ea typeface="微软雅黑" panose="020B0503020204020204" pitchFamily="34" charset="-122"/>
              </a:rPr>
              <a:t>原</a:t>
            </a:r>
            <a:endParaRPr lang="en-US" altLang="zh-CN" sz="2000" b="1" dirty="0">
              <a:solidFill>
                <a:schemeClr val="bg1"/>
              </a:solidFill>
              <a:latin typeface="微软雅黑" panose="020B0503020204020204" pitchFamily="34" charset="-122"/>
              <a:ea typeface="微软雅黑" panose="020B0503020204020204" pitchFamily="34" charset="-122"/>
            </a:endParaRPr>
          </a:p>
          <a:p>
            <a:pPr algn="ctr"/>
            <a:r>
              <a:rPr lang="zh-CN" altLang="en-US" sz="2000" b="1" dirty="0">
                <a:solidFill>
                  <a:schemeClr val="bg1"/>
                </a:solidFill>
                <a:latin typeface="微软雅黑" panose="020B0503020204020204" pitchFamily="34" charset="-122"/>
                <a:ea typeface="微软雅黑" panose="020B0503020204020204" pitchFamily="34" charset="-122"/>
              </a:rPr>
              <a:t>则</a:t>
            </a:r>
          </a:p>
        </p:txBody>
      </p:sp>
      <p:sp>
        <p:nvSpPr>
          <p:cNvPr id="5" name="矩形 25">
            <a:extLst>
              <a:ext uri="{FF2B5EF4-FFF2-40B4-BE49-F238E27FC236}">
                <a16:creationId xmlns:a16="http://schemas.microsoft.com/office/drawing/2014/main" id="{6E0A2070-BCC3-5180-77D9-34F8B165B1F8}"/>
              </a:ext>
            </a:extLst>
          </p:cNvPr>
          <p:cNvSpPr/>
          <p:nvPr/>
        </p:nvSpPr>
        <p:spPr>
          <a:xfrm>
            <a:off x="236627" y="2664639"/>
            <a:ext cx="1701094" cy="612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24">
            <a:extLst>
              <a:ext uri="{FF2B5EF4-FFF2-40B4-BE49-F238E27FC236}">
                <a16:creationId xmlns:a16="http://schemas.microsoft.com/office/drawing/2014/main" id="{1E312EFC-DE4F-7533-60B3-94D2FFFDCD97}"/>
              </a:ext>
            </a:extLst>
          </p:cNvPr>
          <p:cNvSpPr/>
          <p:nvPr/>
        </p:nvSpPr>
        <p:spPr>
          <a:xfrm>
            <a:off x="481881" y="2770585"/>
            <a:ext cx="1210588" cy="400110"/>
          </a:xfrm>
          <a:prstGeom prst="rect">
            <a:avLst/>
          </a:prstGeom>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前台界面</a:t>
            </a:r>
          </a:p>
        </p:txBody>
      </p:sp>
      <p:sp>
        <p:nvSpPr>
          <p:cNvPr id="7" name="矩形: 圆角 6">
            <a:extLst>
              <a:ext uri="{FF2B5EF4-FFF2-40B4-BE49-F238E27FC236}">
                <a16:creationId xmlns:a16="http://schemas.microsoft.com/office/drawing/2014/main" id="{33E78808-F946-ACA9-F0EB-ADAE31319E4C}"/>
              </a:ext>
            </a:extLst>
          </p:cNvPr>
          <p:cNvSpPr/>
          <p:nvPr/>
        </p:nvSpPr>
        <p:spPr>
          <a:xfrm>
            <a:off x="6264159" y="3369284"/>
            <a:ext cx="5622380" cy="3359577"/>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868C3B9C-AF38-AD1E-D610-AB4009600359}"/>
              </a:ext>
            </a:extLst>
          </p:cNvPr>
          <p:cNvSpPr txBox="1"/>
          <p:nvPr/>
        </p:nvSpPr>
        <p:spPr bwMode="auto">
          <a:xfrm>
            <a:off x="6403891" y="3530988"/>
            <a:ext cx="5281090" cy="2862322"/>
          </a:xfrm>
          <a:prstGeom prst="rect">
            <a:avLst/>
          </a:prstGeom>
          <a:noFill/>
          <a:ln w="9525">
            <a:noFill/>
            <a:prstDash val="lgDash"/>
            <a:miter lim="800000"/>
          </a:ln>
        </p:spPr>
        <p:txBody>
          <a:bodyPr wrap="square">
            <a:spAutoFit/>
          </a:bodyPr>
          <a:lstStyle/>
          <a:p>
            <a:r>
              <a:rPr lang="zh-CN" altLang="zh-CN" sz="1800" dirty="0">
                <a:latin typeface="微软雅黑" panose="020B0503020204020204" pitchFamily="34" charset="-122"/>
                <a:ea typeface="微软雅黑" panose="020B0503020204020204" pitchFamily="34" charset="-122"/>
              </a:rPr>
              <a:t>后台界面主要指代面向</a:t>
            </a:r>
            <a:r>
              <a:rPr lang="en-US" altLang="zh-CN" sz="1800" dirty="0">
                <a:latin typeface="微软雅黑" panose="020B0503020204020204" pitchFamily="34" charset="-122"/>
                <a:ea typeface="微软雅黑" panose="020B0503020204020204" pitchFamily="34" charset="-122"/>
              </a:rPr>
              <a:t>A-3</a:t>
            </a:r>
            <a:r>
              <a:rPr lang="zh-CN" altLang="zh-CN" sz="1800" dirty="0">
                <a:latin typeface="微软雅黑" panose="020B0503020204020204" pitchFamily="34" charset="-122"/>
                <a:ea typeface="微软雅黑" panose="020B0503020204020204" pitchFamily="34" charset="-122"/>
              </a:rPr>
              <a:t>预处理微服务以及内部系统守护进程所定义的</a:t>
            </a:r>
            <a:r>
              <a:rPr lang="zh-CN" altLang="zh-CN" sz="1800" dirty="0">
                <a:solidFill>
                  <a:srgbClr val="FF0000"/>
                </a:solidFill>
                <a:latin typeface="微软雅黑" panose="020B0503020204020204" pitchFamily="34" charset="-122"/>
                <a:ea typeface="微软雅黑" panose="020B0503020204020204" pitchFamily="34" charset="-122"/>
              </a:rPr>
              <a:t>内部管理与状态回调规范</a:t>
            </a:r>
            <a:r>
              <a:rPr lang="zh-CN" altLang="zh-CN" sz="1800" dirty="0">
                <a:latin typeface="微软雅黑" panose="020B0503020204020204" pitchFamily="34" charset="-122"/>
                <a:ea typeface="微软雅黑" panose="020B0503020204020204" pitchFamily="34" charset="-122"/>
              </a:rPr>
              <a:t>。 功能列表说明如下：</a:t>
            </a:r>
          </a:p>
          <a:p>
            <a:pPr marL="285750" lvl="0" indent="-285750">
              <a:buFont typeface="Arial" panose="020B0604020202020204" pitchFamily="34" charset="0"/>
              <a:buChar char="•"/>
            </a:pPr>
            <a:r>
              <a:rPr lang="zh-CN" altLang="zh-CN" sz="1800" dirty="0">
                <a:latin typeface="微软雅黑" panose="020B0503020204020204" pitchFamily="34" charset="-122"/>
                <a:ea typeface="微软雅黑" panose="020B0503020204020204" pitchFamily="34" charset="-122"/>
              </a:rPr>
              <a:t>对外暴露供</a:t>
            </a:r>
            <a:r>
              <a:rPr lang="en-US" altLang="zh-CN" sz="1800" dirty="0">
                <a:latin typeface="微软雅黑" panose="020B0503020204020204" pitchFamily="34" charset="-122"/>
                <a:ea typeface="微软雅黑" panose="020B0503020204020204" pitchFamily="34" charset="-122"/>
              </a:rPr>
              <a:t>A-3SenseVoice</a:t>
            </a:r>
            <a:r>
              <a:rPr lang="zh-CN" altLang="zh-CN" sz="1800" dirty="0">
                <a:latin typeface="微软雅黑" panose="020B0503020204020204" pitchFamily="34" charset="-122"/>
                <a:ea typeface="微软雅黑" panose="020B0503020204020204" pitchFamily="34" charset="-122"/>
              </a:rPr>
              <a:t>算法模型在推理完成后调用的异步回调端点，用于接收并解析模型生成的</a:t>
            </a:r>
            <a:r>
              <a:rPr lang="en-US" altLang="zh-CN" sz="1800" dirty="0">
                <a:latin typeface="微软雅黑" panose="020B0503020204020204" pitchFamily="34" charset="-122"/>
                <a:ea typeface="微软雅黑" panose="020B0503020204020204" pitchFamily="34" charset="-122"/>
              </a:rPr>
              <a:t>VAD</a:t>
            </a:r>
            <a:r>
              <a:rPr lang="zh-CN" altLang="zh-CN" sz="1800" dirty="0">
                <a:latin typeface="微软雅黑" panose="020B0503020204020204" pitchFamily="34" charset="-122"/>
                <a:ea typeface="微软雅黑" panose="020B0503020204020204" pitchFamily="34" charset="-122"/>
              </a:rPr>
              <a:t>切分时间戳与</a:t>
            </a:r>
            <a:r>
              <a:rPr lang="en-US" altLang="zh-CN" sz="1800" dirty="0">
                <a:latin typeface="微软雅黑" panose="020B0503020204020204" pitchFamily="34" charset="-122"/>
                <a:ea typeface="微软雅黑" panose="020B0503020204020204" pitchFamily="34" charset="-122"/>
              </a:rPr>
              <a:t>ASR</a:t>
            </a:r>
            <a:r>
              <a:rPr lang="zh-CN" altLang="zh-CN" sz="1800" dirty="0">
                <a:latin typeface="微软雅黑" panose="020B0503020204020204" pitchFamily="34" charset="-122"/>
                <a:ea typeface="微软雅黑" panose="020B0503020204020204" pitchFamily="34" charset="-122"/>
              </a:rPr>
              <a:t>初步识别文本。 </a:t>
            </a:r>
          </a:p>
          <a:p>
            <a:pPr marL="285750" lvl="0" indent="-285750">
              <a:buFont typeface="Arial" panose="020B0604020202020204" pitchFamily="34" charset="0"/>
              <a:buChar char="•"/>
            </a:pPr>
            <a:r>
              <a:rPr lang="zh-CN" altLang="zh-CN" sz="1800" dirty="0">
                <a:latin typeface="微软雅黑" panose="020B0503020204020204" pitchFamily="34" charset="-122"/>
                <a:ea typeface="微软雅黑" panose="020B0503020204020204" pitchFamily="34" charset="-122"/>
              </a:rPr>
              <a:t>响应系统内部定时任务发起的磁盘容量巡检动作，并在触发存储空间安全告警阈值时，自动执行基于</a:t>
            </a:r>
            <a:r>
              <a:rPr lang="en-US" altLang="zh-CN" sz="1800" dirty="0">
                <a:latin typeface="微软雅黑" panose="020B0503020204020204" pitchFamily="34" charset="-122"/>
                <a:ea typeface="微软雅黑" panose="020B0503020204020204" pitchFamily="34" charset="-122"/>
              </a:rPr>
              <a:t>LRU</a:t>
            </a:r>
            <a:r>
              <a:rPr lang="zh-CN" altLang="zh-CN" sz="1800" dirty="0">
                <a:latin typeface="微软雅黑" panose="020B0503020204020204" pitchFamily="34" charset="-122"/>
                <a:ea typeface="微软雅黑" panose="020B0503020204020204" pitchFamily="34" charset="-122"/>
              </a:rPr>
              <a:t>最近最少使用算法的物理音频文件淘汰与冗余缓存清理流程。</a:t>
            </a:r>
          </a:p>
        </p:txBody>
      </p:sp>
      <p:sp>
        <p:nvSpPr>
          <p:cNvPr id="9" name="矩形 25">
            <a:extLst>
              <a:ext uri="{FF2B5EF4-FFF2-40B4-BE49-F238E27FC236}">
                <a16:creationId xmlns:a16="http://schemas.microsoft.com/office/drawing/2014/main" id="{9568E08F-A5D5-93A7-C443-433C9DF3967B}"/>
              </a:ext>
            </a:extLst>
          </p:cNvPr>
          <p:cNvSpPr/>
          <p:nvPr/>
        </p:nvSpPr>
        <p:spPr>
          <a:xfrm>
            <a:off x="6385619" y="2651339"/>
            <a:ext cx="1701094" cy="612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24">
            <a:extLst>
              <a:ext uri="{FF2B5EF4-FFF2-40B4-BE49-F238E27FC236}">
                <a16:creationId xmlns:a16="http://schemas.microsoft.com/office/drawing/2014/main" id="{33EA5073-C9D5-6093-BF5B-01EF5F0F3215}"/>
              </a:ext>
            </a:extLst>
          </p:cNvPr>
          <p:cNvSpPr/>
          <p:nvPr/>
        </p:nvSpPr>
        <p:spPr>
          <a:xfrm>
            <a:off x="6630873" y="2757285"/>
            <a:ext cx="1210588" cy="400110"/>
          </a:xfrm>
          <a:prstGeom prst="rect">
            <a:avLst/>
          </a:prstGeom>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后台界面</a:t>
            </a:r>
          </a:p>
        </p:txBody>
      </p:sp>
    </p:spTree>
    <p:extLst>
      <p:ext uri="{BB962C8B-B14F-4D97-AF65-F5344CB8AC3E}">
        <p14:creationId xmlns:p14="http://schemas.microsoft.com/office/powerpoint/2010/main" val="3876754937"/>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1F1EF-A3B2-B8B2-5DC9-CB5BD4C31C9F}"/>
            </a:ext>
          </a:extLst>
        </p:cNvPr>
        <p:cNvGrpSpPr/>
        <p:nvPr/>
      </p:nvGrpSpPr>
      <p:grpSpPr>
        <a:xfrm>
          <a:off x="0" y="0"/>
          <a:ext cx="0" cy="0"/>
          <a:chOff x="0" y="0"/>
          <a:chExt cx="0" cy="0"/>
        </a:xfrm>
      </p:grpSpPr>
      <p:sp>
        <p:nvSpPr>
          <p:cNvPr id="10" name="矩形: 圆角 9">
            <a:extLst>
              <a:ext uri="{FF2B5EF4-FFF2-40B4-BE49-F238E27FC236}">
                <a16:creationId xmlns:a16="http://schemas.microsoft.com/office/drawing/2014/main" id="{75B929E1-AFCE-AEBE-B8C0-77CE48FE059D}"/>
              </a:ext>
            </a:extLst>
          </p:cNvPr>
          <p:cNvSpPr/>
          <p:nvPr/>
        </p:nvSpPr>
        <p:spPr>
          <a:xfrm>
            <a:off x="335447" y="1661199"/>
            <a:ext cx="3608904" cy="5046058"/>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5" name="TextBox 11">
            <a:extLst>
              <a:ext uri="{FF2B5EF4-FFF2-40B4-BE49-F238E27FC236}">
                <a16:creationId xmlns:a16="http://schemas.microsoft.com/office/drawing/2014/main" id="{54EEC0A3-7A57-9A74-9794-3F9A901D1D39}"/>
              </a:ext>
            </a:extLst>
          </p:cNvPr>
          <p:cNvSpPr txBox="1"/>
          <p:nvPr/>
        </p:nvSpPr>
        <p:spPr>
          <a:xfrm>
            <a:off x="335447" y="152331"/>
            <a:ext cx="8858484" cy="584800"/>
          </a:xfrm>
          <a:prstGeom prst="rect">
            <a:avLst/>
          </a:prstGeom>
          <a:noFill/>
        </p:spPr>
        <p:txBody>
          <a:bodyPr wrap="square" lIns="121944" tIns="60972" rIns="121944" bIns="60972" rtlCol="0">
            <a:spAutoFit/>
          </a:bodyPr>
          <a:lstStyle/>
          <a:p>
            <a:r>
              <a:rPr lang="zh-CN" altLang="en-US" sz="3000" b="1" dirty="0">
                <a:solidFill>
                  <a:schemeClr val="bg1"/>
                </a:solidFill>
                <a:latin typeface="微软雅黑" panose="020B0503020204020204" pitchFamily="34" charset="-122"/>
                <a:ea typeface="微软雅黑" panose="020B0503020204020204" pitchFamily="34" charset="-122"/>
              </a:rPr>
              <a:t>界面关系</a:t>
            </a:r>
            <a:r>
              <a:rPr lang="en-US" altLang="zh-CN" sz="3000" b="1" dirty="0">
                <a:solidFill>
                  <a:schemeClr val="bg1"/>
                </a:solidFill>
                <a:latin typeface="微软雅黑" panose="020B0503020204020204" pitchFamily="34" charset="-122"/>
                <a:ea typeface="微软雅黑" panose="020B0503020204020204" pitchFamily="34" charset="-122"/>
              </a:rPr>
              <a:t>——</a:t>
            </a:r>
            <a:r>
              <a:rPr lang="zh-CN" altLang="en-US" sz="3000" b="1" dirty="0">
                <a:solidFill>
                  <a:schemeClr val="bg1"/>
                </a:solidFill>
                <a:latin typeface="微软雅黑" panose="020B0503020204020204" pitchFamily="34" charset="-122"/>
                <a:ea typeface="微软雅黑" panose="020B0503020204020204" pitchFamily="34" charset="-122"/>
              </a:rPr>
              <a:t>页面</a:t>
            </a:r>
            <a:r>
              <a:rPr lang="en-US" altLang="zh-CN" sz="3000" b="1" dirty="0">
                <a:solidFill>
                  <a:schemeClr val="bg1"/>
                </a:solidFill>
                <a:latin typeface="微软雅黑" panose="020B0503020204020204" pitchFamily="34" charset="-122"/>
                <a:ea typeface="微软雅黑" panose="020B0503020204020204" pitchFamily="34" charset="-122"/>
              </a:rPr>
              <a:t>1</a:t>
            </a:r>
            <a:r>
              <a:rPr lang="zh-CN" altLang="en-US" sz="3000" b="1" dirty="0">
                <a:solidFill>
                  <a:schemeClr val="bg1"/>
                </a:solidFill>
                <a:latin typeface="微软雅黑" panose="020B0503020204020204" pitchFamily="34" charset="-122"/>
                <a:ea typeface="微软雅黑" panose="020B0503020204020204" pitchFamily="34" charset="-122"/>
              </a:rPr>
              <a:t>音频数据流式下发接口</a:t>
            </a:r>
            <a:endParaRPr lang="zh-CN" altLang="zh-CN" b="1" dirty="0"/>
          </a:p>
        </p:txBody>
      </p:sp>
      <p:sp>
        <p:nvSpPr>
          <p:cNvPr id="4" name="文本框 3">
            <a:extLst>
              <a:ext uri="{FF2B5EF4-FFF2-40B4-BE49-F238E27FC236}">
                <a16:creationId xmlns:a16="http://schemas.microsoft.com/office/drawing/2014/main" id="{99B0C9A4-AD98-909B-A9C7-453EEE25ABE1}"/>
              </a:ext>
            </a:extLst>
          </p:cNvPr>
          <p:cNvSpPr txBox="1"/>
          <p:nvPr/>
        </p:nvSpPr>
        <p:spPr bwMode="auto">
          <a:xfrm>
            <a:off x="469611" y="1930056"/>
            <a:ext cx="3539643" cy="4539704"/>
          </a:xfrm>
          <a:prstGeom prst="rect">
            <a:avLst/>
          </a:prstGeom>
          <a:noFill/>
          <a:ln w="9525">
            <a:noFill/>
            <a:prstDash val="lgDash"/>
            <a:miter lim="800000"/>
          </a:ln>
        </p:spPr>
        <p:txBody>
          <a:bodyPr wrap="square">
            <a:spAutoFit/>
          </a:bodyPr>
          <a:lstStyle/>
          <a:p>
            <a:r>
              <a:rPr lang="zh-CN" altLang="zh-CN" sz="1700" dirty="0">
                <a:latin typeface="微软雅黑" panose="020B0503020204020204" pitchFamily="34" charset="-122"/>
                <a:ea typeface="微软雅黑" panose="020B0503020204020204" pitchFamily="34" charset="-122"/>
              </a:rPr>
              <a:t>本接口专供</a:t>
            </a:r>
            <a:r>
              <a:rPr lang="en-US" altLang="zh-CN" sz="1700" dirty="0">
                <a:latin typeface="微软雅黑" panose="020B0503020204020204" pitchFamily="34" charset="-122"/>
                <a:ea typeface="微软雅黑" panose="020B0503020204020204" pitchFamily="34" charset="-122"/>
              </a:rPr>
              <a:t>A-4</a:t>
            </a:r>
            <a:r>
              <a:rPr lang="zh-CN" altLang="zh-CN" sz="1700" dirty="0">
                <a:latin typeface="微软雅黑" panose="020B0503020204020204" pitchFamily="34" charset="-122"/>
                <a:ea typeface="微软雅黑" panose="020B0503020204020204" pitchFamily="34" charset="-122"/>
              </a:rPr>
              <a:t>前端可视化标注界面在加载特定航班通话或用户手动干预播放进度时进行网络调用。前端系统通过请求报文传入标准的协调世界时起止参数，</a:t>
            </a:r>
            <a:r>
              <a:rPr lang="en-US" altLang="zh-CN" sz="1700" dirty="0">
                <a:latin typeface="微软雅黑" panose="020B0503020204020204" pitchFamily="34" charset="-122"/>
                <a:ea typeface="微软雅黑" panose="020B0503020204020204" pitchFamily="34" charset="-122"/>
              </a:rPr>
              <a:t>A-2</a:t>
            </a:r>
            <a:r>
              <a:rPr lang="zh-CN" altLang="zh-CN" sz="1700" dirty="0">
                <a:latin typeface="微软雅黑" panose="020B0503020204020204" pitchFamily="34" charset="-122"/>
                <a:ea typeface="微软雅黑" panose="020B0503020204020204" pitchFamily="34" charset="-122"/>
              </a:rPr>
              <a:t>模块后端的路由网关接收参数后，首先在底层的语音切片映射表中比对绝对时间戳信息，检索命中对应的录音记录后提取相对偏移秒数。随后业务逻辑将偏移量映射至本地服务器的确切物理文件路径，并严格遵循单核</a:t>
            </a:r>
            <a:r>
              <a:rPr lang="en-US" altLang="zh-CN" sz="1700" dirty="0">
                <a:latin typeface="微软雅黑" panose="020B0503020204020204" pitchFamily="34" charset="-122"/>
                <a:ea typeface="微软雅黑" panose="020B0503020204020204" pitchFamily="34" charset="-122"/>
              </a:rPr>
              <a:t>CPU</a:t>
            </a:r>
            <a:r>
              <a:rPr lang="zh-CN" altLang="zh-CN" sz="1700" dirty="0">
                <a:latin typeface="微软雅黑" panose="020B0503020204020204" pitchFamily="34" charset="-122"/>
                <a:ea typeface="微软雅黑" panose="020B0503020204020204" pitchFamily="34" charset="-122"/>
              </a:rPr>
              <a:t>与</a:t>
            </a:r>
            <a:r>
              <a:rPr lang="en-US" altLang="zh-CN" sz="1700" dirty="0">
                <a:latin typeface="微软雅黑" panose="020B0503020204020204" pitchFamily="34" charset="-122"/>
                <a:ea typeface="微软雅黑" panose="020B0503020204020204" pitchFamily="34" charset="-122"/>
              </a:rPr>
              <a:t>512MB</a:t>
            </a:r>
            <a:r>
              <a:rPr lang="zh-CN" altLang="zh-CN" sz="1700" dirty="0">
                <a:latin typeface="微软雅黑" panose="020B0503020204020204" pitchFamily="34" charset="-122"/>
                <a:ea typeface="微软雅黑" panose="020B0503020204020204" pitchFamily="34" charset="-122"/>
              </a:rPr>
              <a:t>极低内存的宿主机运行环境约束。底层逻辑摒弃传统的文件全量加载模式，转而利用异步生成器机制剥离出受控的局部二进制数据块，以流式传输模式持续稳定地响应给前端应用。</a:t>
            </a:r>
          </a:p>
        </p:txBody>
      </p:sp>
      <p:sp>
        <p:nvSpPr>
          <p:cNvPr id="5" name="矩形 25">
            <a:extLst>
              <a:ext uri="{FF2B5EF4-FFF2-40B4-BE49-F238E27FC236}">
                <a16:creationId xmlns:a16="http://schemas.microsoft.com/office/drawing/2014/main" id="{3F94CF32-39F3-8A8B-5422-D3A1D6635E61}"/>
              </a:ext>
            </a:extLst>
          </p:cNvPr>
          <p:cNvSpPr/>
          <p:nvPr/>
        </p:nvSpPr>
        <p:spPr>
          <a:xfrm>
            <a:off x="1384987" y="912115"/>
            <a:ext cx="1701094" cy="612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24">
            <a:extLst>
              <a:ext uri="{FF2B5EF4-FFF2-40B4-BE49-F238E27FC236}">
                <a16:creationId xmlns:a16="http://schemas.microsoft.com/office/drawing/2014/main" id="{A60A2C5D-B9BE-70FC-98ED-34630C0F4201}"/>
              </a:ext>
            </a:extLst>
          </p:cNvPr>
          <p:cNvSpPr/>
          <p:nvPr/>
        </p:nvSpPr>
        <p:spPr>
          <a:xfrm>
            <a:off x="1630243" y="1018061"/>
            <a:ext cx="1210588" cy="400110"/>
          </a:xfrm>
          <a:prstGeom prst="rect">
            <a:avLst/>
          </a:prstGeom>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页面说明</a:t>
            </a:r>
          </a:p>
        </p:txBody>
      </p:sp>
      <p:sp>
        <p:nvSpPr>
          <p:cNvPr id="23" name="矩形: 圆角 22">
            <a:extLst>
              <a:ext uri="{FF2B5EF4-FFF2-40B4-BE49-F238E27FC236}">
                <a16:creationId xmlns:a16="http://schemas.microsoft.com/office/drawing/2014/main" id="{B3947A91-916C-E5B9-00D5-39E776B823DD}"/>
              </a:ext>
            </a:extLst>
          </p:cNvPr>
          <p:cNvSpPr/>
          <p:nvPr/>
        </p:nvSpPr>
        <p:spPr>
          <a:xfrm>
            <a:off x="4304822" y="1669184"/>
            <a:ext cx="3608904" cy="5046058"/>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B711B57F-0A84-6AE9-2800-72B5785BDFA4}"/>
              </a:ext>
            </a:extLst>
          </p:cNvPr>
          <p:cNvSpPr txBox="1"/>
          <p:nvPr/>
        </p:nvSpPr>
        <p:spPr bwMode="auto">
          <a:xfrm>
            <a:off x="4398048" y="1930056"/>
            <a:ext cx="3307680" cy="3970318"/>
          </a:xfrm>
          <a:prstGeom prst="rect">
            <a:avLst/>
          </a:prstGeom>
          <a:noFill/>
          <a:ln w="9525">
            <a:noFill/>
            <a:prstDash val="lgDash"/>
            <a:miter lim="800000"/>
          </a:ln>
        </p:spPr>
        <p:txBody>
          <a:bodyPr wrap="square">
            <a:spAutoFit/>
          </a:bodyPr>
          <a:lstStyle/>
          <a:p>
            <a:r>
              <a:rPr lang="zh-CN" altLang="zh-CN" sz="1800" dirty="0">
                <a:latin typeface="微软雅黑" panose="020B0503020204020204" pitchFamily="34" charset="-122"/>
                <a:ea typeface="微软雅黑" panose="020B0503020204020204" pitchFamily="34" charset="-122"/>
              </a:rPr>
              <a:t>前端标注系统发起附带绝对时间戳参数的网络请求，流转至</a:t>
            </a:r>
            <a:r>
              <a:rPr lang="en-US" altLang="zh-CN" sz="1800" dirty="0">
                <a:latin typeface="微软雅黑" panose="020B0503020204020204" pitchFamily="34" charset="-122"/>
                <a:ea typeface="微软雅黑" panose="020B0503020204020204" pitchFamily="34" charset="-122"/>
              </a:rPr>
              <a:t>A-2</a:t>
            </a:r>
            <a:r>
              <a:rPr lang="zh-CN" altLang="zh-CN" sz="1800" dirty="0">
                <a:latin typeface="微软雅黑" panose="020B0503020204020204" pitchFamily="34" charset="-122"/>
                <a:ea typeface="微软雅黑" panose="020B0503020204020204" pitchFamily="34" charset="-122"/>
              </a:rPr>
              <a:t>模块的数据流接口网关。网关解析时间参数并联表查询底层数据库获取目标文件的物理路径与读取偏移量，传递至底层的异步文件流处理服务。 文件处理服务按固定的安全缓存块大小读取本地媒体资源并转换为二进制流片段，随后更新该文件的最近访问时间字段。最终由网关将处理好的数据块持续推流，响应并呈现至前端音频播放与波形渲染组件。</a:t>
            </a:r>
          </a:p>
        </p:txBody>
      </p:sp>
      <p:sp>
        <p:nvSpPr>
          <p:cNvPr id="25" name="矩形 25">
            <a:extLst>
              <a:ext uri="{FF2B5EF4-FFF2-40B4-BE49-F238E27FC236}">
                <a16:creationId xmlns:a16="http://schemas.microsoft.com/office/drawing/2014/main" id="{96DC7702-2A69-FAC5-2D15-FF3BC83F5947}"/>
              </a:ext>
            </a:extLst>
          </p:cNvPr>
          <p:cNvSpPr/>
          <p:nvPr/>
        </p:nvSpPr>
        <p:spPr>
          <a:xfrm>
            <a:off x="5201341" y="916076"/>
            <a:ext cx="1701094" cy="612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4">
            <a:extLst>
              <a:ext uri="{FF2B5EF4-FFF2-40B4-BE49-F238E27FC236}">
                <a16:creationId xmlns:a16="http://schemas.microsoft.com/office/drawing/2014/main" id="{58552D08-0AE3-B498-FD9E-C46F0E0FEE45}"/>
              </a:ext>
            </a:extLst>
          </p:cNvPr>
          <p:cNvSpPr/>
          <p:nvPr/>
        </p:nvSpPr>
        <p:spPr>
          <a:xfrm>
            <a:off x="5310344" y="1022022"/>
            <a:ext cx="1483098" cy="400110"/>
          </a:xfrm>
          <a:prstGeom prst="rect">
            <a:avLst/>
          </a:prstGeom>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页面迁移图</a:t>
            </a:r>
          </a:p>
        </p:txBody>
      </p:sp>
      <p:sp>
        <p:nvSpPr>
          <p:cNvPr id="27" name="矩形: 圆角 26">
            <a:extLst>
              <a:ext uri="{FF2B5EF4-FFF2-40B4-BE49-F238E27FC236}">
                <a16:creationId xmlns:a16="http://schemas.microsoft.com/office/drawing/2014/main" id="{93C9F3B4-FA0E-145D-66C5-B7A3757102E7}"/>
              </a:ext>
            </a:extLst>
          </p:cNvPr>
          <p:cNvSpPr/>
          <p:nvPr/>
        </p:nvSpPr>
        <p:spPr>
          <a:xfrm>
            <a:off x="8209294" y="1642134"/>
            <a:ext cx="3608904" cy="5046058"/>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7FB129DE-108B-4568-7E1A-70B7AE434777}"/>
              </a:ext>
            </a:extLst>
          </p:cNvPr>
          <p:cNvSpPr txBox="1"/>
          <p:nvPr/>
        </p:nvSpPr>
        <p:spPr bwMode="auto">
          <a:xfrm>
            <a:off x="8278555" y="1930056"/>
            <a:ext cx="3539643" cy="3139321"/>
          </a:xfrm>
          <a:prstGeom prst="rect">
            <a:avLst/>
          </a:prstGeom>
          <a:noFill/>
          <a:ln w="9525">
            <a:noFill/>
            <a:prstDash val="lgDash"/>
            <a:miter lim="800000"/>
          </a:ln>
        </p:spPr>
        <p:txBody>
          <a:bodyPr wrap="square">
            <a:spAutoFit/>
          </a:bodyPr>
          <a:lstStyle/>
          <a:p>
            <a:r>
              <a:rPr lang="zh-CN" altLang="zh-CN" sz="1800" dirty="0">
                <a:latin typeface="微软雅黑" panose="020B0503020204020204" pitchFamily="34" charset="-122"/>
                <a:ea typeface="微软雅黑" panose="020B0503020204020204" pitchFamily="34" charset="-122"/>
              </a:rPr>
              <a:t>由于本模块无图形化要素，此处输出核心接口契约规范以替代截图。请求协议采用</a:t>
            </a:r>
            <a:r>
              <a:rPr lang="en-US" altLang="zh-CN" sz="1800" dirty="0">
                <a:latin typeface="微软雅黑" panose="020B0503020204020204" pitchFamily="34" charset="-122"/>
                <a:ea typeface="微软雅黑" panose="020B0503020204020204" pitchFamily="34" charset="-122"/>
              </a:rPr>
              <a:t>HTTP GET</a:t>
            </a:r>
            <a:r>
              <a:rPr lang="zh-CN" altLang="zh-CN" sz="1800" dirty="0">
                <a:latin typeface="微软雅黑" panose="020B0503020204020204" pitchFamily="34" charset="-122"/>
                <a:ea typeface="微软雅黑" panose="020B0503020204020204" pitchFamily="34" charset="-122"/>
              </a:rPr>
              <a:t>方式。 请求路由地址设定为系统内部约定的音频流转路径。核心请求参数包含前端传入的起始绝对时间与终止绝对时间。正常业务响应状态码为</a:t>
            </a:r>
            <a:r>
              <a:rPr lang="en-US" altLang="zh-CN" sz="1800" dirty="0">
                <a:latin typeface="微软雅黑" panose="020B0503020204020204" pitchFamily="34" charset="-122"/>
                <a:ea typeface="微软雅黑" panose="020B0503020204020204" pitchFamily="34" charset="-122"/>
              </a:rPr>
              <a:t>206</a:t>
            </a:r>
            <a:r>
              <a:rPr lang="zh-CN" altLang="zh-CN" sz="1800" dirty="0">
                <a:latin typeface="微软雅黑" panose="020B0503020204020204" pitchFamily="34" charset="-122"/>
                <a:ea typeface="微软雅黑" panose="020B0503020204020204" pitchFamily="34" charset="-122"/>
              </a:rPr>
              <a:t>代表部分媒体内容下发成功。 响应数据格式约定为标准的二进制音频文件流。</a:t>
            </a:r>
          </a:p>
          <a:p>
            <a:endParaRPr lang="zh-CN" altLang="zh-CN" sz="1800" dirty="0">
              <a:latin typeface="微软雅黑" panose="020B0503020204020204" pitchFamily="34" charset="-122"/>
              <a:ea typeface="微软雅黑" panose="020B0503020204020204" pitchFamily="34" charset="-122"/>
            </a:endParaRPr>
          </a:p>
        </p:txBody>
      </p:sp>
      <p:sp>
        <p:nvSpPr>
          <p:cNvPr id="29" name="矩形 25">
            <a:extLst>
              <a:ext uri="{FF2B5EF4-FFF2-40B4-BE49-F238E27FC236}">
                <a16:creationId xmlns:a16="http://schemas.microsoft.com/office/drawing/2014/main" id="{DF3A88B6-F859-3363-4221-49101D5BF58F}"/>
              </a:ext>
            </a:extLst>
          </p:cNvPr>
          <p:cNvSpPr/>
          <p:nvPr/>
        </p:nvSpPr>
        <p:spPr>
          <a:xfrm>
            <a:off x="9193931" y="912115"/>
            <a:ext cx="1701094" cy="612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4">
            <a:extLst>
              <a:ext uri="{FF2B5EF4-FFF2-40B4-BE49-F238E27FC236}">
                <a16:creationId xmlns:a16="http://schemas.microsoft.com/office/drawing/2014/main" id="{2861266B-B912-942D-7E4F-D2ACBCDFA688}"/>
              </a:ext>
            </a:extLst>
          </p:cNvPr>
          <p:cNvSpPr/>
          <p:nvPr/>
        </p:nvSpPr>
        <p:spPr>
          <a:xfrm>
            <a:off x="9439186" y="1018061"/>
            <a:ext cx="1210588" cy="400110"/>
          </a:xfrm>
          <a:prstGeom prst="rect">
            <a:avLst/>
          </a:prstGeom>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页面截图</a:t>
            </a:r>
          </a:p>
        </p:txBody>
      </p:sp>
    </p:spTree>
    <p:extLst>
      <p:ext uri="{BB962C8B-B14F-4D97-AF65-F5344CB8AC3E}">
        <p14:creationId xmlns:p14="http://schemas.microsoft.com/office/powerpoint/2010/main" val="2027526008"/>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4E903-1CA9-ADED-5197-F9F46F32DC17}"/>
            </a:ext>
          </a:extLst>
        </p:cNvPr>
        <p:cNvGrpSpPr/>
        <p:nvPr/>
      </p:nvGrpSpPr>
      <p:grpSpPr>
        <a:xfrm>
          <a:off x="0" y="0"/>
          <a:ext cx="0" cy="0"/>
          <a:chOff x="0" y="0"/>
          <a:chExt cx="0" cy="0"/>
        </a:xfrm>
      </p:grpSpPr>
      <p:sp>
        <p:nvSpPr>
          <p:cNvPr id="10" name="矩形: 圆角 9">
            <a:extLst>
              <a:ext uri="{FF2B5EF4-FFF2-40B4-BE49-F238E27FC236}">
                <a16:creationId xmlns:a16="http://schemas.microsoft.com/office/drawing/2014/main" id="{B4D5E29C-BE5C-BCE7-40AA-2CCEBB8E95FE}"/>
              </a:ext>
            </a:extLst>
          </p:cNvPr>
          <p:cNvSpPr/>
          <p:nvPr/>
        </p:nvSpPr>
        <p:spPr>
          <a:xfrm>
            <a:off x="335447" y="1661199"/>
            <a:ext cx="3608904" cy="5046058"/>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5" name="TextBox 11">
            <a:extLst>
              <a:ext uri="{FF2B5EF4-FFF2-40B4-BE49-F238E27FC236}">
                <a16:creationId xmlns:a16="http://schemas.microsoft.com/office/drawing/2014/main" id="{3C477459-8C33-ABDF-9F92-C82649B117A7}"/>
              </a:ext>
            </a:extLst>
          </p:cNvPr>
          <p:cNvSpPr txBox="1"/>
          <p:nvPr/>
        </p:nvSpPr>
        <p:spPr>
          <a:xfrm>
            <a:off x="335447" y="152331"/>
            <a:ext cx="8858484" cy="584800"/>
          </a:xfrm>
          <a:prstGeom prst="rect">
            <a:avLst/>
          </a:prstGeom>
          <a:noFill/>
        </p:spPr>
        <p:txBody>
          <a:bodyPr wrap="square" lIns="121944" tIns="60972" rIns="121944" bIns="60972" rtlCol="0">
            <a:spAutoFit/>
          </a:bodyPr>
          <a:lstStyle/>
          <a:p>
            <a:r>
              <a:rPr lang="zh-CN" altLang="en-US" sz="3000" b="1" dirty="0">
                <a:solidFill>
                  <a:schemeClr val="bg1"/>
                </a:solidFill>
                <a:latin typeface="微软雅黑" panose="020B0503020204020204" pitchFamily="34" charset="-122"/>
                <a:ea typeface="微软雅黑" panose="020B0503020204020204" pitchFamily="34" charset="-122"/>
              </a:rPr>
              <a:t>界面关系</a:t>
            </a:r>
            <a:r>
              <a:rPr lang="en-US" altLang="zh-CN" sz="3000" b="1" dirty="0">
                <a:solidFill>
                  <a:schemeClr val="bg1"/>
                </a:solidFill>
                <a:latin typeface="微软雅黑" panose="020B0503020204020204" pitchFamily="34" charset="-122"/>
                <a:ea typeface="微软雅黑" panose="020B0503020204020204" pitchFamily="34" charset="-122"/>
              </a:rPr>
              <a:t>——</a:t>
            </a:r>
            <a:r>
              <a:rPr lang="zh-CN" altLang="en-US" sz="3000" b="1" dirty="0">
                <a:solidFill>
                  <a:schemeClr val="bg1"/>
                </a:solidFill>
                <a:latin typeface="微软雅黑" panose="020B0503020204020204" pitchFamily="34" charset="-122"/>
                <a:ea typeface="微软雅黑" panose="020B0503020204020204" pitchFamily="34" charset="-122"/>
              </a:rPr>
              <a:t>页面</a:t>
            </a:r>
            <a:r>
              <a:rPr lang="en-US" altLang="zh-CN" sz="3000" b="1" dirty="0">
                <a:solidFill>
                  <a:schemeClr val="bg1"/>
                </a:solidFill>
                <a:latin typeface="微软雅黑" panose="020B0503020204020204" pitchFamily="34" charset="-122"/>
                <a:ea typeface="微软雅黑" panose="020B0503020204020204" pitchFamily="34" charset="-122"/>
              </a:rPr>
              <a:t>2</a:t>
            </a:r>
            <a:r>
              <a:rPr lang="zh-CN" altLang="en-US" sz="3000" b="1" dirty="0">
                <a:solidFill>
                  <a:schemeClr val="bg1"/>
                </a:solidFill>
                <a:latin typeface="微软雅黑" panose="020B0503020204020204" pitchFamily="34" charset="-122"/>
                <a:ea typeface="微软雅黑" panose="020B0503020204020204" pitchFamily="34" charset="-122"/>
              </a:rPr>
              <a:t>预处理结果异步回调接口</a:t>
            </a:r>
            <a:endParaRPr lang="zh-CN" altLang="zh-CN" b="1" dirty="0"/>
          </a:p>
        </p:txBody>
      </p:sp>
      <p:sp>
        <p:nvSpPr>
          <p:cNvPr id="4" name="文本框 3">
            <a:extLst>
              <a:ext uri="{FF2B5EF4-FFF2-40B4-BE49-F238E27FC236}">
                <a16:creationId xmlns:a16="http://schemas.microsoft.com/office/drawing/2014/main" id="{1527DD59-6AF8-BF8B-C71B-B3FC2BB6675D}"/>
              </a:ext>
            </a:extLst>
          </p:cNvPr>
          <p:cNvSpPr txBox="1"/>
          <p:nvPr/>
        </p:nvSpPr>
        <p:spPr bwMode="auto">
          <a:xfrm>
            <a:off x="477333" y="1845618"/>
            <a:ext cx="3539643" cy="5078313"/>
          </a:xfrm>
          <a:prstGeom prst="rect">
            <a:avLst/>
          </a:prstGeom>
          <a:noFill/>
          <a:ln w="9525">
            <a:noFill/>
            <a:prstDash val="lgDash"/>
            <a:miter lim="800000"/>
          </a:ln>
        </p:spPr>
        <p:txBody>
          <a:bodyPr wrap="square">
            <a:spAutoFit/>
          </a:bodyPr>
          <a:lstStyle/>
          <a:p>
            <a:r>
              <a:rPr lang="zh-CN" altLang="zh-CN" sz="1800" dirty="0">
                <a:latin typeface="微软雅黑" panose="020B0503020204020204" pitchFamily="34" charset="-122"/>
                <a:ea typeface="微软雅黑" panose="020B0503020204020204" pitchFamily="34" charset="-122"/>
              </a:rPr>
              <a:t>本接口专供</a:t>
            </a:r>
            <a:r>
              <a:rPr lang="en-US" altLang="zh-CN" sz="1800" dirty="0">
                <a:latin typeface="微软雅黑" panose="020B0503020204020204" pitchFamily="34" charset="-122"/>
                <a:ea typeface="微软雅黑" panose="020B0503020204020204" pitchFamily="34" charset="-122"/>
              </a:rPr>
              <a:t>A-3</a:t>
            </a:r>
            <a:r>
              <a:rPr lang="zh-CN" altLang="zh-CN" sz="1800" dirty="0">
                <a:latin typeface="微软雅黑" panose="020B0503020204020204" pitchFamily="34" charset="-122"/>
                <a:ea typeface="微软雅黑" panose="020B0503020204020204" pitchFamily="34" charset="-122"/>
              </a:rPr>
              <a:t>语音预处理微服务在完成大模型推理与矩阵运算后，向</a:t>
            </a:r>
            <a:r>
              <a:rPr lang="en-US" altLang="zh-CN" sz="1800" dirty="0">
                <a:latin typeface="微软雅黑" panose="020B0503020204020204" pitchFamily="34" charset="-122"/>
                <a:ea typeface="微软雅黑" panose="020B0503020204020204" pitchFamily="34" charset="-122"/>
              </a:rPr>
              <a:t>A-2</a:t>
            </a:r>
            <a:r>
              <a:rPr lang="zh-CN" altLang="zh-CN" sz="1800" dirty="0">
                <a:latin typeface="微软雅黑" panose="020B0503020204020204" pitchFamily="34" charset="-122"/>
                <a:ea typeface="微软雅黑" panose="020B0503020204020204" pitchFamily="34" charset="-122"/>
              </a:rPr>
              <a:t>数据管道反向推送结构化分析结果。当</a:t>
            </a:r>
            <a:r>
              <a:rPr lang="en-US" altLang="zh-CN" sz="1800" dirty="0">
                <a:latin typeface="微软雅黑" panose="020B0503020204020204" pitchFamily="34" charset="-122"/>
                <a:ea typeface="微软雅黑" panose="020B0503020204020204" pitchFamily="34" charset="-122"/>
              </a:rPr>
              <a:t>A-2</a:t>
            </a:r>
            <a:r>
              <a:rPr lang="zh-CN" altLang="zh-CN" sz="1800" dirty="0">
                <a:latin typeface="微软雅黑" panose="020B0503020204020204" pitchFamily="34" charset="-122"/>
                <a:ea typeface="微软雅黑" panose="020B0503020204020204" pitchFamily="34" charset="-122"/>
              </a:rPr>
              <a:t>模块完成外部非结构化实况或历史</a:t>
            </a:r>
            <a:r>
              <a:rPr lang="en-US" altLang="zh-CN" sz="1800" dirty="0">
                <a:latin typeface="微软雅黑" panose="020B0503020204020204" pitchFamily="34" charset="-122"/>
                <a:ea typeface="微软雅黑" panose="020B0503020204020204" pitchFamily="34" charset="-122"/>
              </a:rPr>
              <a:t>ATC</a:t>
            </a:r>
            <a:r>
              <a:rPr lang="zh-CN" altLang="zh-CN" sz="1800" dirty="0">
                <a:latin typeface="微软雅黑" panose="020B0503020204020204" pitchFamily="34" charset="-122"/>
                <a:ea typeface="微软雅黑" panose="020B0503020204020204" pitchFamily="34" charset="-122"/>
              </a:rPr>
              <a:t>录音的本地落盘后，会向下游派发任务。</a:t>
            </a:r>
            <a:r>
              <a:rPr lang="en-US" altLang="zh-CN" sz="1800" dirty="0">
                <a:latin typeface="微软雅黑" panose="020B0503020204020204" pitchFamily="34" charset="-122"/>
                <a:ea typeface="微软雅黑" panose="020B0503020204020204" pitchFamily="34" charset="-122"/>
              </a:rPr>
              <a:t>A-3</a:t>
            </a:r>
            <a:r>
              <a:rPr lang="zh-CN" altLang="zh-CN" sz="1800" dirty="0">
                <a:latin typeface="微软雅黑" panose="020B0503020204020204" pitchFamily="34" charset="-122"/>
                <a:ea typeface="微软雅黑" panose="020B0503020204020204" pitchFamily="34" charset="-122"/>
              </a:rPr>
              <a:t>模型运算完毕后，必须通过此回调接口将生成的语音活动检测切分点以及对应的初步语音识别文本回写至系统后端。</a:t>
            </a:r>
            <a:r>
              <a:rPr lang="en-US" altLang="zh-CN" sz="1800" dirty="0">
                <a:latin typeface="微软雅黑" panose="020B0503020204020204" pitchFamily="34" charset="-122"/>
                <a:ea typeface="微软雅黑" panose="020B0503020204020204" pitchFamily="34" charset="-122"/>
              </a:rPr>
              <a:t>A-2</a:t>
            </a:r>
            <a:r>
              <a:rPr lang="zh-CN" altLang="zh-CN" sz="1800" dirty="0">
                <a:latin typeface="微软雅黑" panose="020B0503020204020204" pitchFamily="34" charset="-122"/>
                <a:ea typeface="微软雅黑" panose="020B0503020204020204" pitchFamily="34" charset="-122"/>
              </a:rPr>
              <a:t>模块在接收到包含原始文件关联标识与识别片段数组的序列化</a:t>
            </a:r>
            <a:r>
              <a:rPr lang="en-US" altLang="zh-CN" sz="1800" dirty="0">
                <a:latin typeface="微软雅黑" panose="020B0503020204020204" pitchFamily="34" charset="-122"/>
                <a:ea typeface="微软雅黑" panose="020B0503020204020204" pitchFamily="34" charset="-122"/>
              </a:rPr>
              <a:t>JSON</a:t>
            </a:r>
            <a:r>
              <a:rPr lang="zh-CN" altLang="zh-CN" sz="1800" dirty="0">
                <a:latin typeface="微软雅黑" panose="020B0503020204020204" pitchFamily="34" charset="-122"/>
                <a:ea typeface="微软雅黑" panose="020B0503020204020204" pitchFamily="34" charset="-122"/>
              </a:rPr>
              <a:t>数据后，开启数据库写事务并更新底层切片信息表，从而彻底完成原始非结构化音频到标准化带时标数据的结构化拼装作业。</a:t>
            </a:r>
          </a:p>
          <a:p>
            <a:endParaRPr lang="zh-CN" altLang="zh-CN" sz="1800" dirty="0">
              <a:latin typeface="微软雅黑" panose="020B0503020204020204" pitchFamily="34" charset="-122"/>
              <a:ea typeface="微软雅黑" panose="020B0503020204020204" pitchFamily="34" charset="-122"/>
            </a:endParaRPr>
          </a:p>
        </p:txBody>
      </p:sp>
      <p:sp>
        <p:nvSpPr>
          <p:cNvPr id="5" name="矩形 25">
            <a:extLst>
              <a:ext uri="{FF2B5EF4-FFF2-40B4-BE49-F238E27FC236}">
                <a16:creationId xmlns:a16="http://schemas.microsoft.com/office/drawing/2014/main" id="{8F207140-4273-8839-B060-85250B94C0CE}"/>
              </a:ext>
            </a:extLst>
          </p:cNvPr>
          <p:cNvSpPr/>
          <p:nvPr/>
        </p:nvSpPr>
        <p:spPr>
          <a:xfrm>
            <a:off x="1384987" y="912115"/>
            <a:ext cx="1701094" cy="612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24">
            <a:extLst>
              <a:ext uri="{FF2B5EF4-FFF2-40B4-BE49-F238E27FC236}">
                <a16:creationId xmlns:a16="http://schemas.microsoft.com/office/drawing/2014/main" id="{4F0F9800-C1AE-EEAC-ECC5-ECCF72B0413F}"/>
              </a:ext>
            </a:extLst>
          </p:cNvPr>
          <p:cNvSpPr/>
          <p:nvPr/>
        </p:nvSpPr>
        <p:spPr>
          <a:xfrm>
            <a:off x="1630243" y="1018061"/>
            <a:ext cx="1210588" cy="400110"/>
          </a:xfrm>
          <a:prstGeom prst="rect">
            <a:avLst/>
          </a:prstGeom>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页面说明</a:t>
            </a:r>
          </a:p>
        </p:txBody>
      </p:sp>
      <p:sp>
        <p:nvSpPr>
          <p:cNvPr id="23" name="矩形: 圆角 22">
            <a:extLst>
              <a:ext uri="{FF2B5EF4-FFF2-40B4-BE49-F238E27FC236}">
                <a16:creationId xmlns:a16="http://schemas.microsoft.com/office/drawing/2014/main" id="{8BC1ABD7-8C8D-D352-889A-A4D484C0B2B7}"/>
              </a:ext>
            </a:extLst>
          </p:cNvPr>
          <p:cNvSpPr/>
          <p:nvPr/>
        </p:nvSpPr>
        <p:spPr>
          <a:xfrm>
            <a:off x="4304822" y="1669184"/>
            <a:ext cx="3608904" cy="5046058"/>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177C039D-3666-5B41-9C4A-D023B28838B9}"/>
              </a:ext>
            </a:extLst>
          </p:cNvPr>
          <p:cNvSpPr txBox="1"/>
          <p:nvPr/>
        </p:nvSpPr>
        <p:spPr bwMode="auto">
          <a:xfrm>
            <a:off x="4460795" y="1917626"/>
            <a:ext cx="3307680" cy="3970318"/>
          </a:xfrm>
          <a:prstGeom prst="rect">
            <a:avLst/>
          </a:prstGeom>
          <a:noFill/>
          <a:ln w="9525">
            <a:noFill/>
            <a:prstDash val="lgDash"/>
            <a:miter lim="800000"/>
          </a:ln>
        </p:spPr>
        <p:txBody>
          <a:bodyPr wrap="square">
            <a:spAutoFit/>
          </a:bodyPr>
          <a:lstStyle/>
          <a:p>
            <a:r>
              <a:rPr lang="zh-CN" altLang="zh-CN" sz="1800" dirty="0">
                <a:latin typeface="微软雅黑" panose="020B0503020204020204" pitchFamily="34" charset="-122"/>
                <a:ea typeface="微软雅黑" panose="020B0503020204020204" pitchFamily="34" charset="-122"/>
              </a:rPr>
              <a:t>算法</a:t>
            </a:r>
            <a:r>
              <a:rPr lang="en-US" altLang="zh-CN" sz="1800" dirty="0">
                <a:latin typeface="微软雅黑" panose="020B0503020204020204" pitchFamily="34" charset="-122"/>
                <a:ea typeface="微软雅黑" panose="020B0503020204020204" pitchFamily="34" charset="-122"/>
              </a:rPr>
              <a:t>A-3</a:t>
            </a:r>
            <a:r>
              <a:rPr lang="zh-CN" altLang="zh-CN" sz="1800" dirty="0">
                <a:latin typeface="微软雅黑" panose="020B0503020204020204" pitchFamily="34" charset="-122"/>
                <a:ea typeface="微软雅黑" panose="020B0503020204020204" pitchFamily="34" charset="-122"/>
              </a:rPr>
              <a:t>微服务完成指定</a:t>
            </a:r>
            <a:r>
              <a:rPr lang="en-US" altLang="zh-CN" sz="1800" dirty="0">
                <a:latin typeface="微软雅黑" panose="020B0503020204020204" pitchFamily="34" charset="-122"/>
                <a:ea typeface="微软雅黑" panose="020B0503020204020204" pitchFamily="34" charset="-122"/>
              </a:rPr>
              <a:t>ATC</a:t>
            </a:r>
            <a:r>
              <a:rPr lang="zh-CN" altLang="zh-CN" sz="1800" dirty="0">
                <a:latin typeface="微软雅黑" panose="020B0503020204020204" pitchFamily="34" charset="-122"/>
                <a:ea typeface="微软雅黑" panose="020B0503020204020204" pitchFamily="34" charset="-122"/>
              </a:rPr>
              <a:t>音频的降噪与预处理并生成文本和时标，封装序列化报文后发送至</a:t>
            </a:r>
            <a:r>
              <a:rPr lang="en-US" altLang="zh-CN" sz="1800" dirty="0">
                <a:latin typeface="微软雅黑" panose="020B0503020204020204" pitchFamily="34" charset="-122"/>
                <a:ea typeface="微软雅黑" panose="020B0503020204020204" pitchFamily="34" charset="-122"/>
              </a:rPr>
              <a:t>A-2</a:t>
            </a:r>
            <a:r>
              <a:rPr lang="zh-CN" altLang="zh-CN" sz="1800" dirty="0">
                <a:latin typeface="微软雅黑" panose="020B0503020204020204" pitchFamily="34" charset="-122"/>
                <a:ea typeface="微软雅黑" panose="020B0503020204020204" pitchFamily="34" charset="-122"/>
              </a:rPr>
              <a:t>模块的回调接收网关。网关对传入的数据载荷进行报文解析与参数有效性校验，校验通过后将实体对象传递至数据库持久化服务。持久化服务开启底层数据库事务操作，将切片偏移量与</a:t>
            </a:r>
            <a:r>
              <a:rPr lang="en-US" altLang="zh-CN" sz="1800" dirty="0">
                <a:latin typeface="微软雅黑" panose="020B0503020204020204" pitchFamily="34" charset="-122"/>
                <a:ea typeface="微软雅黑" panose="020B0503020204020204" pitchFamily="34" charset="-122"/>
              </a:rPr>
              <a:t>ASR</a:t>
            </a:r>
            <a:r>
              <a:rPr lang="zh-CN" altLang="zh-CN" sz="1800" dirty="0">
                <a:latin typeface="微软雅黑" panose="020B0503020204020204" pitchFamily="34" charset="-122"/>
                <a:ea typeface="微软雅黑" panose="020B0503020204020204" pitchFamily="34" charset="-122"/>
              </a:rPr>
              <a:t>识别文本批量更新至语音切片表中。落盘成功后系统提交事务，并向</a:t>
            </a:r>
            <a:r>
              <a:rPr lang="en-US" altLang="zh-CN" sz="1800" dirty="0">
                <a:latin typeface="微软雅黑" panose="020B0503020204020204" pitchFamily="34" charset="-122"/>
                <a:ea typeface="微软雅黑" panose="020B0503020204020204" pitchFamily="34" charset="-122"/>
              </a:rPr>
              <a:t>A-3</a:t>
            </a:r>
            <a:r>
              <a:rPr lang="zh-CN" altLang="zh-CN" sz="1800" dirty="0">
                <a:latin typeface="微软雅黑" panose="020B0503020204020204" pitchFamily="34" charset="-122"/>
                <a:ea typeface="微软雅黑" panose="020B0503020204020204" pitchFamily="34" charset="-122"/>
              </a:rPr>
              <a:t>微服务返回资源创建成功的网络响应标识。</a:t>
            </a:r>
          </a:p>
        </p:txBody>
      </p:sp>
      <p:sp>
        <p:nvSpPr>
          <p:cNvPr id="25" name="矩形 25">
            <a:extLst>
              <a:ext uri="{FF2B5EF4-FFF2-40B4-BE49-F238E27FC236}">
                <a16:creationId xmlns:a16="http://schemas.microsoft.com/office/drawing/2014/main" id="{BFFD31E9-7EE8-C602-E623-5385453472D7}"/>
              </a:ext>
            </a:extLst>
          </p:cNvPr>
          <p:cNvSpPr/>
          <p:nvPr/>
        </p:nvSpPr>
        <p:spPr>
          <a:xfrm>
            <a:off x="5201341" y="916076"/>
            <a:ext cx="1701094" cy="612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4">
            <a:extLst>
              <a:ext uri="{FF2B5EF4-FFF2-40B4-BE49-F238E27FC236}">
                <a16:creationId xmlns:a16="http://schemas.microsoft.com/office/drawing/2014/main" id="{60281A1E-0063-9BEF-1A22-5C4B96A70CE8}"/>
              </a:ext>
            </a:extLst>
          </p:cNvPr>
          <p:cNvSpPr/>
          <p:nvPr/>
        </p:nvSpPr>
        <p:spPr>
          <a:xfrm>
            <a:off x="5310344" y="1022022"/>
            <a:ext cx="1483098" cy="400110"/>
          </a:xfrm>
          <a:prstGeom prst="rect">
            <a:avLst/>
          </a:prstGeom>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页面迁移图</a:t>
            </a:r>
          </a:p>
        </p:txBody>
      </p:sp>
      <p:sp>
        <p:nvSpPr>
          <p:cNvPr id="27" name="矩形: 圆角 26">
            <a:extLst>
              <a:ext uri="{FF2B5EF4-FFF2-40B4-BE49-F238E27FC236}">
                <a16:creationId xmlns:a16="http://schemas.microsoft.com/office/drawing/2014/main" id="{D7EE6B6E-5E95-58AC-FFBE-395F509E89CB}"/>
              </a:ext>
            </a:extLst>
          </p:cNvPr>
          <p:cNvSpPr/>
          <p:nvPr/>
        </p:nvSpPr>
        <p:spPr>
          <a:xfrm>
            <a:off x="8209294" y="1642134"/>
            <a:ext cx="3608904" cy="5046058"/>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620B9C71-E020-A488-8F9B-7C9CFB20F413}"/>
              </a:ext>
            </a:extLst>
          </p:cNvPr>
          <p:cNvSpPr txBox="1"/>
          <p:nvPr/>
        </p:nvSpPr>
        <p:spPr bwMode="auto">
          <a:xfrm>
            <a:off x="8286201" y="1918670"/>
            <a:ext cx="3539643" cy="2862322"/>
          </a:xfrm>
          <a:prstGeom prst="rect">
            <a:avLst/>
          </a:prstGeom>
          <a:noFill/>
          <a:ln w="9525">
            <a:noFill/>
            <a:prstDash val="lgDash"/>
            <a:miter lim="800000"/>
          </a:ln>
        </p:spPr>
        <p:txBody>
          <a:bodyPr wrap="square">
            <a:spAutoFit/>
          </a:bodyPr>
          <a:lstStyle/>
          <a:p>
            <a:r>
              <a:rPr lang="zh-CN" altLang="zh-CN" sz="1800" dirty="0">
                <a:latin typeface="微软雅黑" panose="020B0503020204020204" pitchFamily="34" charset="-122"/>
                <a:ea typeface="微软雅黑" panose="020B0503020204020204" pitchFamily="34" charset="-122"/>
              </a:rPr>
              <a:t>请求协议采用</a:t>
            </a:r>
            <a:r>
              <a:rPr lang="en-US" altLang="zh-CN" sz="1800" dirty="0">
                <a:latin typeface="微软雅黑" panose="020B0503020204020204" pitchFamily="34" charset="-122"/>
                <a:ea typeface="微软雅黑" panose="020B0503020204020204" pitchFamily="34" charset="-122"/>
              </a:rPr>
              <a:t>HTTP POST</a:t>
            </a:r>
            <a:r>
              <a:rPr lang="zh-CN" altLang="zh-CN" sz="1800" dirty="0">
                <a:latin typeface="微软雅黑" panose="020B0503020204020204" pitchFamily="34" charset="-122"/>
                <a:ea typeface="微软雅黑" panose="020B0503020204020204" pitchFamily="34" charset="-122"/>
              </a:rPr>
              <a:t>方式。请求路由地址设定为系统内部约定的异步回调路径。请求报文封装类型为应用级</a:t>
            </a:r>
            <a:r>
              <a:rPr lang="en-US" altLang="zh-CN" sz="1800" dirty="0">
                <a:latin typeface="微软雅黑" panose="020B0503020204020204" pitchFamily="34" charset="-122"/>
                <a:ea typeface="微软雅黑" panose="020B0503020204020204" pitchFamily="34" charset="-122"/>
              </a:rPr>
              <a:t>JSON</a:t>
            </a:r>
            <a:r>
              <a:rPr lang="zh-CN" altLang="zh-CN" sz="1800" dirty="0">
                <a:latin typeface="微软雅黑" panose="020B0503020204020204" pitchFamily="34" charset="-122"/>
                <a:ea typeface="微软雅黑" panose="020B0503020204020204" pitchFamily="34" charset="-122"/>
              </a:rPr>
              <a:t>结构化格式。请求体核心载荷必须包含原音频文件唯一标识，以及包含相对起点与相对终点与初步识别文本等关键属性的对象数组。 正常业务响应状态码为</a:t>
            </a:r>
            <a:r>
              <a:rPr lang="en-US" altLang="zh-CN" sz="1800" dirty="0">
                <a:latin typeface="微软雅黑" panose="020B0503020204020204" pitchFamily="34" charset="-122"/>
                <a:ea typeface="微软雅黑" panose="020B0503020204020204" pitchFamily="34" charset="-122"/>
              </a:rPr>
              <a:t>201</a:t>
            </a:r>
            <a:r>
              <a:rPr lang="zh-CN" altLang="zh-CN" sz="1800" dirty="0">
                <a:latin typeface="微软雅黑" panose="020B0503020204020204" pitchFamily="34" charset="-122"/>
                <a:ea typeface="微软雅黑" panose="020B0503020204020204" pitchFamily="34" charset="-122"/>
              </a:rPr>
              <a:t>代表后台资源状态更新与数据拼装成功。</a:t>
            </a:r>
          </a:p>
        </p:txBody>
      </p:sp>
      <p:sp>
        <p:nvSpPr>
          <p:cNvPr id="29" name="矩形 25">
            <a:extLst>
              <a:ext uri="{FF2B5EF4-FFF2-40B4-BE49-F238E27FC236}">
                <a16:creationId xmlns:a16="http://schemas.microsoft.com/office/drawing/2014/main" id="{510D101B-CFF2-D7E1-B482-177BBF188AEE}"/>
              </a:ext>
            </a:extLst>
          </p:cNvPr>
          <p:cNvSpPr/>
          <p:nvPr/>
        </p:nvSpPr>
        <p:spPr>
          <a:xfrm>
            <a:off x="9193931" y="912115"/>
            <a:ext cx="1701094" cy="612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4">
            <a:extLst>
              <a:ext uri="{FF2B5EF4-FFF2-40B4-BE49-F238E27FC236}">
                <a16:creationId xmlns:a16="http://schemas.microsoft.com/office/drawing/2014/main" id="{CD4E34BC-05D5-84D0-91C9-B6B6B956E4DD}"/>
              </a:ext>
            </a:extLst>
          </p:cNvPr>
          <p:cNvSpPr/>
          <p:nvPr/>
        </p:nvSpPr>
        <p:spPr>
          <a:xfrm>
            <a:off x="9439186" y="1018061"/>
            <a:ext cx="1210588" cy="400110"/>
          </a:xfrm>
          <a:prstGeom prst="rect">
            <a:avLst/>
          </a:prstGeom>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页面截图</a:t>
            </a:r>
          </a:p>
        </p:txBody>
      </p:sp>
    </p:spTree>
    <p:extLst>
      <p:ext uri="{BB962C8B-B14F-4D97-AF65-F5344CB8AC3E}">
        <p14:creationId xmlns:p14="http://schemas.microsoft.com/office/powerpoint/2010/main" val="796805290"/>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noChangeArrowheads="1"/>
          </p:cNvPicPr>
          <p:nvPr/>
        </p:nvPicPr>
        <p:blipFill>
          <a:blip r:embed="rId2">
            <a:duotone>
              <a:schemeClr val="accent2">
                <a:shade val="45000"/>
                <a:satMod val="135000"/>
              </a:schemeClr>
              <a:prstClr val="white"/>
            </a:duotone>
            <a:lum contrast="36000"/>
          </a:blip>
          <a:srcRect/>
          <a:stretch>
            <a:fillRect/>
          </a:stretch>
        </p:blipFill>
        <p:spPr bwMode="auto">
          <a:xfrm>
            <a:off x="-20638" y="-28575"/>
            <a:ext cx="12233276" cy="6967538"/>
          </a:xfrm>
          <a:prstGeom prst="rect">
            <a:avLst/>
          </a:prstGeom>
          <a:noFill/>
          <a:ln w="9525">
            <a:noFill/>
            <a:miter lim="800000"/>
            <a:headEnd/>
            <a:tailEnd/>
          </a:ln>
        </p:spPr>
      </p:pic>
      <p:sp>
        <p:nvSpPr>
          <p:cNvPr id="8" name="矩形 7"/>
          <p:cNvSpPr/>
          <p:nvPr/>
        </p:nvSpPr>
        <p:spPr>
          <a:xfrm>
            <a:off x="1811307" y="2006734"/>
            <a:ext cx="8572560" cy="21431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5600" b="1" dirty="0">
                <a:latin typeface="微软雅黑" pitchFamily="34" charset="-122"/>
                <a:ea typeface="微软雅黑" pitchFamily="34" charset="-122"/>
              </a:rPr>
              <a:t>数据库设计</a:t>
            </a:r>
          </a:p>
          <a:p>
            <a:pPr>
              <a:lnSpc>
                <a:spcPct val="150000"/>
              </a:lnSpc>
            </a:pPr>
            <a:endParaRPr lang="en-US" altLang="zh-CN" sz="2800" b="1" dirty="0">
              <a:latin typeface="微软雅黑" pitchFamily="34" charset="-122"/>
              <a:ea typeface="微软雅黑" pitchFamily="34" charset="-122"/>
            </a:endParaRPr>
          </a:p>
        </p:txBody>
      </p:sp>
    </p:spTree>
    <p:extLst>
      <p:ext uri="{BB962C8B-B14F-4D97-AF65-F5344CB8AC3E}">
        <p14:creationId xmlns:p14="http://schemas.microsoft.com/office/powerpoint/2010/main" val="2214209733"/>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F0980-3297-C202-72C8-9CEF74480E51}"/>
            </a:ext>
          </a:extLst>
        </p:cNvPr>
        <p:cNvGrpSpPr/>
        <p:nvPr/>
      </p:nvGrpSpPr>
      <p:grpSpPr>
        <a:xfrm>
          <a:off x="0" y="0"/>
          <a:ext cx="0" cy="0"/>
          <a:chOff x="0" y="0"/>
          <a:chExt cx="0" cy="0"/>
        </a:xfrm>
      </p:grpSpPr>
      <p:sp>
        <p:nvSpPr>
          <p:cNvPr id="14" name="矩形: 圆角 13">
            <a:extLst>
              <a:ext uri="{FF2B5EF4-FFF2-40B4-BE49-F238E27FC236}">
                <a16:creationId xmlns:a16="http://schemas.microsoft.com/office/drawing/2014/main" id="{7DA2A4EB-C864-11C2-4159-174640F10FDA}"/>
              </a:ext>
            </a:extLst>
          </p:cNvPr>
          <p:cNvSpPr/>
          <p:nvPr/>
        </p:nvSpPr>
        <p:spPr>
          <a:xfrm>
            <a:off x="2998061" y="5327067"/>
            <a:ext cx="8568952" cy="1122141"/>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endParaRPr>
          </a:p>
        </p:txBody>
      </p:sp>
      <p:sp>
        <p:nvSpPr>
          <p:cNvPr id="13" name="矩形: 圆角 12">
            <a:extLst>
              <a:ext uri="{FF2B5EF4-FFF2-40B4-BE49-F238E27FC236}">
                <a16:creationId xmlns:a16="http://schemas.microsoft.com/office/drawing/2014/main" id="{7B1128EF-A40E-DBD1-87C1-BA60287FC766}"/>
              </a:ext>
            </a:extLst>
          </p:cNvPr>
          <p:cNvSpPr/>
          <p:nvPr/>
        </p:nvSpPr>
        <p:spPr>
          <a:xfrm>
            <a:off x="3003984" y="3167125"/>
            <a:ext cx="8568952" cy="1477327"/>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endParaRPr>
          </a:p>
        </p:txBody>
      </p:sp>
      <p:sp>
        <p:nvSpPr>
          <p:cNvPr id="12" name="矩形: 圆角 11">
            <a:extLst>
              <a:ext uri="{FF2B5EF4-FFF2-40B4-BE49-F238E27FC236}">
                <a16:creationId xmlns:a16="http://schemas.microsoft.com/office/drawing/2014/main" id="{BC8DA556-2917-8DEA-6944-B3E3013AA751}"/>
              </a:ext>
            </a:extLst>
          </p:cNvPr>
          <p:cNvSpPr/>
          <p:nvPr/>
        </p:nvSpPr>
        <p:spPr>
          <a:xfrm>
            <a:off x="2929235" y="1197546"/>
            <a:ext cx="8568952" cy="1349204"/>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endParaRPr>
          </a:p>
        </p:txBody>
      </p:sp>
      <p:sp>
        <p:nvSpPr>
          <p:cNvPr id="1048762" name="矩形 25">
            <a:extLst>
              <a:ext uri="{FF2B5EF4-FFF2-40B4-BE49-F238E27FC236}">
                <a16:creationId xmlns:a16="http://schemas.microsoft.com/office/drawing/2014/main" id="{DFD580C5-8E2D-B5CC-853F-BC764B050404}"/>
              </a:ext>
            </a:extLst>
          </p:cNvPr>
          <p:cNvSpPr/>
          <p:nvPr/>
        </p:nvSpPr>
        <p:spPr>
          <a:xfrm>
            <a:off x="773557" y="1513633"/>
            <a:ext cx="1701094" cy="612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4" name="矩形 24">
            <a:extLst>
              <a:ext uri="{FF2B5EF4-FFF2-40B4-BE49-F238E27FC236}">
                <a16:creationId xmlns:a16="http://schemas.microsoft.com/office/drawing/2014/main" id="{D26F0EF9-7BC2-CFB3-9A84-73B9BC946A66}"/>
              </a:ext>
            </a:extLst>
          </p:cNvPr>
          <p:cNvSpPr/>
          <p:nvPr/>
        </p:nvSpPr>
        <p:spPr>
          <a:xfrm>
            <a:off x="1018811" y="1619579"/>
            <a:ext cx="1210588" cy="400110"/>
          </a:xfrm>
          <a:prstGeom prst="rect">
            <a:avLst/>
          </a:prstGeom>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文档目的</a:t>
            </a:r>
          </a:p>
        </p:txBody>
      </p:sp>
      <p:sp>
        <p:nvSpPr>
          <p:cNvPr id="1048765" name="TextBox 11">
            <a:extLst>
              <a:ext uri="{FF2B5EF4-FFF2-40B4-BE49-F238E27FC236}">
                <a16:creationId xmlns:a16="http://schemas.microsoft.com/office/drawing/2014/main" id="{175F929C-E2A4-BABF-14DE-AB409D7E32BA}"/>
              </a:ext>
            </a:extLst>
          </p:cNvPr>
          <p:cNvSpPr txBox="1"/>
          <p:nvPr/>
        </p:nvSpPr>
        <p:spPr>
          <a:xfrm>
            <a:off x="335447" y="152331"/>
            <a:ext cx="8858484" cy="584800"/>
          </a:xfrm>
          <a:prstGeom prst="rect">
            <a:avLst/>
          </a:prstGeom>
          <a:noFill/>
        </p:spPr>
        <p:txBody>
          <a:bodyPr wrap="square" lIns="121944" tIns="60972" rIns="121944" bIns="60972" rtlCol="0">
            <a:spAutoFit/>
          </a:bodyPr>
          <a:lstStyle/>
          <a:p>
            <a:r>
              <a:rPr lang="zh-CN" altLang="en-US" sz="3000" b="1" dirty="0">
                <a:solidFill>
                  <a:schemeClr val="bg1"/>
                </a:solidFill>
                <a:latin typeface="微软雅黑" panose="020B0503020204020204" pitchFamily="34" charset="-122"/>
                <a:ea typeface="微软雅黑" panose="020B0503020204020204" pitchFamily="34" charset="-122"/>
              </a:rPr>
              <a:t>文档介绍</a:t>
            </a:r>
          </a:p>
        </p:txBody>
      </p:sp>
      <p:sp>
        <p:nvSpPr>
          <p:cNvPr id="6" name="矩形 1">
            <a:extLst>
              <a:ext uri="{FF2B5EF4-FFF2-40B4-BE49-F238E27FC236}">
                <a16:creationId xmlns:a16="http://schemas.microsoft.com/office/drawing/2014/main" id="{4DC5E73C-5EB0-C68D-CD49-BB4E61EB9075}"/>
              </a:ext>
            </a:extLst>
          </p:cNvPr>
          <p:cNvSpPr/>
          <p:nvPr/>
        </p:nvSpPr>
        <p:spPr>
          <a:xfrm>
            <a:off x="3109255" y="1302859"/>
            <a:ext cx="8208912" cy="1200329"/>
          </a:xfrm>
          <a:prstGeom prst="rect">
            <a:avLst/>
          </a:prstGeom>
        </p:spPr>
        <p:txBody>
          <a:bodyPr wrap="square">
            <a:spAutoFit/>
          </a:bodyPr>
          <a:lstStyle/>
          <a:p>
            <a:pPr algn="just"/>
            <a:r>
              <a:rPr lang="zh-CN" altLang="zh-CN" sz="1800" dirty="0">
                <a:latin typeface="微软雅黑" panose="020B0503020204020204" pitchFamily="34" charset="-122"/>
                <a:ea typeface="微软雅黑" panose="020B0503020204020204" pitchFamily="34" charset="-122"/>
              </a:rPr>
              <a:t>本说明书说明“可视化</a:t>
            </a:r>
            <a:r>
              <a:rPr lang="en-US" altLang="zh-CN" sz="1800" dirty="0">
                <a:latin typeface="微软雅黑" panose="020B0503020204020204" pitchFamily="34" charset="-122"/>
                <a:ea typeface="微软雅黑" panose="020B0503020204020204" pitchFamily="34" charset="-122"/>
              </a:rPr>
              <a:t>ATC</a:t>
            </a:r>
            <a:r>
              <a:rPr lang="zh-CN" altLang="zh-CN" sz="1800" dirty="0">
                <a:latin typeface="微软雅黑" panose="020B0503020204020204" pitchFamily="34" charset="-122"/>
                <a:ea typeface="微软雅黑" panose="020B0503020204020204" pitchFamily="34" charset="-122"/>
              </a:rPr>
              <a:t>地空通话语音标注系统”中</a:t>
            </a:r>
            <a:r>
              <a:rPr lang="en-US" altLang="zh-CN" sz="1800" dirty="0">
                <a:latin typeface="微软雅黑" panose="020B0503020204020204" pitchFamily="34" charset="-122"/>
                <a:ea typeface="微软雅黑" panose="020B0503020204020204" pitchFamily="34" charset="-122"/>
              </a:rPr>
              <a:t>A-2</a:t>
            </a:r>
            <a:r>
              <a:rPr lang="zh-CN" altLang="zh-CN" sz="1800" dirty="0">
                <a:latin typeface="微软雅黑" panose="020B0503020204020204" pitchFamily="34" charset="-122"/>
                <a:ea typeface="微软雅黑" panose="020B0503020204020204" pitchFamily="34" charset="-122"/>
              </a:rPr>
              <a:t>语音处理模块的数据库结构与存储策略。通过详细描述</a:t>
            </a:r>
            <a:r>
              <a:rPr lang="zh-CN" altLang="zh-CN" sz="1800" dirty="0">
                <a:solidFill>
                  <a:srgbClr val="FF0000"/>
                </a:solidFill>
                <a:latin typeface="微软雅黑" panose="020B0503020204020204" pitchFamily="34" charset="-122"/>
                <a:ea typeface="微软雅黑" panose="020B0503020204020204" pitchFamily="34" charset="-122"/>
              </a:rPr>
              <a:t>数据表、字段及逻辑关系</a:t>
            </a:r>
            <a:r>
              <a:rPr lang="zh-CN" altLang="zh-CN" sz="1800" dirty="0">
                <a:latin typeface="微软雅黑" panose="020B0503020204020204" pitchFamily="34" charset="-122"/>
                <a:ea typeface="微软雅黑" panose="020B0503020204020204" pitchFamily="34" charset="-122"/>
              </a:rPr>
              <a:t>，确保</a:t>
            </a:r>
            <a:r>
              <a:rPr lang="en-US" altLang="zh-CN" sz="1800" dirty="0">
                <a:latin typeface="微软雅黑" panose="020B0503020204020204" pitchFamily="34" charset="-122"/>
                <a:ea typeface="微软雅黑" panose="020B0503020204020204" pitchFamily="34" charset="-122"/>
              </a:rPr>
              <a:t>A-2</a:t>
            </a:r>
            <a:r>
              <a:rPr lang="zh-CN" altLang="zh-CN" sz="1800" dirty="0">
                <a:latin typeface="微软雅黑" panose="020B0503020204020204" pitchFamily="34" charset="-122"/>
                <a:ea typeface="微软雅黑" panose="020B0503020204020204" pitchFamily="34" charset="-122"/>
              </a:rPr>
              <a:t>模块能高效、稳定地存储和管理从外部获取的非结构化语音数据及其对应的元数据，并为</a:t>
            </a:r>
            <a:r>
              <a:rPr lang="en-US" altLang="zh-CN" sz="1800" dirty="0">
                <a:latin typeface="微软雅黑" panose="020B0503020204020204" pitchFamily="34" charset="-122"/>
                <a:ea typeface="微软雅黑" panose="020B0503020204020204" pitchFamily="34" charset="-122"/>
              </a:rPr>
              <a:t>A-4</a:t>
            </a:r>
            <a:r>
              <a:rPr lang="zh-CN" altLang="zh-CN" sz="1800" dirty="0">
                <a:latin typeface="微软雅黑" panose="020B0503020204020204" pitchFamily="34" charset="-122"/>
                <a:ea typeface="微软雅黑" panose="020B0503020204020204" pitchFamily="34" charset="-122"/>
              </a:rPr>
              <a:t>界面和</a:t>
            </a:r>
            <a:r>
              <a:rPr lang="en-US" altLang="zh-CN" sz="1800" dirty="0">
                <a:latin typeface="微软雅黑" panose="020B0503020204020204" pitchFamily="34" charset="-122"/>
                <a:ea typeface="微软雅黑" panose="020B0503020204020204" pitchFamily="34" charset="-122"/>
              </a:rPr>
              <a:t>A-3</a:t>
            </a:r>
            <a:r>
              <a:rPr lang="zh-CN" altLang="zh-CN" sz="1800" dirty="0">
                <a:latin typeface="微软雅黑" panose="020B0503020204020204" pitchFamily="34" charset="-122"/>
                <a:ea typeface="微软雅黑" panose="020B0503020204020204" pitchFamily="34" charset="-122"/>
              </a:rPr>
              <a:t>预处理算法提供一致的数据访问契约。</a:t>
            </a:r>
          </a:p>
        </p:txBody>
      </p:sp>
      <p:sp>
        <p:nvSpPr>
          <p:cNvPr id="2" name="矩形 25">
            <a:extLst>
              <a:ext uri="{FF2B5EF4-FFF2-40B4-BE49-F238E27FC236}">
                <a16:creationId xmlns:a16="http://schemas.microsoft.com/office/drawing/2014/main" id="{315B64B0-A5BD-7B58-AE3E-E32A3AF33387}"/>
              </a:ext>
            </a:extLst>
          </p:cNvPr>
          <p:cNvSpPr/>
          <p:nvPr/>
        </p:nvSpPr>
        <p:spPr>
          <a:xfrm>
            <a:off x="806823" y="3506482"/>
            <a:ext cx="1701094" cy="612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4">
            <a:extLst>
              <a:ext uri="{FF2B5EF4-FFF2-40B4-BE49-F238E27FC236}">
                <a16:creationId xmlns:a16="http://schemas.microsoft.com/office/drawing/2014/main" id="{DEF0A26D-8F6D-09AA-F783-AF34D85C99C0}"/>
              </a:ext>
            </a:extLst>
          </p:cNvPr>
          <p:cNvSpPr/>
          <p:nvPr/>
        </p:nvSpPr>
        <p:spPr>
          <a:xfrm>
            <a:off x="1052078" y="3612428"/>
            <a:ext cx="1210588" cy="400110"/>
          </a:xfrm>
          <a:prstGeom prst="rect">
            <a:avLst/>
          </a:prstGeom>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文档范围</a:t>
            </a:r>
          </a:p>
        </p:txBody>
      </p:sp>
      <p:sp>
        <p:nvSpPr>
          <p:cNvPr id="4" name="矩形 1">
            <a:extLst>
              <a:ext uri="{FF2B5EF4-FFF2-40B4-BE49-F238E27FC236}">
                <a16:creationId xmlns:a16="http://schemas.microsoft.com/office/drawing/2014/main" id="{604963C2-0491-B2D7-0667-86EA6C0F84DB}"/>
              </a:ext>
            </a:extLst>
          </p:cNvPr>
          <p:cNvSpPr/>
          <p:nvPr/>
        </p:nvSpPr>
        <p:spPr>
          <a:xfrm>
            <a:off x="3184004" y="3294670"/>
            <a:ext cx="8208912" cy="1200329"/>
          </a:xfrm>
          <a:prstGeom prst="rect">
            <a:avLst/>
          </a:prstGeom>
        </p:spPr>
        <p:txBody>
          <a:bodyPr wrap="square">
            <a:spAutoFit/>
          </a:bodyPr>
          <a:lstStyle/>
          <a:p>
            <a:pPr algn="just"/>
            <a:r>
              <a:rPr lang="zh-CN" altLang="zh-CN" sz="1800" dirty="0">
                <a:latin typeface="微软雅黑" panose="020B0503020204020204" pitchFamily="34" charset="-122"/>
                <a:ea typeface="微软雅黑" panose="020B0503020204020204" pitchFamily="34" charset="-122"/>
              </a:rPr>
              <a:t>本文档主要涵盖</a:t>
            </a:r>
            <a:r>
              <a:rPr lang="en-US" altLang="zh-CN" sz="1800" dirty="0">
                <a:latin typeface="微软雅黑" panose="020B0503020204020204" pitchFamily="34" charset="-122"/>
                <a:ea typeface="微软雅黑" panose="020B0503020204020204" pitchFamily="34" charset="-122"/>
              </a:rPr>
              <a:t>A-2</a:t>
            </a:r>
            <a:r>
              <a:rPr lang="zh-CN" altLang="zh-CN" sz="1800" dirty="0">
                <a:latin typeface="微软雅黑" panose="020B0503020204020204" pitchFamily="34" charset="-122"/>
                <a:ea typeface="微软雅黑" panose="020B0503020204020204" pitchFamily="34" charset="-122"/>
              </a:rPr>
              <a:t>模块涉及的数据库设计，包括：实时和历史语音文件的元数据管理；语音分段（</a:t>
            </a:r>
            <a:r>
              <a:rPr lang="en-US" altLang="zh-CN" sz="1800" dirty="0">
                <a:latin typeface="微软雅黑" panose="020B0503020204020204" pitchFamily="34" charset="-122"/>
                <a:ea typeface="微软雅黑" panose="020B0503020204020204" pitchFamily="34" charset="-122"/>
              </a:rPr>
              <a:t>VAD</a:t>
            </a:r>
            <a:r>
              <a:rPr lang="zh-CN" altLang="zh-CN" sz="1800" dirty="0">
                <a:latin typeface="微软雅黑" panose="020B0503020204020204" pitchFamily="34" charset="-122"/>
                <a:ea typeface="微软雅黑" panose="020B0503020204020204" pitchFamily="34" charset="-122"/>
              </a:rPr>
              <a:t>）与时间戳映射关系的存储；本地存储生命周期管理（</a:t>
            </a:r>
            <a:r>
              <a:rPr lang="en-US" altLang="zh-CN" sz="1800" dirty="0">
                <a:latin typeface="微软雅黑" panose="020B0503020204020204" pitchFamily="34" charset="-122"/>
                <a:ea typeface="微软雅黑" panose="020B0503020204020204" pitchFamily="34" charset="-122"/>
              </a:rPr>
              <a:t>LRU</a:t>
            </a:r>
            <a:r>
              <a:rPr lang="zh-CN" altLang="zh-CN" sz="1800" dirty="0">
                <a:latin typeface="微软雅黑" panose="020B0503020204020204" pitchFamily="34" charset="-122"/>
                <a:ea typeface="微软雅黑" panose="020B0503020204020204" pitchFamily="34" charset="-122"/>
              </a:rPr>
              <a:t>淘汰逻辑）所需的状态位定义和与</a:t>
            </a:r>
            <a:r>
              <a:rPr lang="en-US" altLang="zh-CN" sz="1800" dirty="0">
                <a:latin typeface="微软雅黑" panose="020B0503020204020204" pitchFamily="34" charset="-122"/>
                <a:ea typeface="微软雅黑" panose="020B0503020204020204" pitchFamily="34" charset="-122"/>
              </a:rPr>
              <a:t>A-5</a:t>
            </a:r>
            <a:r>
              <a:rPr lang="zh-CN" altLang="zh-CN" sz="1800" dirty="0">
                <a:latin typeface="微软雅黑" panose="020B0503020204020204" pitchFamily="34" charset="-122"/>
                <a:ea typeface="微软雅黑" panose="020B0503020204020204" pitchFamily="34" charset="-122"/>
              </a:rPr>
              <a:t>模块（数据库接口）的数据对接规范。</a:t>
            </a:r>
          </a:p>
        </p:txBody>
      </p:sp>
      <p:sp>
        <p:nvSpPr>
          <p:cNvPr id="5" name="矩形 25">
            <a:extLst>
              <a:ext uri="{FF2B5EF4-FFF2-40B4-BE49-F238E27FC236}">
                <a16:creationId xmlns:a16="http://schemas.microsoft.com/office/drawing/2014/main" id="{032F21F4-146C-7B08-6BA2-3365A370B159}"/>
              </a:ext>
            </a:extLst>
          </p:cNvPr>
          <p:cNvSpPr/>
          <p:nvPr/>
        </p:nvSpPr>
        <p:spPr>
          <a:xfrm>
            <a:off x="820377" y="5593854"/>
            <a:ext cx="1701094" cy="612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24">
            <a:extLst>
              <a:ext uri="{FF2B5EF4-FFF2-40B4-BE49-F238E27FC236}">
                <a16:creationId xmlns:a16="http://schemas.microsoft.com/office/drawing/2014/main" id="{15B4DA52-A037-91B2-1211-933F62EC6504}"/>
              </a:ext>
            </a:extLst>
          </p:cNvPr>
          <p:cNvSpPr/>
          <p:nvPr/>
        </p:nvSpPr>
        <p:spPr>
          <a:xfrm>
            <a:off x="1065633" y="5699800"/>
            <a:ext cx="1210588" cy="400110"/>
          </a:xfrm>
          <a:prstGeom prst="rect">
            <a:avLst/>
          </a:prstGeom>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读者对象</a:t>
            </a:r>
          </a:p>
        </p:txBody>
      </p:sp>
      <p:sp>
        <p:nvSpPr>
          <p:cNvPr id="8" name="矩形 1">
            <a:extLst>
              <a:ext uri="{FF2B5EF4-FFF2-40B4-BE49-F238E27FC236}">
                <a16:creationId xmlns:a16="http://schemas.microsoft.com/office/drawing/2014/main" id="{F810D620-80B1-BCA8-E160-D132EBC8EA84}"/>
              </a:ext>
            </a:extLst>
          </p:cNvPr>
          <p:cNvSpPr/>
          <p:nvPr/>
        </p:nvSpPr>
        <p:spPr>
          <a:xfrm>
            <a:off x="3178081" y="5448482"/>
            <a:ext cx="8208912" cy="369332"/>
          </a:xfrm>
          <a:prstGeom prst="rect">
            <a:avLst/>
          </a:prstGeom>
        </p:spPr>
        <p:txBody>
          <a:bodyPr wrap="square">
            <a:spAutoFit/>
          </a:bodyPr>
          <a:lstStyle/>
          <a:p>
            <a:pPr algn="just"/>
            <a:r>
              <a:rPr lang="zh-CN" altLang="zh-CN" sz="1800" dirty="0">
                <a:latin typeface="微软雅黑" panose="020B0503020204020204" pitchFamily="34" charset="-122"/>
                <a:ea typeface="微软雅黑" panose="020B0503020204020204" pitchFamily="34" charset="-122"/>
              </a:rPr>
              <a:t>本文档主要面向后端开发人员、数据库管理员、系统架构师和测试人员</a:t>
            </a:r>
          </a:p>
        </p:txBody>
      </p:sp>
    </p:spTree>
    <p:extLst>
      <p:ext uri="{BB962C8B-B14F-4D97-AF65-F5344CB8AC3E}">
        <p14:creationId xmlns:p14="http://schemas.microsoft.com/office/powerpoint/2010/main" val="2953914985"/>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3917A-AB91-F6D1-D24F-7FE5EFCB9F07}"/>
            </a:ext>
          </a:extLst>
        </p:cNvPr>
        <p:cNvGrpSpPr/>
        <p:nvPr/>
      </p:nvGrpSpPr>
      <p:grpSpPr>
        <a:xfrm>
          <a:off x="0" y="0"/>
          <a:ext cx="0" cy="0"/>
          <a:chOff x="0" y="0"/>
          <a:chExt cx="0" cy="0"/>
        </a:xfrm>
      </p:grpSpPr>
      <p:sp>
        <p:nvSpPr>
          <p:cNvPr id="1048764" name="矩形 24">
            <a:extLst>
              <a:ext uri="{FF2B5EF4-FFF2-40B4-BE49-F238E27FC236}">
                <a16:creationId xmlns:a16="http://schemas.microsoft.com/office/drawing/2014/main" id="{248ADD8C-F2B9-1D24-225A-78CA56BF8868}"/>
              </a:ext>
            </a:extLst>
          </p:cNvPr>
          <p:cNvSpPr/>
          <p:nvPr/>
        </p:nvSpPr>
        <p:spPr>
          <a:xfrm>
            <a:off x="723070" y="3084840"/>
            <a:ext cx="1467069" cy="400110"/>
          </a:xfrm>
          <a:prstGeom prst="rect">
            <a:avLst/>
          </a:prstGeom>
        </p:spPr>
        <p:txBody>
          <a:bodyPr wrap="none">
            <a:sp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rPr>
              <a:t>模块负责人</a:t>
            </a:r>
          </a:p>
        </p:txBody>
      </p:sp>
      <p:sp>
        <p:nvSpPr>
          <p:cNvPr id="1048765" name="TextBox 11">
            <a:extLst>
              <a:ext uri="{FF2B5EF4-FFF2-40B4-BE49-F238E27FC236}">
                <a16:creationId xmlns:a16="http://schemas.microsoft.com/office/drawing/2014/main" id="{3C25AD4F-24B5-D75A-ECF3-17FDD69419F1}"/>
              </a:ext>
            </a:extLst>
          </p:cNvPr>
          <p:cNvSpPr txBox="1"/>
          <p:nvPr/>
        </p:nvSpPr>
        <p:spPr>
          <a:xfrm>
            <a:off x="335447" y="152331"/>
            <a:ext cx="8858484" cy="584800"/>
          </a:xfrm>
          <a:prstGeom prst="rect">
            <a:avLst/>
          </a:prstGeom>
          <a:noFill/>
        </p:spPr>
        <p:txBody>
          <a:bodyPr wrap="square" lIns="121944" tIns="60972" rIns="121944" bIns="60972" rtlCol="0">
            <a:spAutoFit/>
          </a:bodyPr>
          <a:lstStyle/>
          <a:p>
            <a:r>
              <a:rPr lang="zh-CN" altLang="en-US" sz="3000" b="1" dirty="0">
                <a:solidFill>
                  <a:schemeClr val="bg1"/>
                </a:solidFill>
                <a:latin typeface="微软雅黑" panose="020B0503020204020204" pitchFamily="34" charset="-122"/>
                <a:ea typeface="微软雅黑" panose="020B0503020204020204" pitchFamily="34" charset="-122"/>
              </a:rPr>
              <a:t>数据库环境说明</a:t>
            </a:r>
          </a:p>
        </p:txBody>
      </p:sp>
      <p:sp>
        <p:nvSpPr>
          <p:cNvPr id="6" name="矩形 24">
            <a:extLst>
              <a:ext uri="{FF2B5EF4-FFF2-40B4-BE49-F238E27FC236}">
                <a16:creationId xmlns:a16="http://schemas.microsoft.com/office/drawing/2014/main" id="{A9440FFB-3E0E-F14B-360F-CEAD319A93A5}"/>
              </a:ext>
            </a:extLst>
          </p:cNvPr>
          <p:cNvSpPr/>
          <p:nvPr/>
        </p:nvSpPr>
        <p:spPr>
          <a:xfrm>
            <a:off x="719977" y="4988437"/>
            <a:ext cx="1980029" cy="707886"/>
          </a:xfrm>
          <a:prstGeom prst="rect">
            <a:avLst/>
          </a:prstGeom>
        </p:spPr>
        <p:txBody>
          <a:bodyPr wrap="none">
            <a:spAutoFit/>
          </a:bodyPr>
          <a:lstStyle/>
          <a:p>
            <a:pPr algn="ctr"/>
            <a:r>
              <a:rPr lang="en-US" altLang="zh-CN" sz="2000" dirty="0">
                <a:solidFill>
                  <a:schemeClr val="bg1"/>
                </a:solidFill>
                <a:latin typeface="微软雅黑" panose="020B0503020204020204" pitchFamily="34" charset="-122"/>
                <a:ea typeface="微软雅黑" panose="020B0503020204020204" pitchFamily="34" charset="-122"/>
              </a:rPr>
              <a:t>API</a:t>
            </a:r>
            <a:r>
              <a:rPr lang="zh-CN" altLang="en-US" sz="2000" dirty="0">
                <a:solidFill>
                  <a:schemeClr val="bg1"/>
                </a:solidFill>
                <a:latin typeface="微软雅黑" panose="020B0503020204020204" pitchFamily="34" charset="-122"/>
                <a:ea typeface="微软雅黑" panose="020B0503020204020204" pitchFamily="34" charset="-122"/>
              </a:rPr>
              <a:t>集成与</a:t>
            </a:r>
            <a:endParaRPr lang="en-US" altLang="zh-CN" sz="2000" dirty="0">
              <a:solidFill>
                <a:schemeClr val="bg1"/>
              </a:solidFill>
              <a:latin typeface="微软雅黑" panose="020B0503020204020204" pitchFamily="34" charset="-122"/>
              <a:ea typeface="微软雅黑" panose="020B0503020204020204" pitchFamily="34" charset="-122"/>
            </a:endParaRPr>
          </a:p>
          <a:p>
            <a:pPr algn="ctr"/>
            <a:r>
              <a:rPr lang="zh-CN" altLang="en-US" sz="2000" dirty="0">
                <a:solidFill>
                  <a:schemeClr val="bg1"/>
                </a:solidFill>
                <a:latin typeface="微软雅黑" panose="020B0503020204020204" pitchFamily="34" charset="-122"/>
                <a:ea typeface="微软雅黑" panose="020B0503020204020204" pitchFamily="34" charset="-122"/>
              </a:rPr>
              <a:t>数据处理工程师</a:t>
            </a:r>
          </a:p>
        </p:txBody>
      </p:sp>
      <p:sp>
        <p:nvSpPr>
          <p:cNvPr id="4" name="矩形 25">
            <a:extLst>
              <a:ext uri="{FF2B5EF4-FFF2-40B4-BE49-F238E27FC236}">
                <a16:creationId xmlns:a16="http://schemas.microsoft.com/office/drawing/2014/main" id="{06FA6E48-645C-2558-92F1-CC07D0E6521F}"/>
              </a:ext>
            </a:extLst>
          </p:cNvPr>
          <p:cNvSpPr/>
          <p:nvPr/>
        </p:nvSpPr>
        <p:spPr>
          <a:xfrm>
            <a:off x="1215396" y="972179"/>
            <a:ext cx="10150520" cy="100811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24">
            <a:extLst>
              <a:ext uri="{FF2B5EF4-FFF2-40B4-BE49-F238E27FC236}">
                <a16:creationId xmlns:a16="http://schemas.microsoft.com/office/drawing/2014/main" id="{3E0592F3-ADF8-4321-2141-2710665F40DD}"/>
              </a:ext>
            </a:extLst>
          </p:cNvPr>
          <p:cNvSpPr/>
          <p:nvPr/>
        </p:nvSpPr>
        <p:spPr>
          <a:xfrm>
            <a:off x="1171473" y="1099971"/>
            <a:ext cx="10150520" cy="769441"/>
          </a:xfrm>
          <a:prstGeom prst="rect">
            <a:avLst/>
          </a:prstGeom>
        </p:spPr>
        <p:txBody>
          <a:bodyPr wrap="squar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数据库系统：</a:t>
            </a:r>
            <a:r>
              <a:rPr lang="en-US" altLang="zh-CN" b="1" dirty="0">
                <a:solidFill>
                  <a:schemeClr val="bg1"/>
                </a:solidFill>
              </a:rPr>
              <a:t>SQLite</a:t>
            </a:r>
            <a:endParaRPr lang="en-US" altLang="zh-CN" sz="2000" b="1" dirty="0">
              <a:solidFill>
                <a:schemeClr val="bg1"/>
              </a:solidFill>
              <a:latin typeface="微软雅黑" panose="020B0503020204020204" pitchFamily="34" charset="-122"/>
              <a:ea typeface="微软雅黑" panose="020B0503020204020204" pitchFamily="34" charset="-122"/>
            </a:endParaRPr>
          </a:p>
          <a:p>
            <a:pPr algn="ctr"/>
            <a:r>
              <a:rPr lang="zh-CN" altLang="en-US" sz="2000" b="1" dirty="0">
                <a:solidFill>
                  <a:schemeClr val="bg1"/>
                </a:solidFill>
                <a:latin typeface="微软雅黑" panose="020B0503020204020204" pitchFamily="34" charset="-122"/>
                <a:ea typeface="微软雅黑" panose="020B0503020204020204" pitchFamily="34" charset="-122"/>
              </a:rPr>
              <a:t>设计工具：</a:t>
            </a:r>
            <a:r>
              <a:rPr lang="en-US" altLang="zh-CN" b="1" dirty="0" err="1">
                <a:solidFill>
                  <a:schemeClr val="bg1"/>
                </a:solidFill>
              </a:rPr>
              <a:t>Navicat</a:t>
            </a:r>
            <a:r>
              <a:rPr lang="en-US" altLang="zh-CN" b="1" dirty="0">
                <a:solidFill>
                  <a:schemeClr val="bg1"/>
                </a:solidFill>
              </a:rPr>
              <a:t> Premium</a:t>
            </a:r>
            <a:endParaRPr lang="zh-CN" altLang="zh-CN" b="1" dirty="0">
              <a:solidFill>
                <a:schemeClr val="bg1"/>
              </a:solidFill>
            </a:endParaRPr>
          </a:p>
        </p:txBody>
      </p:sp>
      <p:sp>
        <p:nvSpPr>
          <p:cNvPr id="10" name="矩形 25">
            <a:extLst>
              <a:ext uri="{FF2B5EF4-FFF2-40B4-BE49-F238E27FC236}">
                <a16:creationId xmlns:a16="http://schemas.microsoft.com/office/drawing/2014/main" id="{F73D932B-D2C5-AAFD-2383-0EB2D66D27C3}"/>
              </a:ext>
            </a:extLst>
          </p:cNvPr>
          <p:cNvSpPr/>
          <p:nvPr/>
        </p:nvSpPr>
        <p:spPr>
          <a:xfrm>
            <a:off x="1171473" y="2472840"/>
            <a:ext cx="10150520" cy="612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24">
            <a:extLst>
              <a:ext uri="{FF2B5EF4-FFF2-40B4-BE49-F238E27FC236}">
                <a16:creationId xmlns:a16="http://schemas.microsoft.com/office/drawing/2014/main" id="{075B2B52-83E7-B071-29EC-04ED55A91A6C}"/>
              </a:ext>
            </a:extLst>
          </p:cNvPr>
          <p:cNvSpPr/>
          <p:nvPr/>
        </p:nvSpPr>
        <p:spPr>
          <a:xfrm>
            <a:off x="5275929" y="2580925"/>
            <a:ext cx="2208547" cy="400110"/>
          </a:xfrm>
          <a:prstGeom prst="rect">
            <a:avLst/>
          </a:prstGeom>
        </p:spPr>
        <p:txBody>
          <a:bodyPr wrap="squar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数据库配置</a:t>
            </a:r>
          </a:p>
        </p:txBody>
      </p:sp>
      <p:graphicFrame>
        <p:nvGraphicFramePr>
          <p:cNvPr id="12" name="表格 11">
            <a:extLst>
              <a:ext uri="{FF2B5EF4-FFF2-40B4-BE49-F238E27FC236}">
                <a16:creationId xmlns:a16="http://schemas.microsoft.com/office/drawing/2014/main" id="{8892C918-0A03-249D-6E24-7A22277F99B9}"/>
              </a:ext>
            </a:extLst>
          </p:cNvPr>
          <p:cNvGraphicFramePr>
            <a:graphicFrameLocks noGrp="1"/>
          </p:cNvGraphicFramePr>
          <p:nvPr>
            <p:extLst>
              <p:ext uri="{D42A27DB-BD31-4B8C-83A1-F6EECF244321}">
                <p14:modId xmlns:p14="http://schemas.microsoft.com/office/powerpoint/2010/main" val="2989833407"/>
              </p:ext>
            </p:extLst>
          </p:nvPr>
        </p:nvGraphicFramePr>
        <p:xfrm>
          <a:off x="1171473" y="3086980"/>
          <a:ext cx="10153128" cy="3369290"/>
        </p:xfrm>
        <a:graphic>
          <a:graphicData uri="http://schemas.openxmlformats.org/drawingml/2006/table">
            <a:tbl>
              <a:tblPr firstRow="1" firstCol="1" bandRow="1">
                <a:tableStyleId>{5C22544A-7EE6-4342-B048-85BDC9FD1C3A}</a:tableStyleId>
              </a:tblPr>
              <a:tblGrid>
                <a:gridCol w="5204632">
                  <a:extLst>
                    <a:ext uri="{9D8B030D-6E8A-4147-A177-3AD203B41FA5}">
                      <a16:colId xmlns:a16="http://schemas.microsoft.com/office/drawing/2014/main" val="1939937873"/>
                    </a:ext>
                  </a:extLst>
                </a:gridCol>
                <a:gridCol w="4948496">
                  <a:extLst>
                    <a:ext uri="{9D8B030D-6E8A-4147-A177-3AD203B41FA5}">
                      <a16:colId xmlns:a16="http://schemas.microsoft.com/office/drawing/2014/main" val="1790500604"/>
                    </a:ext>
                  </a:extLst>
                </a:gridCol>
              </a:tblGrid>
              <a:tr h="673858">
                <a:tc>
                  <a:txBody>
                    <a:bodyPr/>
                    <a:lstStyle/>
                    <a:p>
                      <a:pPr algn="ctr">
                        <a:buNone/>
                      </a:pPr>
                      <a:r>
                        <a:rPr lang="zh-CN" sz="2000" b="0" kern="100" dirty="0">
                          <a:solidFill>
                            <a:schemeClr val="tx1"/>
                          </a:solidFill>
                          <a:effectLst/>
                          <a:latin typeface="微软雅黑" panose="020B0503020204020204" pitchFamily="34" charset="-122"/>
                          <a:ea typeface="微软雅黑" panose="020B0503020204020204" pitchFamily="34" charset="-122"/>
                        </a:rPr>
                        <a:t>表空间</a:t>
                      </a:r>
                      <a:endParaRPr lang="zh-CN" sz="2000" b="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solidFill>
                      <a:schemeClr val="accent2">
                        <a:lumMod val="20000"/>
                        <a:lumOff val="80000"/>
                      </a:schemeClr>
                    </a:solidFill>
                  </a:tcPr>
                </a:tc>
                <a:tc>
                  <a:txBody>
                    <a:bodyPr/>
                    <a:lstStyle/>
                    <a:p>
                      <a:pPr algn="ctr">
                        <a:buNone/>
                      </a:pPr>
                      <a:r>
                        <a:rPr lang="en-US" sz="2000" b="0" kern="100" dirty="0">
                          <a:solidFill>
                            <a:schemeClr val="tx1"/>
                          </a:solidFill>
                          <a:effectLst/>
                          <a:latin typeface="微软雅黑" panose="020B0503020204020204" pitchFamily="34" charset="-122"/>
                          <a:ea typeface="微软雅黑" panose="020B0503020204020204" pitchFamily="34" charset="-122"/>
                        </a:rPr>
                        <a:t>TS_A2_VOICE</a:t>
                      </a:r>
                      <a:endParaRPr lang="zh-CN" sz="2000" b="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solidFill>
                      <a:schemeClr val="accent2">
                        <a:lumMod val="20000"/>
                        <a:lumOff val="80000"/>
                      </a:schemeClr>
                    </a:solidFill>
                  </a:tcPr>
                </a:tc>
                <a:extLst>
                  <a:ext uri="{0D108BD9-81ED-4DB2-BD59-A6C34878D82A}">
                    <a16:rowId xmlns:a16="http://schemas.microsoft.com/office/drawing/2014/main" val="1591419248"/>
                  </a:ext>
                </a:extLst>
              </a:tr>
              <a:tr h="673858">
                <a:tc>
                  <a:txBody>
                    <a:bodyPr/>
                    <a:lstStyle/>
                    <a:p>
                      <a:pPr algn="ctr">
                        <a:buNone/>
                      </a:pPr>
                      <a:r>
                        <a:rPr lang="zh-CN" sz="2000" b="0" kern="100" dirty="0">
                          <a:solidFill>
                            <a:schemeClr val="tx1"/>
                          </a:solidFill>
                          <a:effectLst/>
                          <a:latin typeface="微软雅黑" panose="020B0503020204020204" pitchFamily="34" charset="-122"/>
                          <a:ea typeface="微软雅黑" panose="020B0503020204020204" pitchFamily="34" charset="-122"/>
                        </a:rPr>
                        <a:t>表空间初始化大小</a:t>
                      </a:r>
                      <a:endParaRPr lang="zh-CN" sz="2000" b="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solidFill>
                      <a:schemeClr val="accent2">
                        <a:lumMod val="60000"/>
                        <a:lumOff val="40000"/>
                      </a:schemeClr>
                    </a:solidFill>
                  </a:tcPr>
                </a:tc>
                <a:tc>
                  <a:txBody>
                    <a:bodyPr/>
                    <a:lstStyle/>
                    <a:p>
                      <a:pPr algn="ctr">
                        <a:buNone/>
                      </a:pPr>
                      <a:r>
                        <a:rPr lang="en-US" sz="2000" b="0" kern="100" dirty="0">
                          <a:solidFill>
                            <a:schemeClr val="tx1"/>
                          </a:solidFill>
                          <a:effectLst/>
                          <a:latin typeface="微软雅黑" panose="020B0503020204020204" pitchFamily="34" charset="-122"/>
                          <a:ea typeface="微软雅黑" panose="020B0503020204020204" pitchFamily="34" charset="-122"/>
                        </a:rPr>
                        <a:t>100MB</a:t>
                      </a:r>
                      <a:endParaRPr lang="zh-CN" sz="2000" b="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solidFill>
                      <a:schemeClr val="accent2">
                        <a:lumMod val="60000"/>
                        <a:lumOff val="40000"/>
                      </a:schemeClr>
                    </a:solidFill>
                  </a:tcPr>
                </a:tc>
                <a:extLst>
                  <a:ext uri="{0D108BD9-81ED-4DB2-BD59-A6C34878D82A}">
                    <a16:rowId xmlns:a16="http://schemas.microsoft.com/office/drawing/2014/main" val="1574771936"/>
                  </a:ext>
                </a:extLst>
              </a:tr>
              <a:tr h="673858">
                <a:tc>
                  <a:txBody>
                    <a:bodyPr/>
                    <a:lstStyle/>
                    <a:p>
                      <a:pPr algn="ctr">
                        <a:buNone/>
                      </a:pPr>
                      <a:r>
                        <a:rPr lang="zh-CN" sz="2000" b="0" kern="100" dirty="0">
                          <a:solidFill>
                            <a:schemeClr val="tx1"/>
                          </a:solidFill>
                          <a:effectLst/>
                          <a:latin typeface="微软雅黑" panose="020B0503020204020204" pitchFamily="34" charset="-122"/>
                          <a:ea typeface="微软雅黑" panose="020B0503020204020204" pitchFamily="34" charset="-122"/>
                        </a:rPr>
                        <a:t>自增量</a:t>
                      </a:r>
                      <a:endParaRPr lang="zh-CN" sz="2000" b="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solidFill>
                      <a:schemeClr val="accent2">
                        <a:lumMod val="20000"/>
                        <a:lumOff val="80000"/>
                      </a:schemeClr>
                    </a:solidFill>
                  </a:tcPr>
                </a:tc>
                <a:tc>
                  <a:txBody>
                    <a:bodyPr/>
                    <a:lstStyle/>
                    <a:p>
                      <a:pPr algn="ctr">
                        <a:buNone/>
                      </a:pPr>
                      <a:r>
                        <a:rPr lang="en-US" sz="2000" b="0" kern="100" dirty="0">
                          <a:solidFill>
                            <a:schemeClr val="tx1"/>
                          </a:solidFill>
                          <a:effectLst/>
                          <a:latin typeface="微软雅黑" panose="020B0503020204020204" pitchFamily="34" charset="-122"/>
                          <a:ea typeface="微软雅黑" panose="020B0503020204020204" pitchFamily="34" charset="-122"/>
                        </a:rPr>
                        <a:t>1</a:t>
                      </a:r>
                      <a:endParaRPr lang="zh-CN" sz="2000" b="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solidFill>
                      <a:schemeClr val="accent2">
                        <a:lumMod val="20000"/>
                        <a:lumOff val="80000"/>
                      </a:schemeClr>
                    </a:solidFill>
                  </a:tcPr>
                </a:tc>
                <a:extLst>
                  <a:ext uri="{0D108BD9-81ED-4DB2-BD59-A6C34878D82A}">
                    <a16:rowId xmlns:a16="http://schemas.microsoft.com/office/drawing/2014/main" val="1071628472"/>
                  </a:ext>
                </a:extLst>
              </a:tr>
              <a:tr h="673858">
                <a:tc>
                  <a:txBody>
                    <a:bodyPr/>
                    <a:lstStyle/>
                    <a:p>
                      <a:pPr algn="ctr">
                        <a:buNone/>
                      </a:pPr>
                      <a:r>
                        <a:rPr lang="zh-CN" sz="2000" b="0" kern="100" dirty="0">
                          <a:solidFill>
                            <a:schemeClr val="tx1"/>
                          </a:solidFill>
                          <a:effectLst/>
                          <a:latin typeface="微软雅黑" panose="020B0503020204020204" pitchFamily="34" charset="-122"/>
                          <a:ea typeface="微软雅黑" panose="020B0503020204020204" pitchFamily="34" charset="-122"/>
                        </a:rPr>
                        <a:t>用户名</a:t>
                      </a:r>
                      <a:endParaRPr lang="zh-CN" sz="2000" b="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solidFill>
                      <a:schemeClr val="accent2">
                        <a:lumMod val="60000"/>
                        <a:lumOff val="40000"/>
                      </a:schemeClr>
                    </a:solidFill>
                  </a:tcPr>
                </a:tc>
                <a:tc>
                  <a:txBody>
                    <a:bodyPr/>
                    <a:lstStyle/>
                    <a:p>
                      <a:pPr algn="ctr">
                        <a:buNone/>
                      </a:pPr>
                      <a:r>
                        <a:rPr lang="en-US" sz="2000" b="0" kern="100" dirty="0" err="1">
                          <a:solidFill>
                            <a:schemeClr val="tx1"/>
                          </a:solidFill>
                          <a:effectLst/>
                          <a:latin typeface="微软雅黑" panose="020B0503020204020204" pitchFamily="34" charset="-122"/>
                          <a:ea typeface="微软雅黑" panose="020B0503020204020204" pitchFamily="34" charset="-122"/>
                        </a:rPr>
                        <a:t>atc_admin</a:t>
                      </a:r>
                      <a:endParaRPr lang="zh-CN" sz="2000" b="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solidFill>
                      <a:schemeClr val="accent2">
                        <a:lumMod val="60000"/>
                        <a:lumOff val="40000"/>
                      </a:schemeClr>
                    </a:solidFill>
                  </a:tcPr>
                </a:tc>
                <a:extLst>
                  <a:ext uri="{0D108BD9-81ED-4DB2-BD59-A6C34878D82A}">
                    <a16:rowId xmlns:a16="http://schemas.microsoft.com/office/drawing/2014/main" val="1344531639"/>
                  </a:ext>
                </a:extLst>
              </a:tr>
              <a:tr h="673858">
                <a:tc>
                  <a:txBody>
                    <a:bodyPr/>
                    <a:lstStyle/>
                    <a:p>
                      <a:pPr algn="ctr">
                        <a:buNone/>
                      </a:pPr>
                      <a:r>
                        <a:rPr lang="zh-CN" sz="2000" b="0" kern="100" dirty="0">
                          <a:solidFill>
                            <a:schemeClr val="tx1"/>
                          </a:solidFill>
                          <a:effectLst/>
                          <a:latin typeface="微软雅黑" panose="020B0503020204020204" pitchFamily="34" charset="-122"/>
                          <a:ea typeface="微软雅黑" panose="020B0503020204020204" pitchFamily="34" charset="-122"/>
                        </a:rPr>
                        <a:t>密码</a:t>
                      </a:r>
                      <a:endParaRPr lang="zh-CN" sz="2000" b="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solidFill>
                      <a:schemeClr val="accent2">
                        <a:lumMod val="20000"/>
                        <a:lumOff val="80000"/>
                      </a:schemeClr>
                    </a:solidFill>
                  </a:tcPr>
                </a:tc>
                <a:tc>
                  <a:txBody>
                    <a:bodyPr/>
                    <a:lstStyle/>
                    <a:p>
                      <a:pPr algn="ctr">
                        <a:buNone/>
                      </a:pPr>
                      <a:r>
                        <a:rPr lang="en-US" sz="2000" b="0" kern="100" dirty="0">
                          <a:solidFill>
                            <a:schemeClr val="tx1"/>
                          </a:solidFill>
                          <a:effectLst/>
                          <a:latin typeface="微软雅黑" panose="020B0503020204020204" pitchFamily="34" charset="-122"/>
                          <a:ea typeface="微软雅黑" panose="020B0503020204020204" pitchFamily="34" charset="-122"/>
                        </a:rPr>
                        <a:t>atc_password_2026</a:t>
                      </a:r>
                      <a:endParaRPr lang="zh-CN" sz="2000" b="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solidFill>
                      <a:schemeClr val="accent2">
                        <a:lumMod val="20000"/>
                        <a:lumOff val="80000"/>
                      </a:schemeClr>
                    </a:solidFill>
                  </a:tcPr>
                </a:tc>
                <a:extLst>
                  <a:ext uri="{0D108BD9-81ED-4DB2-BD59-A6C34878D82A}">
                    <a16:rowId xmlns:a16="http://schemas.microsoft.com/office/drawing/2014/main" val="4107182553"/>
                  </a:ext>
                </a:extLst>
              </a:tr>
            </a:tbl>
          </a:graphicData>
        </a:graphic>
      </p:graphicFrame>
    </p:spTree>
    <p:extLst>
      <p:ext uri="{BB962C8B-B14F-4D97-AF65-F5344CB8AC3E}">
        <p14:creationId xmlns:p14="http://schemas.microsoft.com/office/powerpoint/2010/main" val="1781232909"/>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7DB30-EF32-FF4C-08EB-88AF646A9AA2}"/>
            </a:ext>
          </a:extLst>
        </p:cNvPr>
        <p:cNvGrpSpPr/>
        <p:nvPr/>
      </p:nvGrpSpPr>
      <p:grpSpPr>
        <a:xfrm>
          <a:off x="0" y="0"/>
          <a:ext cx="0" cy="0"/>
          <a:chOff x="0" y="0"/>
          <a:chExt cx="0" cy="0"/>
        </a:xfrm>
      </p:grpSpPr>
      <p:sp>
        <p:nvSpPr>
          <p:cNvPr id="14" name="矩形: 圆角 13">
            <a:extLst>
              <a:ext uri="{FF2B5EF4-FFF2-40B4-BE49-F238E27FC236}">
                <a16:creationId xmlns:a16="http://schemas.microsoft.com/office/drawing/2014/main" id="{2EFB5557-D7A7-D52E-886F-10A8C6494C01}"/>
              </a:ext>
            </a:extLst>
          </p:cNvPr>
          <p:cNvSpPr/>
          <p:nvPr/>
        </p:nvSpPr>
        <p:spPr>
          <a:xfrm>
            <a:off x="2968833" y="4073733"/>
            <a:ext cx="8568952" cy="936104"/>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endParaRPr>
          </a:p>
        </p:txBody>
      </p:sp>
      <p:sp>
        <p:nvSpPr>
          <p:cNvPr id="12" name="矩形: 圆角 11">
            <a:extLst>
              <a:ext uri="{FF2B5EF4-FFF2-40B4-BE49-F238E27FC236}">
                <a16:creationId xmlns:a16="http://schemas.microsoft.com/office/drawing/2014/main" id="{87B03599-2D33-9ACF-752F-98B9375F9081}"/>
              </a:ext>
            </a:extLst>
          </p:cNvPr>
          <p:cNvSpPr/>
          <p:nvPr/>
        </p:nvSpPr>
        <p:spPr>
          <a:xfrm>
            <a:off x="2968833" y="1061626"/>
            <a:ext cx="8568952" cy="1216040"/>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endParaRPr>
          </a:p>
        </p:txBody>
      </p:sp>
      <p:sp>
        <p:nvSpPr>
          <p:cNvPr id="1048762" name="矩形 25">
            <a:extLst>
              <a:ext uri="{FF2B5EF4-FFF2-40B4-BE49-F238E27FC236}">
                <a16:creationId xmlns:a16="http://schemas.microsoft.com/office/drawing/2014/main" id="{135075F4-0B6B-6409-8106-5775F0980ED4}"/>
              </a:ext>
            </a:extLst>
          </p:cNvPr>
          <p:cNvSpPr/>
          <p:nvPr/>
        </p:nvSpPr>
        <p:spPr>
          <a:xfrm>
            <a:off x="641580" y="1331596"/>
            <a:ext cx="1980028" cy="612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4" name="矩形 24">
            <a:extLst>
              <a:ext uri="{FF2B5EF4-FFF2-40B4-BE49-F238E27FC236}">
                <a16:creationId xmlns:a16="http://schemas.microsoft.com/office/drawing/2014/main" id="{6BE4CA49-32BE-3E21-18EB-4DFFED64B11D}"/>
              </a:ext>
            </a:extLst>
          </p:cNvPr>
          <p:cNvSpPr/>
          <p:nvPr/>
        </p:nvSpPr>
        <p:spPr>
          <a:xfrm>
            <a:off x="641580" y="1437542"/>
            <a:ext cx="1980029" cy="400110"/>
          </a:xfrm>
          <a:prstGeom prst="rect">
            <a:avLst/>
          </a:prstGeom>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数据表名称规范</a:t>
            </a:r>
          </a:p>
        </p:txBody>
      </p:sp>
      <p:sp>
        <p:nvSpPr>
          <p:cNvPr id="1048765" name="TextBox 11">
            <a:extLst>
              <a:ext uri="{FF2B5EF4-FFF2-40B4-BE49-F238E27FC236}">
                <a16:creationId xmlns:a16="http://schemas.microsoft.com/office/drawing/2014/main" id="{75D322AB-EA46-9C6F-8A70-B2CFAE526085}"/>
              </a:ext>
            </a:extLst>
          </p:cNvPr>
          <p:cNvSpPr txBox="1"/>
          <p:nvPr/>
        </p:nvSpPr>
        <p:spPr>
          <a:xfrm>
            <a:off x="335447" y="152331"/>
            <a:ext cx="8858484" cy="584800"/>
          </a:xfrm>
          <a:prstGeom prst="rect">
            <a:avLst/>
          </a:prstGeom>
          <a:noFill/>
        </p:spPr>
        <p:txBody>
          <a:bodyPr wrap="square" lIns="121944" tIns="60972" rIns="121944" bIns="60972" rtlCol="0">
            <a:spAutoFit/>
          </a:bodyPr>
          <a:lstStyle/>
          <a:p>
            <a:r>
              <a:rPr lang="zh-CN" altLang="en-US" sz="3000" b="1" dirty="0">
                <a:solidFill>
                  <a:schemeClr val="bg1"/>
                </a:solidFill>
                <a:latin typeface="微软雅黑" panose="020B0503020204020204" pitchFamily="34" charset="-122"/>
                <a:ea typeface="微软雅黑" panose="020B0503020204020204" pitchFamily="34" charset="-122"/>
              </a:rPr>
              <a:t>数据库命名规则</a:t>
            </a:r>
          </a:p>
        </p:txBody>
      </p:sp>
      <p:sp>
        <p:nvSpPr>
          <p:cNvPr id="6" name="矩形 1">
            <a:extLst>
              <a:ext uri="{FF2B5EF4-FFF2-40B4-BE49-F238E27FC236}">
                <a16:creationId xmlns:a16="http://schemas.microsoft.com/office/drawing/2014/main" id="{678D1B7A-9E37-0AC8-9A20-65ADBD1C145C}"/>
              </a:ext>
            </a:extLst>
          </p:cNvPr>
          <p:cNvSpPr/>
          <p:nvPr/>
        </p:nvSpPr>
        <p:spPr>
          <a:xfrm>
            <a:off x="3148853" y="1166939"/>
            <a:ext cx="8208912" cy="923330"/>
          </a:xfrm>
          <a:prstGeom prst="rect">
            <a:avLst/>
          </a:prstGeom>
        </p:spPr>
        <p:txBody>
          <a:bodyPr wrap="square">
            <a:spAutoFit/>
          </a:bodyPr>
          <a:lstStyle/>
          <a:p>
            <a:r>
              <a:rPr lang="zh-CN" altLang="zh-CN" sz="1800" dirty="0">
                <a:latin typeface="微软雅黑" panose="020B0503020204020204" pitchFamily="34" charset="-122"/>
                <a:ea typeface="微软雅黑" panose="020B0503020204020204" pitchFamily="34" charset="-122"/>
              </a:rPr>
              <a:t>统一采用小写字母</a:t>
            </a:r>
          </a:p>
          <a:p>
            <a:r>
              <a:rPr lang="zh-CN" altLang="zh-CN" sz="1800" dirty="0">
                <a:latin typeface="微软雅黑" panose="020B0503020204020204" pitchFamily="34" charset="-122"/>
                <a:ea typeface="微软雅黑" panose="020B0503020204020204" pitchFamily="34" charset="-122"/>
              </a:rPr>
              <a:t>前缀：</a:t>
            </a:r>
            <a:r>
              <a:rPr lang="en-US" altLang="zh-CN" sz="1800" dirty="0">
                <a:latin typeface="微软雅黑" panose="020B0503020204020204" pitchFamily="34" charset="-122"/>
                <a:ea typeface="微软雅黑" panose="020B0503020204020204" pitchFamily="34" charset="-122"/>
              </a:rPr>
              <a:t>t_a2_</a:t>
            </a:r>
            <a:r>
              <a:rPr lang="zh-CN" altLang="zh-CN" sz="1800" dirty="0">
                <a:latin typeface="微软雅黑" panose="020B0503020204020204" pitchFamily="34" charset="-122"/>
                <a:ea typeface="微软雅黑" panose="020B0503020204020204" pitchFamily="34" charset="-122"/>
              </a:rPr>
              <a:t>（表示</a:t>
            </a:r>
            <a:r>
              <a:rPr lang="en-US" altLang="zh-CN" sz="1800" dirty="0">
                <a:latin typeface="微软雅黑" panose="020B0503020204020204" pitchFamily="34" charset="-122"/>
                <a:ea typeface="微软雅黑" panose="020B0503020204020204" pitchFamily="34" charset="-122"/>
              </a:rPr>
              <a:t>A-2</a:t>
            </a:r>
            <a:r>
              <a:rPr lang="zh-CN" altLang="zh-CN" sz="1800" dirty="0">
                <a:latin typeface="微软雅黑" panose="020B0503020204020204" pitchFamily="34" charset="-122"/>
                <a:ea typeface="微软雅黑" panose="020B0503020204020204" pitchFamily="34" charset="-122"/>
              </a:rPr>
              <a:t>模块私有或主导的数据表）</a:t>
            </a:r>
          </a:p>
          <a:p>
            <a:r>
              <a:rPr lang="zh-CN" altLang="zh-CN" sz="1800" dirty="0">
                <a:latin typeface="微软雅黑" panose="020B0503020204020204" pitchFamily="34" charset="-122"/>
                <a:ea typeface="微软雅黑" panose="020B0503020204020204" pitchFamily="34" charset="-122"/>
              </a:rPr>
              <a:t>示例：</a:t>
            </a:r>
            <a:r>
              <a:rPr lang="en-US" altLang="zh-CN" sz="1800" dirty="0">
                <a:latin typeface="微软雅黑" panose="020B0503020204020204" pitchFamily="34" charset="-122"/>
                <a:ea typeface="微软雅黑" panose="020B0503020204020204" pitchFamily="34" charset="-122"/>
              </a:rPr>
              <a:t>t_a2_voice_files</a:t>
            </a:r>
            <a:endParaRPr lang="zh-CN" altLang="zh-CN" sz="1800" dirty="0">
              <a:latin typeface="微软雅黑" panose="020B0503020204020204" pitchFamily="34" charset="-122"/>
              <a:ea typeface="微软雅黑" panose="020B0503020204020204" pitchFamily="34" charset="-122"/>
            </a:endParaRPr>
          </a:p>
        </p:txBody>
      </p:sp>
      <p:sp>
        <p:nvSpPr>
          <p:cNvPr id="8" name="矩形 1">
            <a:extLst>
              <a:ext uri="{FF2B5EF4-FFF2-40B4-BE49-F238E27FC236}">
                <a16:creationId xmlns:a16="http://schemas.microsoft.com/office/drawing/2014/main" id="{BE295D05-3F8E-5C06-F562-B2BDB23C8B9F}"/>
              </a:ext>
            </a:extLst>
          </p:cNvPr>
          <p:cNvSpPr/>
          <p:nvPr/>
        </p:nvSpPr>
        <p:spPr>
          <a:xfrm>
            <a:off x="3148853" y="4192305"/>
            <a:ext cx="8208912" cy="646331"/>
          </a:xfrm>
          <a:prstGeom prst="rect">
            <a:avLst/>
          </a:prstGeom>
        </p:spPr>
        <p:txBody>
          <a:bodyPr wrap="square">
            <a:spAutoFit/>
          </a:bodyPr>
          <a:lstStyle/>
          <a:p>
            <a:r>
              <a:rPr lang="zh-CN" altLang="zh-CN" sz="1800" dirty="0">
                <a:latin typeface="微软雅黑" panose="020B0503020204020204" pitchFamily="34" charset="-122"/>
                <a:ea typeface="微软雅黑" panose="020B0503020204020204" pitchFamily="34" charset="-122"/>
              </a:rPr>
              <a:t>所有表必须包含</a:t>
            </a:r>
            <a:r>
              <a:rPr lang="en-US" altLang="zh-CN" sz="1800" dirty="0" err="1">
                <a:latin typeface="微软雅黑" panose="020B0503020204020204" pitchFamily="34" charset="-122"/>
                <a:ea typeface="微软雅黑" panose="020B0503020204020204" pitchFamily="34" charset="-122"/>
              </a:rPr>
              <a:t>created_at</a:t>
            </a:r>
            <a:r>
              <a:rPr lang="zh-CN" altLang="zh-CN" sz="1800" dirty="0">
                <a:latin typeface="微软雅黑" panose="020B0503020204020204" pitchFamily="34" charset="-122"/>
                <a:ea typeface="微软雅黑" panose="020B0503020204020204" pitchFamily="34" charset="-122"/>
              </a:rPr>
              <a:t>（创建时间）和</a:t>
            </a:r>
            <a:r>
              <a:rPr lang="en-US" altLang="zh-CN" sz="1800" dirty="0" err="1">
                <a:latin typeface="微软雅黑" panose="020B0503020204020204" pitchFamily="34" charset="-122"/>
                <a:ea typeface="微软雅黑" panose="020B0503020204020204" pitchFamily="34" charset="-122"/>
              </a:rPr>
              <a:t>updated_at</a:t>
            </a:r>
            <a:r>
              <a:rPr lang="zh-CN" altLang="zh-CN" sz="1800" dirty="0">
                <a:latin typeface="微软雅黑" panose="020B0503020204020204" pitchFamily="34" charset="-122"/>
                <a:ea typeface="微软雅黑" panose="020B0503020204020204" pitchFamily="34" charset="-122"/>
              </a:rPr>
              <a:t>（更新时间）</a:t>
            </a:r>
          </a:p>
          <a:p>
            <a:r>
              <a:rPr lang="zh-CN" altLang="zh-CN" sz="1800" dirty="0">
                <a:latin typeface="微软雅黑" panose="020B0503020204020204" pitchFamily="34" charset="-122"/>
                <a:ea typeface="微软雅黑" panose="020B0503020204020204" pitchFamily="34" charset="-122"/>
              </a:rPr>
              <a:t>涉及物理路径的字段需预留足够长度（</a:t>
            </a:r>
            <a:r>
              <a:rPr lang="en-US" altLang="zh-CN" sz="1800" dirty="0">
                <a:latin typeface="微软雅黑" panose="020B0503020204020204" pitchFamily="34" charset="-122"/>
                <a:ea typeface="微软雅黑" panose="020B0503020204020204" pitchFamily="34" charset="-122"/>
              </a:rPr>
              <a:t>VARCHAR(512)</a:t>
            </a:r>
            <a:r>
              <a:rPr lang="zh-CN" altLang="zh-CN" sz="1800" dirty="0">
                <a:latin typeface="微软雅黑" panose="020B0503020204020204" pitchFamily="34" charset="-122"/>
                <a:ea typeface="微软雅黑" panose="020B0503020204020204" pitchFamily="34" charset="-122"/>
              </a:rPr>
              <a:t>）</a:t>
            </a:r>
          </a:p>
        </p:txBody>
      </p:sp>
      <p:sp>
        <p:nvSpPr>
          <p:cNvPr id="9" name="矩形 25">
            <a:extLst>
              <a:ext uri="{FF2B5EF4-FFF2-40B4-BE49-F238E27FC236}">
                <a16:creationId xmlns:a16="http://schemas.microsoft.com/office/drawing/2014/main" id="{F6899F1E-1578-EA1B-D074-61B2D031A65D}"/>
              </a:ext>
            </a:extLst>
          </p:cNvPr>
          <p:cNvSpPr/>
          <p:nvPr/>
        </p:nvSpPr>
        <p:spPr>
          <a:xfrm>
            <a:off x="641580" y="2928139"/>
            <a:ext cx="1980028" cy="612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24">
            <a:extLst>
              <a:ext uri="{FF2B5EF4-FFF2-40B4-BE49-F238E27FC236}">
                <a16:creationId xmlns:a16="http://schemas.microsoft.com/office/drawing/2014/main" id="{560F9DF0-78EB-7223-F1FD-A13EA7F16E6A}"/>
              </a:ext>
            </a:extLst>
          </p:cNvPr>
          <p:cNvSpPr/>
          <p:nvPr/>
        </p:nvSpPr>
        <p:spPr>
          <a:xfrm>
            <a:off x="641580" y="3034085"/>
            <a:ext cx="1980029" cy="400110"/>
          </a:xfrm>
          <a:prstGeom prst="rect">
            <a:avLst/>
          </a:prstGeom>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数据项名称规范</a:t>
            </a:r>
          </a:p>
        </p:txBody>
      </p:sp>
      <p:sp>
        <p:nvSpPr>
          <p:cNvPr id="11" name="矩形 25">
            <a:extLst>
              <a:ext uri="{FF2B5EF4-FFF2-40B4-BE49-F238E27FC236}">
                <a16:creationId xmlns:a16="http://schemas.microsoft.com/office/drawing/2014/main" id="{74CC65AA-268E-4166-E017-BA1C99ED4A5F}"/>
              </a:ext>
            </a:extLst>
          </p:cNvPr>
          <p:cNvSpPr/>
          <p:nvPr/>
        </p:nvSpPr>
        <p:spPr>
          <a:xfrm>
            <a:off x="641580" y="4251188"/>
            <a:ext cx="1980028" cy="612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24">
            <a:extLst>
              <a:ext uri="{FF2B5EF4-FFF2-40B4-BE49-F238E27FC236}">
                <a16:creationId xmlns:a16="http://schemas.microsoft.com/office/drawing/2014/main" id="{03361A3D-2BFE-DDCC-6FAE-308A45ADF8E7}"/>
              </a:ext>
            </a:extLst>
          </p:cNvPr>
          <p:cNvSpPr/>
          <p:nvPr/>
        </p:nvSpPr>
        <p:spPr>
          <a:xfrm>
            <a:off x="641583" y="4357134"/>
            <a:ext cx="1980029" cy="400110"/>
          </a:xfrm>
          <a:prstGeom prst="rect">
            <a:avLst/>
          </a:prstGeom>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数据表结构定义</a:t>
            </a:r>
          </a:p>
        </p:txBody>
      </p:sp>
      <p:sp>
        <p:nvSpPr>
          <p:cNvPr id="16" name="矩形: 圆角 15">
            <a:extLst>
              <a:ext uri="{FF2B5EF4-FFF2-40B4-BE49-F238E27FC236}">
                <a16:creationId xmlns:a16="http://schemas.microsoft.com/office/drawing/2014/main" id="{6FBA25A2-5B43-45D8-06EF-F1889C5B9CD0}"/>
              </a:ext>
            </a:extLst>
          </p:cNvPr>
          <p:cNvSpPr/>
          <p:nvPr/>
        </p:nvSpPr>
        <p:spPr>
          <a:xfrm>
            <a:off x="2968833" y="2437036"/>
            <a:ext cx="8568952" cy="1477327"/>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endParaRPr>
          </a:p>
        </p:txBody>
      </p:sp>
      <p:sp>
        <p:nvSpPr>
          <p:cNvPr id="17" name="矩形 1">
            <a:extLst>
              <a:ext uri="{FF2B5EF4-FFF2-40B4-BE49-F238E27FC236}">
                <a16:creationId xmlns:a16="http://schemas.microsoft.com/office/drawing/2014/main" id="{2728ECCD-3A3C-B544-FF45-3CCE02B8A8C1}"/>
              </a:ext>
            </a:extLst>
          </p:cNvPr>
          <p:cNvSpPr/>
          <p:nvPr/>
        </p:nvSpPr>
        <p:spPr>
          <a:xfrm>
            <a:off x="3148853" y="2564581"/>
            <a:ext cx="8208912" cy="1200329"/>
          </a:xfrm>
          <a:prstGeom prst="rect">
            <a:avLst/>
          </a:prstGeom>
        </p:spPr>
        <p:txBody>
          <a:bodyPr wrap="square">
            <a:spAutoFit/>
          </a:bodyPr>
          <a:lstStyle/>
          <a:p>
            <a:r>
              <a:rPr lang="zh-CN" altLang="zh-CN" sz="1800" dirty="0">
                <a:latin typeface="微软雅黑" panose="020B0503020204020204" pitchFamily="34" charset="-122"/>
                <a:ea typeface="微软雅黑" panose="020B0503020204020204" pitchFamily="34" charset="-122"/>
              </a:rPr>
              <a:t>采用</a:t>
            </a:r>
            <a:r>
              <a:rPr lang="en-US" altLang="zh-CN" sz="1800" dirty="0" err="1">
                <a:latin typeface="微软雅黑" panose="020B0503020204020204" pitchFamily="34" charset="-122"/>
                <a:ea typeface="微软雅黑" panose="020B0503020204020204" pitchFamily="34" charset="-122"/>
              </a:rPr>
              <a:t>snake_case</a:t>
            </a:r>
            <a:r>
              <a:rPr lang="zh-CN" altLang="zh-CN" sz="1800" dirty="0">
                <a:latin typeface="微软雅黑" panose="020B0503020204020204" pitchFamily="34" charset="-122"/>
                <a:ea typeface="微软雅黑" panose="020B0503020204020204" pitchFamily="34" charset="-122"/>
              </a:rPr>
              <a:t>（下划线分隔）命名法</a:t>
            </a:r>
          </a:p>
          <a:p>
            <a:r>
              <a:rPr lang="zh-CN" altLang="zh-CN" sz="1800" dirty="0">
                <a:latin typeface="微软雅黑" panose="020B0503020204020204" pitchFamily="34" charset="-122"/>
                <a:ea typeface="微软雅黑" panose="020B0503020204020204" pitchFamily="34" charset="-122"/>
              </a:rPr>
              <a:t>主键统一命名为</a:t>
            </a:r>
            <a:r>
              <a:rPr lang="en-US" altLang="zh-CN" sz="1800" dirty="0">
                <a:latin typeface="微软雅黑" panose="020B0503020204020204" pitchFamily="34" charset="-122"/>
                <a:ea typeface="微软雅黑" panose="020B0503020204020204" pitchFamily="34" charset="-122"/>
              </a:rPr>
              <a:t>id</a:t>
            </a:r>
            <a:r>
              <a:rPr lang="zh-CN" altLang="zh-CN" sz="1800" dirty="0">
                <a:latin typeface="微软雅黑" panose="020B0503020204020204" pitchFamily="34" charset="-122"/>
                <a:ea typeface="微软雅黑" panose="020B0503020204020204" pitchFamily="34" charset="-122"/>
              </a:rPr>
              <a:t>，采用自增整数或</a:t>
            </a:r>
            <a:r>
              <a:rPr lang="en-US" altLang="zh-CN" sz="1800" dirty="0">
                <a:latin typeface="微软雅黑" panose="020B0503020204020204" pitchFamily="34" charset="-122"/>
                <a:ea typeface="微软雅黑" panose="020B0503020204020204" pitchFamily="34" charset="-122"/>
              </a:rPr>
              <a:t>UUID</a:t>
            </a:r>
            <a:endParaRPr lang="zh-CN" altLang="zh-CN" sz="1800" dirty="0">
              <a:latin typeface="微软雅黑" panose="020B0503020204020204" pitchFamily="34" charset="-122"/>
              <a:ea typeface="微软雅黑" panose="020B0503020204020204" pitchFamily="34" charset="-122"/>
            </a:endParaRPr>
          </a:p>
          <a:p>
            <a:r>
              <a:rPr lang="zh-CN" altLang="zh-CN" sz="1800" dirty="0">
                <a:latin typeface="微软雅黑" panose="020B0503020204020204" pitchFamily="34" charset="-122"/>
                <a:ea typeface="微软雅黑" panose="020B0503020204020204" pitchFamily="34" charset="-122"/>
              </a:rPr>
              <a:t>外键命名：关联表名</a:t>
            </a:r>
            <a:r>
              <a:rPr lang="en-US" altLang="zh-CN" sz="1800" dirty="0">
                <a:latin typeface="微软雅黑" panose="020B0503020204020204" pitchFamily="34" charset="-122"/>
                <a:ea typeface="微软雅黑" panose="020B0503020204020204" pitchFamily="34" charset="-122"/>
              </a:rPr>
              <a:t>_id</a:t>
            </a:r>
            <a:endParaRPr lang="zh-CN" altLang="zh-CN" sz="1800" dirty="0">
              <a:latin typeface="微软雅黑" panose="020B0503020204020204" pitchFamily="34" charset="-122"/>
              <a:ea typeface="微软雅黑" panose="020B0503020204020204" pitchFamily="34" charset="-122"/>
            </a:endParaRPr>
          </a:p>
          <a:p>
            <a:r>
              <a:rPr lang="zh-CN" altLang="zh-CN" sz="1800" dirty="0">
                <a:latin typeface="微软雅黑" panose="020B0503020204020204" pitchFamily="34" charset="-122"/>
                <a:ea typeface="微软雅黑" panose="020B0503020204020204" pitchFamily="34" charset="-122"/>
              </a:rPr>
              <a:t>时间戳字段统一以</a:t>
            </a:r>
            <a:r>
              <a:rPr lang="en-US" altLang="zh-CN" sz="1800" dirty="0">
                <a:latin typeface="微软雅黑" panose="020B0503020204020204" pitchFamily="34" charset="-122"/>
                <a:ea typeface="微软雅黑" panose="020B0503020204020204" pitchFamily="34" charset="-122"/>
              </a:rPr>
              <a:t>_at</a:t>
            </a:r>
            <a:r>
              <a:rPr lang="zh-CN" altLang="zh-CN" sz="1800" dirty="0">
                <a:latin typeface="微软雅黑" panose="020B0503020204020204" pitchFamily="34" charset="-122"/>
                <a:ea typeface="微软雅黑" panose="020B0503020204020204" pitchFamily="34" charset="-122"/>
              </a:rPr>
              <a:t>结尾（如</a:t>
            </a:r>
            <a:r>
              <a:rPr lang="en-US" altLang="zh-CN" sz="1800" dirty="0" err="1">
                <a:latin typeface="微软雅黑" panose="020B0503020204020204" pitchFamily="34" charset="-122"/>
                <a:ea typeface="微软雅黑" panose="020B0503020204020204" pitchFamily="34" charset="-122"/>
              </a:rPr>
              <a:t>created_at</a:t>
            </a:r>
            <a:r>
              <a:rPr lang="zh-CN" altLang="zh-CN" sz="1800" dirty="0">
                <a:latin typeface="微软雅黑" panose="020B0503020204020204" pitchFamily="34" charset="-122"/>
                <a:ea typeface="微软雅黑" panose="020B0503020204020204" pitchFamily="34" charset="-122"/>
              </a:rPr>
              <a:t>）</a:t>
            </a:r>
          </a:p>
        </p:txBody>
      </p:sp>
      <p:sp>
        <p:nvSpPr>
          <p:cNvPr id="18" name="矩形: 圆角 17">
            <a:extLst>
              <a:ext uri="{FF2B5EF4-FFF2-40B4-BE49-F238E27FC236}">
                <a16:creationId xmlns:a16="http://schemas.microsoft.com/office/drawing/2014/main" id="{8D6A0B3F-E026-9534-57E9-D91E7C6A8FAC}"/>
              </a:ext>
            </a:extLst>
          </p:cNvPr>
          <p:cNvSpPr/>
          <p:nvPr/>
        </p:nvSpPr>
        <p:spPr>
          <a:xfrm>
            <a:off x="2968833" y="5169207"/>
            <a:ext cx="8568952" cy="1105564"/>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endParaRPr>
          </a:p>
        </p:txBody>
      </p:sp>
      <p:sp>
        <p:nvSpPr>
          <p:cNvPr id="19" name="矩形 1">
            <a:extLst>
              <a:ext uri="{FF2B5EF4-FFF2-40B4-BE49-F238E27FC236}">
                <a16:creationId xmlns:a16="http://schemas.microsoft.com/office/drawing/2014/main" id="{A8C90133-278C-A97A-09FF-BEDC9E9E3C92}"/>
              </a:ext>
            </a:extLst>
          </p:cNvPr>
          <p:cNvSpPr/>
          <p:nvPr/>
        </p:nvSpPr>
        <p:spPr>
          <a:xfrm>
            <a:off x="3236594" y="5274520"/>
            <a:ext cx="6284967" cy="923330"/>
          </a:xfrm>
          <a:prstGeom prst="rect">
            <a:avLst/>
          </a:prstGeom>
        </p:spPr>
        <p:txBody>
          <a:bodyPr wrap="square">
            <a:spAutoFit/>
          </a:bodyPr>
          <a:lstStyle/>
          <a:p>
            <a:r>
              <a:rPr lang="zh-CN" altLang="zh-CN" sz="1800" dirty="0">
                <a:latin typeface="微软雅黑" panose="020B0503020204020204" pitchFamily="34" charset="-122"/>
                <a:ea typeface="微软雅黑" panose="020B0503020204020204" pitchFamily="34" charset="-122"/>
              </a:rPr>
              <a:t>语音文件表</a:t>
            </a:r>
            <a:r>
              <a:rPr lang="en-US" altLang="zh-CN" sz="1800" dirty="0">
                <a:latin typeface="微软雅黑" panose="020B0503020204020204" pitchFamily="34" charset="-122"/>
                <a:ea typeface="微软雅黑" panose="020B0503020204020204" pitchFamily="34" charset="-122"/>
              </a:rPr>
              <a:t> (t_a2_voice_files)</a:t>
            </a:r>
            <a:r>
              <a:rPr lang="zh-CN" altLang="zh-CN" sz="1800" dirty="0">
                <a:latin typeface="微软雅黑" panose="020B0503020204020204" pitchFamily="34" charset="-122"/>
                <a:ea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rPr>
              <a:t>1</a:t>
            </a:r>
            <a:endParaRPr lang="zh-CN" altLang="zh-CN" sz="1800" dirty="0">
              <a:latin typeface="微软雅黑" panose="020B0503020204020204" pitchFamily="34" charset="-122"/>
              <a:ea typeface="微软雅黑" panose="020B0503020204020204" pitchFamily="34" charset="-122"/>
            </a:endParaRPr>
          </a:p>
          <a:p>
            <a:r>
              <a:rPr lang="zh-CN" altLang="zh-CN" sz="1800" dirty="0">
                <a:latin typeface="微软雅黑" panose="020B0503020204020204" pitchFamily="34" charset="-122"/>
                <a:ea typeface="微软雅黑" panose="020B0503020204020204" pitchFamily="34" charset="-122"/>
              </a:rPr>
              <a:t>语音切片表</a:t>
            </a:r>
            <a:r>
              <a:rPr lang="en-US" altLang="zh-CN" sz="1800" dirty="0">
                <a:latin typeface="微软雅黑" panose="020B0503020204020204" pitchFamily="34" charset="-122"/>
                <a:ea typeface="微软雅黑" panose="020B0503020204020204" pitchFamily="34" charset="-122"/>
              </a:rPr>
              <a:t> (t_a2_voice_segments)</a:t>
            </a:r>
            <a:r>
              <a:rPr lang="zh-CN" altLang="zh-CN" sz="1800" dirty="0">
                <a:latin typeface="微软雅黑" panose="020B0503020204020204" pitchFamily="34" charset="-122"/>
                <a:ea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rPr>
              <a:t>N</a:t>
            </a:r>
            <a:endParaRPr lang="zh-CN" altLang="zh-CN" sz="1800" dirty="0">
              <a:latin typeface="微软雅黑" panose="020B0503020204020204" pitchFamily="34" charset="-122"/>
              <a:ea typeface="微软雅黑" panose="020B0503020204020204" pitchFamily="34" charset="-122"/>
            </a:endParaRPr>
          </a:p>
          <a:p>
            <a:r>
              <a:rPr lang="zh-CN" altLang="zh-CN" sz="1800" dirty="0">
                <a:latin typeface="微软雅黑" panose="020B0503020204020204" pitchFamily="34" charset="-122"/>
                <a:ea typeface="微软雅黑" panose="020B0503020204020204" pitchFamily="34" charset="-122"/>
              </a:rPr>
              <a:t>关系：一个原始录音文件通过</a:t>
            </a:r>
            <a:r>
              <a:rPr lang="en-US" altLang="zh-CN" sz="1800" dirty="0">
                <a:latin typeface="微软雅黑" panose="020B0503020204020204" pitchFamily="34" charset="-122"/>
                <a:ea typeface="微软雅黑" panose="020B0503020204020204" pitchFamily="34" charset="-122"/>
              </a:rPr>
              <a:t>VAD</a:t>
            </a:r>
            <a:r>
              <a:rPr lang="zh-CN" altLang="zh-CN" sz="1800" dirty="0">
                <a:latin typeface="微软雅黑" panose="020B0503020204020204" pitchFamily="34" charset="-122"/>
                <a:ea typeface="微软雅黑" panose="020B0503020204020204" pitchFamily="34" charset="-122"/>
              </a:rPr>
              <a:t>处理后对应多个语音切片</a:t>
            </a:r>
          </a:p>
        </p:txBody>
      </p:sp>
      <p:sp>
        <p:nvSpPr>
          <p:cNvPr id="20" name="矩形 25">
            <a:extLst>
              <a:ext uri="{FF2B5EF4-FFF2-40B4-BE49-F238E27FC236}">
                <a16:creationId xmlns:a16="http://schemas.microsoft.com/office/drawing/2014/main" id="{A8FF775F-B737-8A9C-1D4D-0DB795159DDC}"/>
              </a:ext>
            </a:extLst>
          </p:cNvPr>
          <p:cNvSpPr/>
          <p:nvPr/>
        </p:nvSpPr>
        <p:spPr>
          <a:xfrm>
            <a:off x="641580" y="5341677"/>
            <a:ext cx="1980028" cy="612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4">
            <a:extLst>
              <a:ext uri="{FF2B5EF4-FFF2-40B4-BE49-F238E27FC236}">
                <a16:creationId xmlns:a16="http://schemas.microsoft.com/office/drawing/2014/main" id="{48C8AACE-E59A-4486-EDAF-D29ECC0F0FA0}"/>
              </a:ext>
            </a:extLst>
          </p:cNvPr>
          <p:cNvSpPr/>
          <p:nvPr/>
        </p:nvSpPr>
        <p:spPr>
          <a:xfrm>
            <a:off x="641583" y="5447623"/>
            <a:ext cx="1980029" cy="400110"/>
          </a:xfrm>
          <a:prstGeom prst="rect">
            <a:avLst/>
          </a:prstGeom>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数据库逻辑设计</a:t>
            </a:r>
          </a:p>
        </p:txBody>
      </p:sp>
    </p:spTree>
    <p:extLst>
      <p:ext uri="{BB962C8B-B14F-4D97-AF65-F5344CB8AC3E}">
        <p14:creationId xmlns:p14="http://schemas.microsoft.com/office/powerpoint/2010/main" val="255244798"/>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F6F08-6198-860B-030C-907502EB6AC3}"/>
            </a:ext>
          </a:extLst>
        </p:cNvPr>
        <p:cNvGrpSpPr/>
        <p:nvPr/>
      </p:nvGrpSpPr>
      <p:grpSpPr>
        <a:xfrm>
          <a:off x="0" y="0"/>
          <a:ext cx="0" cy="0"/>
          <a:chOff x="0" y="0"/>
          <a:chExt cx="0" cy="0"/>
        </a:xfrm>
      </p:grpSpPr>
      <p:sp>
        <p:nvSpPr>
          <p:cNvPr id="1048764" name="矩形 24">
            <a:extLst>
              <a:ext uri="{FF2B5EF4-FFF2-40B4-BE49-F238E27FC236}">
                <a16:creationId xmlns:a16="http://schemas.microsoft.com/office/drawing/2014/main" id="{EEBF06CB-4E90-B9ED-B332-5558439BE639}"/>
              </a:ext>
            </a:extLst>
          </p:cNvPr>
          <p:cNvSpPr/>
          <p:nvPr/>
        </p:nvSpPr>
        <p:spPr>
          <a:xfrm>
            <a:off x="955407" y="1896721"/>
            <a:ext cx="1467069" cy="400110"/>
          </a:xfrm>
          <a:prstGeom prst="rect">
            <a:avLst/>
          </a:prstGeom>
        </p:spPr>
        <p:txBody>
          <a:bodyPr wrap="none">
            <a:sp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rPr>
              <a:t>模块负责人</a:t>
            </a:r>
          </a:p>
        </p:txBody>
      </p:sp>
      <p:sp>
        <p:nvSpPr>
          <p:cNvPr id="1048765" name="TextBox 11">
            <a:extLst>
              <a:ext uri="{FF2B5EF4-FFF2-40B4-BE49-F238E27FC236}">
                <a16:creationId xmlns:a16="http://schemas.microsoft.com/office/drawing/2014/main" id="{16CE5D61-F4DB-0DD0-C5F2-D1FF38AB6547}"/>
              </a:ext>
            </a:extLst>
          </p:cNvPr>
          <p:cNvSpPr txBox="1"/>
          <p:nvPr/>
        </p:nvSpPr>
        <p:spPr>
          <a:xfrm>
            <a:off x="335447" y="152331"/>
            <a:ext cx="10514668" cy="584800"/>
          </a:xfrm>
          <a:prstGeom prst="rect">
            <a:avLst/>
          </a:prstGeom>
          <a:noFill/>
        </p:spPr>
        <p:txBody>
          <a:bodyPr wrap="square" lIns="121944" tIns="60972" rIns="121944" bIns="60972" rtlCol="0">
            <a:spAutoFit/>
          </a:bodyPr>
          <a:lstStyle/>
          <a:p>
            <a:r>
              <a:rPr lang="zh-CN" altLang="en-US" sz="3000" b="1" dirty="0">
                <a:solidFill>
                  <a:schemeClr val="bg1"/>
                </a:solidFill>
                <a:latin typeface="微软雅黑" panose="020B0503020204020204" pitchFamily="34" charset="-122"/>
                <a:ea typeface="微软雅黑" panose="020B0503020204020204" pitchFamily="34" charset="-122"/>
              </a:rPr>
              <a:t>数据库物理设计</a:t>
            </a:r>
            <a:r>
              <a:rPr lang="en-US" altLang="zh-CN" sz="3000" b="1" dirty="0">
                <a:solidFill>
                  <a:schemeClr val="bg1"/>
                </a:solidFill>
                <a:latin typeface="微软雅黑" panose="020B0503020204020204" pitchFamily="34" charset="-122"/>
                <a:ea typeface="微软雅黑" panose="020B0503020204020204" pitchFamily="34" charset="-122"/>
              </a:rPr>
              <a:t>——</a:t>
            </a:r>
            <a:r>
              <a:rPr lang="zh-CN" altLang="en-US" sz="3000" b="1" dirty="0">
                <a:solidFill>
                  <a:schemeClr val="bg1"/>
                </a:solidFill>
                <a:latin typeface="微软雅黑" panose="020B0503020204020204" pitchFamily="34" charset="-122"/>
                <a:ea typeface="微软雅黑" panose="020B0503020204020204" pitchFamily="34" charset="-122"/>
              </a:rPr>
              <a:t>原始语音文件表（</a:t>
            </a:r>
            <a:r>
              <a:rPr lang="en-US" altLang="zh-CN" sz="3000" b="1" dirty="0">
                <a:solidFill>
                  <a:schemeClr val="bg1"/>
                </a:solidFill>
                <a:latin typeface="微软雅黑" panose="020B0503020204020204" pitchFamily="34" charset="-122"/>
                <a:ea typeface="微软雅黑" panose="020B0503020204020204" pitchFamily="34" charset="-122"/>
              </a:rPr>
              <a:t>t_a2_voice_files</a:t>
            </a:r>
            <a:r>
              <a:rPr lang="zh-CN" altLang="en-US" sz="3000" b="1" dirty="0">
                <a:solidFill>
                  <a:schemeClr val="bg1"/>
                </a:solidFill>
                <a:latin typeface="微软雅黑" panose="020B0503020204020204" pitchFamily="34" charset="-122"/>
                <a:ea typeface="微软雅黑" panose="020B0503020204020204" pitchFamily="34" charset="-122"/>
              </a:rPr>
              <a:t>）</a:t>
            </a:r>
          </a:p>
        </p:txBody>
      </p:sp>
      <p:sp>
        <p:nvSpPr>
          <p:cNvPr id="6" name="矩形 24">
            <a:extLst>
              <a:ext uri="{FF2B5EF4-FFF2-40B4-BE49-F238E27FC236}">
                <a16:creationId xmlns:a16="http://schemas.microsoft.com/office/drawing/2014/main" id="{7EF05091-F302-1E8F-1510-A34772A8934B}"/>
              </a:ext>
            </a:extLst>
          </p:cNvPr>
          <p:cNvSpPr/>
          <p:nvPr/>
        </p:nvSpPr>
        <p:spPr>
          <a:xfrm>
            <a:off x="719977" y="4988437"/>
            <a:ext cx="1980029" cy="707886"/>
          </a:xfrm>
          <a:prstGeom prst="rect">
            <a:avLst/>
          </a:prstGeom>
        </p:spPr>
        <p:txBody>
          <a:bodyPr wrap="none">
            <a:spAutoFit/>
          </a:bodyPr>
          <a:lstStyle/>
          <a:p>
            <a:pPr algn="ctr"/>
            <a:r>
              <a:rPr lang="en-US" altLang="zh-CN" sz="2000" dirty="0">
                <a:solidFill>
                  <a:schemeClr val="bg1"/>
                </a:solidFill>
                <a:latin typeface="微软雅黑" panose="020B0503020204020204" pitchFamily="34" charset="-122"/>
                <a:ea typeface="微软雅黑" panose="020B0503020204020204" pitchFamily="34" charset="-122"/>
              </a:rPr>
              <a:t>API</a:t>
            </a:r>
            <a:r>
              <a:rPr lang="zh-CN" altLang="en-US" sz="2000" dirty="0">
                <a:solidFill>
                  <a:schemeClr val="bg1"/>
                </a:solidFill>
                <a:latin typeface="微软雅黑" panose="020B0503020204020204" pitchFamily="34" charset="-122"/>
                <a:ea typeface="微软雅黑" panose="020B0503020204020204" pitchFamily="34" charset="-122"/>
              </a:rPr>
              <a:t>集成与</a:t>
            </a:r>
            <a:endParaRPr lang="en-US" altLang="zh-CN" sz="2000" dirty="0">
              <a:solidFill>
                <a:schemeClr val="bg1"/>
              </a:solidFill>
              <a:latin typeface="微软雅黑" panose="020B0503020204020204" pitchFamily="34" charset="-122"/>
              <a:ea typeface="微软雅黑" panose="020B0503020204020204" pitchFamily="34" charset="-122"/>
            </a:endParaRPr>
          </a:p>
          <a:p>
            <a:pPr algn="ctr"/>
            <a:r>
              <a:rPr lang="zh-CN" altLang="en-US" sz="2000" dirty="0">
                <a:solidFill>
                  <a:schemeClr val="bg1"/>
                </a:solidFill>
                <a:latin typeface="微软雅黑" panose="020B0503020204020204" pitchFamily="34" charset="-122"/>
                <a:ea typeface="微软雅黑" panose="020B0503020204020204" pitchFamily="34" charset="-122"/>
              </a:rPr>
              <a:t>数据处理工程师</a:t>
            </a:r>
          </a:p>
        </p:txBody>
      </p:sp>
      <p:graphicFrame>
        <p:nvGraphicFramePr>
          <p:cNvPr id="2" name="表格 1">
            <a:extLst>
              <a:ext uri="{FF2B5EF4-FFF2-40B4-BE49-F238E27FC236}">
                <a16:creationId xmlns:a16="http://schemas.microsoft.com/office/drawing/2014/main" id="{E45ADFD7-FF06-197F-F8F7-E7DE5753680B}"/>
              </a:ext>
            </a:extLst>
          </p:cNvPr>
          <p:cNvGraphicFramePr>
            <a:graphicFrameLocks noGrp="1"/>
          </p:cNvGraphicFramePr>
          <p:nvPr>
            <p:extLst>
              <p:ext uri="{D42A27DB-BD31-4B8C-83A1-F6EECF244321}">
                <p14:modId xmlns:p14="http://schemas.microsoft.com/office/powerpoint/2010/main" val="2336896008"/>
              </p:ext>
            </p:extLst>
          </p:nvPr>
        </p:nvGraphicFramePr>
        <p:xfrm>
          <a:off x="499223" y="1008458"/>
          <a:ext cx="10975975" cy="5698799"/>
        </p:xfrm>
        <a:graphic>
          <a:graphicData uri="http://schemas.openxmlformats.org/drawingml/2006/table">
            <a:tbl>
              <a:tblPr firstRow="1" firstCol="1" bandRow="1">
                <a:tableStyleId>{5C22544A-7EE6-4342-B048-85BDC9FD1C3A}</a:tableStyleId>
              </a:tblPr>
              <a:tblGrid>
                <a:gridCol w="2195195">
                  <a:extLst>
                    <a:ext uri="{9D8B030D-6E8A-4147-A177-3AD203B41FA5}">
                      <a16:colId xmlns:a16="http://schemas.microsoft.com/office/drawing/2014/main" val="1983100090"/>
                    </a:ext>
                  </a:extLst>
                </a:gridCol>
                <a:gridCol w="2195195">
                  <a:extLst>
                    <a:ext uri="{9D8B030D-6E8A-4147-A177-3AD203B41FA5}">
                      <a16:colId xmlns:a16="http://schemas.microsoft.com/office/drawing/2014/main" val="2091845421"/>
                    </a:ext>
                  </a:extLst>
                </a:gridCol>
                <a:gridCol w="1313622">
                  <a:extLst>
                    <a:ext uri="{9D8B030D-6E8A-4147-A177-3AD203B41FA5}">
                      <a16:colId xmlns:a16="http://schemas.microsoft.com/office/drawing/2014/main" val="2808672140"/>
                    </a:ext>
                  </a:extLst>
                </a:gridCol>
                <a:gridCol w="2232248">
                  <a:extLst>
                    <a:ext uri="{9D8B030D-6E8A-4147-A177-3AD203B41FA5}">
                      <a16:colId xmlns:a16="http://schemas.microsoft.com/office/drawing/2014/main" val="4014022216"/>
                    </a:ext>
                  </a:extLst>
                </a:gridCol>
                <a:gridCol w="3039715">
                  <a:extLst>
                    <a:ext uri="{9D8B030D-6E8A-4147-A177-3AD203B41FA5}">
                      <a16:colId xmlns:a16="http://schemas.microsoft.com/office/drawing/2014/main" val="3832005823"/>
                    </a:ext>
                  </a:extLst>
                </a:gridCol>
              </a:tblGrid>
              <a:tr h="449905">
                <a:tc>
                  <a:txBody>
                    <a:bodyPr/>
                    <a:lstStyle/>
                    <a:p>
                      <a:pPr algn="just">
                        <a:buNone/>
                      </a:pPr>
                      <a:r>
                        <a:rPr lang="zh-CN" sz="2400" kern="100" dirty="0">
                          <a:solidFill>
                            <a:schemeClr val="tx1"/>
                          </a:solidFill>
                          <a:effectLst/>
                          <a:latin typeface="微软雅黑" panose="020B0503020204020204" pitchFamily="34" charset="-122"/>
                          <a:ea typeface="微软雅黑" panose="020B0503020204020204" pitchFamily="34" charset="-122"/>
                        </a:rPr>
                        <a:t>字段名</a:t>
                      </a:r>
                      <a:endParaRPr lang="zh-CN" sz="24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solidFill>
                  </a:tcPr>
                </a:tc>
                <a:tc>
                  <a:txBody>
                    <a:bodyPr/>
                    <a:lstStyle/>
                    <a:p>
                      <a:pPr algn="just">
                        <a:buNone/>
                      </a:pPr>
                      <a:r>
                        <a:rPr lang="zh-CN" sz="2400" kern="100">
                          <a:solidFill>
                            <a:schemeClr val="tx1"/>
                          </a:solidFill>
                          <a:effectLst/>
                          <a:latin typeface="微软雅黑" panose="020B0503020204020204" pitchFamily="34" charset="-122"/>
                          <a:ea typeface="微软雅黑" panose="020B0503020204020204" pitchFamily="34" charset="-122"/>
                        </a:rPr>
                        <a:t>数据类型</a:t>
                      </a:r>
                      <a:endParaRPr lang="zh-CN" sz="2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solidFill>
                  </a:tcPr>
                </a:tc>
                <a:tc>
                  <a:txBody>
                    <a:bodyPr/>
                    <a:lstStyle/>
                    <a:p>
                      <a:pPr algn="just">
                        <a:buNone/>
                      </a:pPr>
                      <a:r>
                        <a:rPr lang="zh-CN" sz="2400" kern="100" dirty="0">
                          <a:solidFill>
                            <a:schemeClr val="tx1"/>
                          </a:solidFill>
                          <a:effectLst/>
                          <a:latin typeface="微软雅黑" panose="020B0503020204020204" pitchFamily="34" charset="-122"/>
                          <a:ea typeface="微软雅黑" panose="020B0503020204020204" pitchFamily="34" charset="-122"/>
                        </a:rPr>
                        <a:t>长度</a:t>
                      </a:r>
                      <a:endParaRPr lang="zh-CN" sz="24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solidFill>
                  </a:tcPr>
                </a:tc>
                <a:tc>
                  <a:txBody>
                    <a:bodyPr/>
                    <a:lstStyle/>
                    <a:p>
                      <a:pPr algn="just">
                        <a:buNone/>
                      </a:pPr>
                      <a:r>
                        <a:rPr lang="zh-CN" sz="2400" kern="100">
                          <a:solidFill>
                            <a:schemeClr val="tx1"/>
                          </a:solidFill>
                          <a:effectLst/>
                          <a:latin typeface="微软雅黑" panose="020B0503020204020204" pitchFamily="34" charset="-122"/>
                          <a:ea typeface="微软雅黑" panose="020B0503020204020204" pitchFamily="34" charset="-122"/>
                        </a:rPr>
                        <a:t>约束</a:t>
                      </a:r>
                      <a:endParaRPr lang="zh-CN" sz="2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solidFill>
                  </a:tcPr>
                </a:tc>
                <a:tc>
                  <a:txBody>
                    <a:bodyPr/>
                    <a:lstStyle/>
                    <a:p>
                      <a:pPr algn="just">
                        <a:buNone/>
                      </a:pPr>
                      <a:r>
                        <a:rPr lang="zh-CN" sz="2400" kern="100" dirty="0">
                          <a:solidFill>
                            <a:schemeClr val="tx1"/>
                          </a:solidFill>
                          <a:effectLst/>
                          <a:latin typeface="微软雅黑" panose="020B0503020204020204" pitchFamily="34" charset="-122"/>
                          <a:ea typeface="微软雅黑" panose="020B0503020204020204" pitchFamily="34" charset="-122"/>
                        </a:rPr>
                        <a:t>描述</a:t>
                      </a:r>
                      <a:endParaRPr lang="zh-CN" sz="24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solidFill>
                  </a:tcPr>
                </a:tc>
                <a:extLst>
                  <a:ext uri="{0D108BD9-81ED-4DB2-BD59-A6C34878D82A}">
                    <a16:rowId xmlns:a16="http://schemas.microsoft.com/office/drawing/2014/main" val="180055838"/>
                  </a:ext>
                </a:extLst>
              </a:tr>
              <a:tr h="374921">
                <a:tc>
                  <a:txBody>
                    <a:bodyPr/>
                    <a:lstStyle/>
                    <a:p>
                      <a:pPr algn="just">
                        <a:buNone/>
                      </a:pPr>
                      <a:r>
                        <a:rPr lang="en-US" sz="2000" kern="100" dirty="0">
                          <a:solidFill>
                            <a:schemeClr val="tx1"/>
                          </a:solidFill>
                          <a:effectLst/>
                          <a:latin typeface="微软雅黑" panose="020B0503020204020204" pitchFamily="34" charset="-122"/>
                          <a:ea typeface="微软雅黑" panose="020B0503020204020204" pitchFamily="34" charset="-122"/>
                        </a:rPr>
                        <a:t>id</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INT</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buNone/>
                      </a:pP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Primary Key</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just">
                        <a:buNone/>
                      </a:pPr>
                      <a:r>
                        <a:rPr lang="zh-CN" sz="2000" kern="100" dirty="0">
                          <a:solidFill>
                            <a:schemeClr val="tx1"/>
                          </a:solidFill>
                          <a:effectLst/>
                          <a:latin typeface="微软雅黑" panose="020B0503020204020204" pitchFamily="34" charset="-122"/>
                          <a:ea typeface="微软雅黑" panose="020B0503020204020204" pitchFamily="34" charset="-122"/>
                        </a:rPr>
                        <a:t>唯一标识</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extLst>
                  <a:ext uri="{0D108BD9-81ED-4DB2-BD59-A6C34878D82A}">
                    <a16:rowId xmlns:a16="http://schemas.microsoft.com/office/drawing/2014/main" val="2583542477"/>
                  </a:ext>
                </a:extLst>
              </a:tr>
              <a:tr h="749842">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file_name</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tc>
                  <a:txBody>
                    <a:bodyPr/>
                    <a:lstStyle/>
                    <a:p>
                      <a:pPr algn="just">
                        <a:buNone/>
                      </a:pPr>
                      <a:r>
                        <a:rPr lang="en-US" sz="2000" kern="100" dirty="0">
                          <a:solidFill>
                            <a:schemeClr val="tx1"/>
                          </a:solidFill>
                          <a:effectLst/>
                          <a:latin typeface="微软雅黑" panose="020B0503020204020204" pitchFamily="34" charset="-122"/>
                          <a:ea typeface="微软雅黑" panose="020B0503020204020204" pitchFamily="34" charset="-122"/>
                        </a:rPr>
                        <a:t>VARCHAR</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255</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tc>
                  <a:txBody>
                    <a:bodyPr/>
                    <a:lstStyle/>
                    <a:p>
                      <a:pPr algn="just">
                        <a:buNone/>
                      </a:pPr>
                      <a:r>
                        <a:rPr lang="en-US" sz="2000" kern="100" dirty="0">
                          <a:solidFill>
                            <a:schemeClr val="tx1"/>
                          </a:solidFill>
                          <a:effectLst/>
                          <a:latin typeface="微软雅黑" panose="020B0503020204020204" pitchFamily="34" charset="-122"/>
                          <a:ea typeface="微软雅黑" panose="020B0503020204020204" pitchFamily="34" charset="-122"/>
                        </a:rPr>
                        <a:t>NOT NULL</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tc>
                  <a:txBody>
                    <a:bodyPr/>
                    <a:lstStyle/>
                    <a:p>
                      <a:pPr algn="just">
                        <a:buNone/>
                      </a:pPr>
                      <a:r>
                        <a:rPr lang="zh-CN" sz="2000" kern="100" dirty="0">
                          <a:solidFill>
                            <a:schemeClr val="tx1"/>
                          </a:solidFill>
                          <a:effectLst/>
                          <a:latin typeface="微软雅黑" panose="020B0503020204020204" pitchFamily="34" charset="-122"/>
                          <a:ea typeface="微软雅黑" panose="020B0503020204020204" pitchFamily="34" charset="-122"/>
                        </a:rPr>
                        <a:t>物理文件名（如</a:t>
                      </a:r>
                      <a:r>
                        <a:rPr lang="en-US" sz="2000" kern="100" dirty="0">
                          <a:solidFill>
                            <a:schemeClr val="tx1"/>
                          </a:solidFill>
                          <a:effectLst/>
                          <a:latin typeface="微软雅黑" panose="020B0503020204020204" pitchFamily="34" charset="-122"/>
                          <a:ea typeface="微软雅黑" panose="020B0503020204020204" pitchFamily="34" charset="-122"/>
                        </a:rPr>
                        <a:t> VHHH-Mar-24-2026.mp3</a:t>
                      </a:r>
                      <a:r>
                        <a:rPr lang="zh-CN" sz="2000" kern="100" dirty="0">
                          <a:solidFill>
                            <a:schemeClr val="tx1"/>
                          </a:solidFill>
                          <a:effectLst/>
                          <a:latin typeface="微软雅黑" panose="020B0503020204020204" pitchFamily="34" charset="-122"/>
                          <a:ea typeface="微软雅黑" panose="020B0503020204020204" pitchFamily="34" charset="-122"/>
                        </a:rPr>
                        <a:t>）</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extLst>
                  <a:ext uri="{0D108BD9-81ED-4DB2-BD59-A6C34878D82A}">
                    <a16:rowId xmlns:a16="http://schemas.microsoft.com/office/drawing/2014/main" val="1566350421"/>
                  </a:ext>
                </a:extLst>
              </a:tr>
              <a:tr h="374921">
                <a:tc>
                  <a:txBody>
                    <a:bodyPr/>
                    <a:lstStyle/>
                    <a:p>
                      <a:pPr algn="just">
                        <a:buNone/>
                      </a:pPr>
                      <a:r>
                        <a:rPr lang="en-US" sz="2000" kern="100" dirty="0" err="1">
                          <a:solidFill>
                            <a:schemeClr val="tx1"/>
                          </a:solidFill>
                          <a:effectLst/>
                          <a:latin typeface="微软雅黑" panose="020B0503020204020204" pitchFamily="34" charset="-122"/>
                          <a:ea typeface="微软雅黑" panose="020B0503020204020204" pitchFamily="34" charset="-122"/>
                        </a:rPr>
                        <a:t>file_path</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VARCHAR</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512</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NOT NULL</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just">
                        <a:buNone/>
                      </a:pPr>
                      <a:r>
                        <a:rPr lang="zh-CN" sz="2000" kern="100" dirty="0">
                          <a:solidFill>
                            <a:schemeClr val="tx1"/>
                          </a:solidFill>
                          <a:effectLst/>
                          <a:latin typeface="微软雅黑" panose="020B0503020204020204" pitchFamily="34" charset="-122"/>
                          <a:ea typeface="微软雅黑" panose="020B0503020204020204" pitchFamily="34" charset="-122"/>
                        </a:rPr>
                        <a:t>磁盘存储相对路径</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extLst>
                  <a:ext uri="{0D108BD9-81ED-4DB2-BD59-A6C34878D82A}">
                    <a16:rowId xmlns:a16="http://schemas.microsoft.com/office/drawing/2014/main" val="3914378152"/>
                  </a:ext>
                </a:extLst>
              </a:tr>
              <a:tr h="749842">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icao_code</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VARCHAR</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10</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DEFAULT 'VHHH'</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tc>
                  <a:txBody>
                    <a:bodyPr/>
                    <a:lstStyle/>
                    <a:p>
                      <a:pPr algn="just">
                        <a:buNone/>
                      </a:pPr>
                      <a:r>
                        <a:rPr lang="zh-CN" sz="2000" kern="100" dirty="0">
                          <a:solidFill>
                            <a:schemeClr val="tx1"/>
                          </a:solidFill>
                          <a:effectLst/>
                          <a:latin typeface="微软雅黑" panose="020B0503020204020204" pitchFamily="34" charset="-122"/>
                          <a:ea typeface="微软雅黑" panose="020B0503020204020204" pitchFamily="34" charset="-122"/>
                        </a:rPr>
                        <a:t>关联机场代码（本项目中唯一，因此可选）</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extLst>
                  <a:ext uri="{0D108BD9-81ED-4DB2-BD59-A6C34878D82A}">
                    <a16:rowId xmlns:a16="http://schemas.microsoft.com/office/drawing/2014/main" val="1177177223"/>
                  </a:ext>
                </a:extLst>
              </a:tr>
              <a:tr h="374921">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start_time_utc</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TIMESTAMP</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buNone/>
                      </a:pP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NOT NULL</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just">
                        <a:buNone/>
                      </a:pPr>
                      <a:r>
                        <a:rPr lang="zh-CN" sz="2000" kern="100" dirty="0">
                          <a:solidFill>
                            <a:schemeClr val="tx1"/>
                          </a:solidFill>
                          <a:effectLst/>
                          <a:latin typeface="微软雅黑" panose="020B0503020204020204" pitchFamily="34" charset="-122"/>
                          <a:ea typeface="微软雅黑" panose="020B0503020204020204" pitchFamily="34" charset="-122"/>
                        </a:rPr>
                        <a:t>录音起始绝对</a:t>
                      </a:r>
                      <a:r>
                        <a:rPr lang="en-US" sz="2000" kern="100" dirty="0">
                          <a:solidFill>
                            <a:schemeClr val="tx1"/>
                          </a:solidFill>
                          <a:effectLst/>
                          <a:latin typeface="微软雅黑" panose="020B0503020204020204" pitchFamily="34" charset="-122"/>
                          <a:ea typeface="微软雅黑" panose="020B0503020204020204" pitchFamily="34" charset="-122"/>
                        </a:rPr>
                        <a:t>UTC</a:t>
                      </a:r>
                      <a:r>
                        <a:rPr lang="zh-CN" sz="2000" kern="100" dirty="0">
                          <a:solidFill>
                            <a:schemeClr val="tx1"/>
                          </a:solidFill>
                          <a:effectLst/>
                          <a:latin typeface="微软雅黑" panose="020B0503020204020204" pitchFamily="34" charset="-122"/>
                          <a:ea typeface="微软雅黑" panose="020B0503020204020204" pitchFamily="34" charset="-122"/>
                        </a:rPr>
                        <a:t>时间</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extLst>
                  <a:ext uri="{0D108BD9-81ED-4DB2-BD59-A6C34878D82A}">
                    <a16:rowId xmlns:a16="http://schemas.microsoft.com/office/drawing/2014/main" val="3661127387"/>
                  </a:ext>
                </a:extLst>
              </a:tr>
              <a:tr h="374921">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end_time_utc</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TIMESTAMP</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tc>
                  <a:txBody>
                    <a:bodyPr/>
                    <a:lstStyle/>
                    <a:p>
                      <a:pPr>
                        <a:buNone/>
                      </a:pP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NOT NULL</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tc>
                  <a:txBody>
                    <a:bodyPr/>
                    <a:lstStyle/>
                    <a:p>
                      <a:pPr algn="just">
                        <a:buNone/>
                      </a:pPr>
                      <a:r>
                        <a:rPr lang="zh-CN" sz="2000" kern="100" dirty="0">
                          <a:solidFill>
                            <a:schemeClr val="tx1"/>
                          </a:solidFill>
                          <a:effectLst/>
                          <a:latin typeface="微软雅黑" panose="020B0503020204020204" pitchFamily="34" charset="-122"/>
                          <a:ea typeface="微软雅黑" panose="020B0503020204020204" pitchFamily="34" charset="-122"/>
                        </a:rPr>
                        <a:t>录音结束绝对</a:t>
                      </a:r>
                      <a:r>
                        <a:rPr lang="en-US" sz="2000" kern="100" dirty="0">
                          <a:solidFill>
                            <a:schemeClr val="tx1"/>
                          </a:solidFill>
                          <a:effectLst/>
                          <a:latin typeface="微软雅黑" panose="020B0503020204020204" pitchFamily="34" charset="-122"/>
                          <a:ea typeface="微软雅黑" panose="020B0503020204020204" pitchFamily="34" charset="-122"/>
                        </a:rPr>
                        <a:t>UTC</a:t>
                      </a:r>
                      <a:r>
                        <a:rPr lang="zh-CN" sz="2000" kern="100" dirty="0">
                          <a:solidFill>
                            <a:schemeClr val="tx1"/>
                          </a:solidFill>
                          <a:effectLst/>
                          <a:latin typeface="微软雅黑" panose="020B0503020204020204" pitchFamily="34" charset="-122"/>
                          <a:ea typeface="微软雅黑" panose="020B0503020204020204" pitchFamily="34" charset="-122"/>
                        </a:rPr>
                        <a:t>时间</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extLst>
                  <a:ext uri="{0D108BD9-81ED-4DB2-BD59-A6C34878D82A}">
                    <a16:rowId xmlns:a16="http://schemas.microsoft.com/office/drawing/2014/main" val="4246757843"/>
                  </a:ext>
                </a:extLst>
              </a:tr>
              <a:tr h="374921">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file_size</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BIGINT</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buNone/>
                      </a:pP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buNone/>
                      </a:pP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just">
                        <a:buNone/>
                      </a:pPr>
                      <a:r>
                        <a:rPr lang="zh-CN" sz="2000" kern="100" dirty="0">
                          <a:solidFill>
                            <a:schemeClr val="tx1"/>
                          </a:solidFill>
                          <a:effectLst/>
                          <a:latin typeface="微软雅黑" panose="020B0503020204020204" pitchFamily="34" charset="-122"/>
                          <a:ea typeface="微软雅黑" panose="020B0503020204020204" pitchFamily="34" charset="-122"/>
                        </a:rPr>
                        <a:t>文件大小（</a:t>
                      </a:r>
                      <a:r>
                        <a:rPr lang="en-US" sz="2000" kern="100" dirty="0">
                          <a:solidFill>
                            <a:schemeClr val="tx1"/>
                          </a:solidFill>
                          <a:effectLst/>
                          <a:latin typeface="微软雅黑" panose="020B0503020204020204" pitchFamily="34" charset="-122"/>
                          <a:ea typeface="微软雅黑" panose="020B0503020204020204" pitchFamily="34" charset="-122"/>
                        </a:rPr>
                        <a:t>Bytes</a:t>
                      </a:r>
                      <a:r>
                        <a:rPr lang="zh-CN" sz="2000" kern="100" dirty="0">
                          <a:solidFill>
                            <a:schemeClr val="tx1"/>
                          </a:solidFill>
                          <a:effectLst/>
                          <a:latin typeface="微软雅黑" panose="020B0503020204020204" pitchFamily="34" charset="-122"/>
                          <a:ea typeface="微软雅黑" panose="020B0503020204020204" pitchFamily="34" charset="-122"/>
                        </a:rPr>
                        <a:t>）</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extLst>
                  <a:ext uri="{0D108BD9-81ED-4DB2-BD59-A6C34878D82A}">
                    <a16:rowId xmlns:a16="http://schemas.microsoft.com/office/drawing/2014/main" val="2066856187"/>
                  </a:ext>
                </a:extLst>
              </a:tr>
              <a:tr h="374921">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source_url</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VARCHAR</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512</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tc>
                  <a:txBody>
                    <a:bodyPr/>
                    <a:lstStyle/>
                    <a:p>
                      <a:pPr>
                        <a:buNone/>
                      </a:pP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tc>
                  <a:txBody>
                    <a:bodyPr/>
                    <a:lstStyle/>
                    <a:p>
                      <a:pPr algn="just">
                        <a:buNone/>
                      </a:pPr>
                      <a:r>
                        <a:rPr lang="zh-CN" sz="2000" kern="100" dirty="0">
                          <a:solidFill>
                            <a:schemeClr val="tx1"/>
                          </a:solidFill>
                          <a:effectLst/>
                          <a:latin typeface="微软雅黑" panose="020B0503020204020204" pitchFamily="34" charset="-122"/>
                          <a:ea typeface="微软雅黑" panose="020B0503020204020204" pitchFamily="34" charset="-122"/>
                        </a:rPr>
                        <a:t>来源</a:t>
                      </a:r>
                      <a:r>
                        <a:rPr lang="en-US" sz="2000" kern="100" dirty="0">
                          <a:solidFill>
                            <a:schemeClr val="tx1"/>
                          </a:solidFill>
                          <a:effectLst/>
                          <a:latin typeface="微软雅黑" panose="020B0503020204020204" pitchFamily="34" charset="-122"/>
                          <a:ea typeface="微软雅黑" panose="020B0503020204020204" pitchFamily="34" charset="-122"/>
                        </a:rPr>
                        <a:t>URL (</a:t>
                      </a:r>
                      <a:r>
                        <a:rPr lang="en-US" sz="2000" kern="100" dirty="0" err="1">
                          <a:solidFill>
                            <a:schemeClr val="tx1"/>
                          </a:solidFill>
                          <a:effectLst/>
                          <a:latin typeface="微软雅黑" panose="020B0503020204020204" pitchFamily="34" charset="-122"/>
                          <a:ea typeface="微软雅黑" panose="020B0503020204020204" pitchFamily="34" charset="-122"/>
                        </a:rPr>
                        <a:t>LiveATC</a:t>
                      </a:r>
                      <a:r>
                        <a:rPr lang="en-US" sz="2000" kern="100" dirty="0">
                          <a:solidFill>
                            <a:schemeClr val="tx1"/>
                          </a:solidFill>
                          <a:effectLst/>
                          <a:latin typeface="微软雅黑" panose="020B0503020204020204" pitchFamily="34" charset="-122"/>
                          <a:ea typeface="微软雅黑" panose="020B0503020204020204" pitchFamily="34" charset="-122"/>
                        </a:rPr>
                        <a:t>)</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extLst>
                  <a:ext uri="{0D108BD9-81ED-4DB2-BD59-A6C34878D82A}">
                    <a16:rowId xmlns:a16="http://schemas.microsoft.com/office/drawing/2014/main" val="3129548813"/>
                  </a:ext>
                </a:extLst>
              </a:tr>
              <a:tr h="749842">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status</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SMALLINT</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buNone/>
                      </a:pP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DEFAULT 0</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just">
                        <a:buNone/>
                      </a:pPr>
                      <a:r>
                        <a:rPr lang="en-US" sz="2000" kern="100" dirty="0">
                          <a:solidFill>
                            <a:schemeClr val="tx1"/>
                          </a:solidFill>
                          <a:effectLst/>
                          <a:latin typeface="微软雅黑" panose="020B0503020204020204" pitchFamily="34" charset="-122"/>
                          <a:ea typeface="微软雅黑" panose="020B0503020204020204" pitchFamily="34" charset="-122"/>
                        </a:rPr>
                        <a:t>0:</a:t>
                      </a:r>
                      <a:r>
                        <a:rPr lang="zh-CN" sz="2000" kern="100" dirty="0">
                          <a:solidFill>
                            <a:schemeClr val="tx1"/>
                          </a:solidFill>
                          <a:effectLst/>
                          <a:latin typeface="微软雅黑" panose="020B0503020204020204" pitchFamily="34" charset="-122"/>
                          <a:ea typeface="微软雅黑" panose="020B0503020204020204" pitchFamily="34" charset="-122"/>
                        </a:rPr>
                        <a:t>下载中</a:t>
                      </a:r>
                      <a:r>
                        <a:rPr lang="en-US" sz="2000" kern="100" dirty="0">
                          <a:solidFill>
                            <a:schemeClr val="tx1"/>
                          </a:solidFill>
                          <a:effectLst/>
                          <a:latin typeface="微软雅黑" panose="020B0503020204020204" pitchFamily="34" charset="-122"/>
                          <a:ea typeface="微软雅黑" panose="020B0503020204020204" pitchFamily="34" charset="-122"/>
                        </a:rPr>
                        <a:t>, 1:</a:t>
                      </a:r>
                      <a:r>
                        <a:rPr lang="zh-CN" sz="2000" kern="100" dirty="0">
                          <a:solidFill>
                            <a:schemeClr val="tx1"/>
                          </a:solidFill>
                          <a:effectLst/>
                          <a:latin typeface="微软雅黑" panose="020B0503020204020204" pitchFamily="34" charset="-122"/>
                          <a:ea typeface="微软雅黑" panose="020B0503020204020204" pitchFamily="34" charset="-122"/>
                        </a:rPr>
                        <a:t>就绪</a:t>
                      </a:r>
                      <a:r>
                        <a:rPr lang="en-US" sz="2000" kern="100" dirty="0">
                          <a:solidFill>
                            <a:schemeClr val="tx1"/>
                          </a:solidFill>
                          <a:effectLst/>
                          <a:latin typeface="微软雅黑" panose="020B0503020204020204" pitchFamily="34" charset="-122"/>
                          <a:ea typeface="微软雅黑" panose="020B0503020204020204" pitchFamily="34" charset="-122"/>
                        </a:rPr>
                        <a:t>, 2:</a:t>
                      </a:r>
                      <a:r>
                        <a:rPr lang="zh-CN" sz="2000" kern="100" dirty="0">
                          <a:solidFill>
                            <a:schemeClr val="tx1"/>
                          </a:solidFill>
                          <a:effectLst/>
                          <a:latin typeface="微软雅黑" panose="020B0503020204020204" pitchFamily="34" charset="-122"/>
                          <a:ea typeface="微软雅黑" panose="020B0503020204020204" pitchFamily="34" charset="-122"/>
                        </a:rPr>
                        <a:t>待清理</a:t>
                      </a:r>
                      <a:r>
                        <a:rPr lang="en-US" sz="2000" kern="100" dirty="0">
                          <a:solidFill>
                            <a:schemeClr val="tx1"/>
                          </a:solidFill>
                          <a:effectLst/>
                          <a:latin typeface="微软雅黑" panose="020B0503020204020204" pitchFamily="34" charset="-122"/>
                          <a:ea typeface="微软雅黑" panose="020B0503020204020204" pitchFamily="34" charset="-122"/>
                        </a:rPr>
                        <a:t>, 3:</a:t>
                      </a:r>
                      <a:r>
                        <a:rPr lang="zh-CN" sz="2000" kern="100" dirty="0">
                          <a:solidFill>
                            <a:schemeClr val="tx1"/>
                          </a:solidFill>
                          <a:effectLst/>
                          <a:latin typeface="微软雅黑" panose="020B0503020204020204" pitchFamily="34" charset="-122"/>
                          <a:ea typeface="微软雅黑" panose="020B0503020204020204" pitchFamily="34" charset="-122"/>
                        </a:rPr>
                        <a:t>已清理</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extLst>
                  <a:ext uri="{0D108BD9-81ED-4DB2-BD59-A6C34878D82A}">
                    <a16:rowId xmlns:a16="http://schemas.microsoft.com/office/drawing/2014/main" val="448526321"/>
                  </a:ext>
                </a:extLst>
              </a:tr>
              <a:tr h="749842">
                <a:tc>
                  <a:txBody>
                    <a:bodyPr/>
                    <a:lstStyle/>
                    <a:p>
                      <a:pPr algn="just">
                        <a:buNone/>
                      </a:pPr>
                      <a:r>
                        <a:rPr lang="en-US" sz="2000" kern="100" dirty="0" err="1">
                          <a:solidFill>
                            <a:schemeClr val="tx1"/>
                          </a:solidFill>
                          <a:effectLst/>
                          <a:latin typeface="微软雅黑" panose="020B0503020204020204" pitchFamily="34" charset="-122"/>
                          <a:ea typeface="微软雅黑" panose="020B0503020204020204" pitchFamily="34" charset="-122"/>
                        </a:rPr>
                        <a:t>last_access_at</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TIMESTAMP</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tc>
                  <a:txBody>
                    <a:bodyPr/>
                    <a:lstStyle/>
                    <a:p>
                      <a:pPr>
                        <a:buNone/>
                      </a:pP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tc>
                  <a:txBody>
                    <a:bodyPr/>
                    <a:lstStyle/>
                    <a:p>
                      <a:pPr>
                        <a:buNone/>
                      </a:pP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tc>
                  <a:txBody>
                    <a:bodyPr/>
                    <a:lstStyle/>
                    <a:p>
                      <a:pPr algn="just">
                        <a:buNone/>
                      </a:pPr>
                      <a:r>
                        <a:rPr lang="zh-CN" sz="2000" kern="100" dirty="0">
                          <a:solidFill>
                            <a:schemeClr val="tx1"/>
                          </a:solidFill>
                          <a:effectLst/>
                          <a:latin typeface="微软雅黑" panose="020B0503020204020204" pitchFamily="34" charset="-122"/>
                          <a:ea typeface="微软雅黑" panose="020B0503020204020204" pitchFamily="34" charset="-122"/>
                        </a:rPr>
                        <a:t>最近访问时间（供</a:t>
                      </a:r>
                      <a:r>
                        <a:rPr lang="en-US" sz="2000" kern="100" dirty="0">
                          <a:solidFill>
                            <a:schemeClr val="tx1"/>
                          </a:solidFill>
                          <a:effectLst/>
                          <a:latin typeface="微软雅黑" panose="020B0503020204020204" pitchFamily="34" charset="-122"/>
                          <a:ea typeface="微软雅黑" panose="020B0503020204020204" pitchFamily="34" charset="-122"/>
                        </a:rPr>
                        <a:t>LRU</a:t>
                      </a:r>
                      <a:r>
                        <a:rPr lang="zh-CN" sz="2000" kern="100" dirty="0">
                          <a:solidFill>
                            <a:schemeClr val="tx1"/>
                          </a:solidFill>
                          <a:effectLst/>
                          <a:latin typeface="微软雅黑" panose="020B0503020204020204" pitchFamily="34" charset="-122"/>
                          <a:ea typeface="微软雅黑" panose="020B0503020204020204" pitchFamily="34" charset="-122"/>
                        </a:rPr>
                        <a:t>淘汰使用）</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extLst>
                  <a:ext uri="{0D108BD9-81ED-4DB2-BD59-A6C34878D82A}">
                    <a16:rowId xmlns:a16="http://schemas.microsoft.com/office/drawing/2014/main" val="3795783788"/>
                  </a:ext>
                </a:extLst>
              </a:tr>
            </a:tbl>
          </a:graphicData>
        </a:graphic>
      </p:graphicFrame>
    </p:spTree>
    <p:extLst>
      <p:ext uri="{BB962C8B-B14F-4D97-AF65-F5344CB8AC3E}">
        <p14:creationId xmlns:p14="http://schemas.microsoft.com/office/powerpoint/2010/main" val="133144487"/>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060C3-43B1-5EE0-81C3-284C346183CA}"/>
            </a:ext>
          </a:extLst>
        </p:cNvPr>
        <p:cNvGrpSpPr/>
        <p:nvPr/>
      </p:nvGrpSpPr>
      <p:grpSpPr>
        <a:xfrm>
          <a:off x="0" y="0"/>
          <a:ext cx="0" cy="0"/>
          <a:chOff x="0" y="0"/>
          <a:chExt cx="0" cy="0"/>
        </a:xfrm>
      </p:grpSpPr>
      <p:sp>
        <p:nvSpPr>
          <p:cNvPr id="1048764" name="矩形 24">
            <a:extLst>
              <a:ext uri="{FF2B5EF4-FFF2-40B4-BE49-F238E27FC236}">
                <a16:creationId xmlns:a16="http://schemas.microsoft.com/office/drawing/2014/main" id="{27AA13BF-C935-0F5C-EDBE-4C59FF989083}"/>
              </a:ext>
            </a:extLst>
          </p:cNvPr>
          <p:cNvSpPr/>
          <p:nvPr/>
        </p:nvSpPr>
        <p:spPr>
          <a:xfrm>
            <a:off x="955407" y="1896721"/>
            <a:ext cx="1467069" cy="400110"/>
          </a:xfrm>
          <a:prstGeom prst="rect">
            <a:avLst/>
          </a:prstGeom>
        </p:spPr>
        <p:txBody>
          <a:bodyPr wrap="none">
            <a:sp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rPr>
              <a:t>模块负责人</a:t>
            </a:r>
          </a:p>
        </p:txBody>
      </p:sp>
      <p:sp>
        <p:nvSpPr>
          <p:cNvPr id="1048765" name="TextBox 11">
            <a:extLst>
              <a:ext uri="{FF2B5EF4-FFF2-40B4-BE49-F238E27FC236}">
                <a16:creationId xmlns:a16="http://schemas.microsoft.com/office/drawing/2014/main" id="{DE827CB6-7915-576D-368E-1358A9E80B46}"/>
              </a:ext>
            </a:extLst>
          </p:cNvPr>
          <p:cNvSpPr txBox="1"/>
          <p:nvPr/>
        </p:nvSpPr>
        <p:spPr>
          <a:xfrm>
            <a:off x="335447" y="152331"/>
            <a:ext cx="10514668" cy="584800"/>
          </a:xfrm>
          <a:prstGeom prst="rect">
            <a:avLst/>
          </a:prstGeom>
          <a:noFill/>
        </p:spPr>
        <p:txBody>
          <a:bodyPr wrap="square" lIns="121944" tIns="60972" rIns="121944" bIns="60972" rtlCol="0">
            <a:spAutoFit/>
          </a:bodyPr>
          <a:lstStyle/>
          <a:p>
            <a:r>
              <a:rPr lang="zh-CN" altLang="en-US" sz="3000" b="1" dirty="0">
                <a:solidFill>
                  <a:schemeClr val="bg1"/>
                </a:solidFill>
                <a:latin typeface="微软雅黑" panose="020B0503020204020204" pitchFamily="34" charset="-122"/>
                <a:ea typeface="微软雅黑" panose="020B0503020204020204" pitchFamily="34" charset="-122"/>
              </a:rPr>
              <a:t>数据库物理设计</a:t>
            </a:r>
            <a:r>
              <a:rPr lang="en-US" altLang="zh-CN" sz="3000" b="1" dirty="0">
                <a:solidFill>
                  <a:schemeClr val="bg1"/>
                </a:solidFill>
                <a:latin typeface="微软雅黑" panose="020B0503020204020204" pitchFamily="34" charset="-122"/>
                <a:ea typeface="微软雅黑" panose="020B0503020204020204" pitchFamily="34" charset="-122"/>
              </a:rPr>
              <a:t>——</a:t>
            </a:r>
            <a:r>
              <a:rPr lang="zh-CN" altLang="en-US" sz="3000" b="1" dirty="0">
                <a:solidFill>
                  <a:schemeClr val="bg1"/>
                </a:solidFill>
                <a:latin typeface="微软雅黑" panose="020B0503020204020204" pitchFamily="34" charset="-122"/>
                <a:ea typeface="微软雅黑" panose="020B0503020204020204" pitchFamily="34" charset="-122"/>
              </a:rPr>
              <a:t>原始语音文件表（</a:t>
            </a:r>
            <a:r>
              <a:rPr lang="en-US" altLang="zh-CN" sz="3000" b="1" dirty="0">
                <a:solidFill>
                  <a:schemeClr val="bg1"/>
                </a:solidFill>
                <a:latin typeface="微软雅黑" panose="020B0503020204020204" pitchFamily="34" charset="-122"/>
                <a:ea typeface="微软雅黑" panose="020B0503020204020204" pitchFamily="34" charset="-122"/>
              </a:rPr>
              <a:t>t_a2_voice_files</a:t>
            </a:r>
            <a:r>
              <a:rPr lang="zh-CN" altLang="en-US" sz="3000" b="1" dirty="0">
                <a:solidFill>
                  <a:schemeClr val="bg1"/>
                </a:solidFill>
                <a:latin typeface="微软雅黑" panose="020B0503020204020204" pitchFamily="34" charset="-122"/>
                <a:ea typeface="微软雅黑" panose="020B0503020204020204" pitchFamily="34" charset="-122"/>
              </a:rPr>
              <a:t>）</a:t>
            </a:r>
          </a:p>
        </p:txBody>
      </p:sp>
      <p:sp>
        <p:nvSpPr>
          <p:cNvPr id="6" name="矩形 24">
            <a:extLst>
              <a:ext uri="{FF2B5EF4-FFF2-40B4-BE49-F238E27FC236}">
                <a16:creationId xmlns:a16="http://schemas.microsoft.com/office/drawing/2014/main" id="{A8B272F2-E0B7-8B3F-A745-6B580C83CBBC}"/>
              </a:ext>
            </a:extLst>
          </p:cNvPr>
          <p:cNvSpPr/>
          <p:nvPr/>
        </p:nvSpPr>
        <p:spPr>
          <a:xfrm>
            <a:off x="719977" y="4988437"/>
            <a:ext cx="1980029" cy="707886"/>
          </a:xfrm>
          <a:prstGeom prst="rect">
            <a:avLst/>
          </a:prstGeom>
        </p:spPr>
        <p:txBody>
          <a:bodyPr wrap="none">
            <a:spAutoFit/>
          </a:bodyPr>
          <a:lstStyle/>
          <a:p>
            <a:pPr algn="ctr"/>
            <a:r>
              <a:rPr lang="en-US" altLang="zh-CN" sz="2000" dirty="0">
                <a:solidFill>
                  <a:schemeClr val="bg1"/>
                </a:solidFill>
                <a:latin typeface="微软雅黑" panose="020B0503020204020204" pitchFamily="34" charset="-122"/>
                <a:ea typeface="微软雅黑" panose="020B0503020204020204" pitchFamily="34" charset="-122"/>
              </a:rPr>
              <a:t>API</a:t>
            </a:r>
            <a:r>
              <a:rPr lang="zh-CN" altLang="en-US" sz="2000" dirty="0">
                <a:solidFill>
                  <a:schemeClr val="bg1"/>
                </a:solidFill>
                <a:latin typeface="微软雅黑" panose="020B0503020204020204" pitchFamily="34" charset="-122"/>
                <a:ea typeface="微软雅黑" panose="020B0503020204020204" pitchFamily="34" charset="-122"/>
              </a:rPr>
              <a:t>集成与</a:t>
            </a:r>
            <a:endParaRPr lang="en-US" altLang="zh-CN" sz="2000" dirty="0">
              <a:solidFill>
                <a:schemeClr val="bg1"/>
              </a:solidFill>
              <a:latin typeface="微软雅黑" panose="020B0503020204020204" pitchFamily="34" charset="-122"/>
              <a:ea typeface="微软雅黑" panose="020B0503020204020204" pitchFamily="34" charset="-122"/>
            </a:endParaRPr>
          </a:p>
          <a:p>
            <a:pPr algn="ctr"/>
            <a:r>
              <a:rPr lang="zh-CN" altLang="en-US" sz="2000" dirty="0">
                <a:solidFill>
                  <a:schemeClr val="bg1"/>
                </a:solidFill>
                <a:latin typeface="微软雅黑" panose="020B0503020204020204" pitchFamily="34" charset="-122"/>
                <a:ea typeface="微软雅黑" panose="020B0503020204020204" pitchFamily="34" charset="-122"/>
              </a:rPr>
              <a:t>数据处理工程师</a:t>
            </a:r>
          </a:p>
        </p:txBody>
      </p:sp>
      <p:sp>
        <p:nvSpPr>
          <p:cNvPr id="3" name="矩形: 圆角 2">
            <a:extLst>
              <a:ext uri="{FF2B5EF4-FFF2-40B4-BE49-F238E27FC236}">
                <a16:creationId xmlns:a16="http://schemas.microsoft.com/office/drawing/2014/main" id="{DE1796BB-0BAA-2392-8430-A3FE5BDC641D}"/>
              </a:ext>
            </a:extLst>
          </p:cNvPr>
          <p:cNvSpPr/>
          <p:nvPr/>
        </p:nvSpPr>
        <p:spPr>
          <a:xfrm>
            <a:off x="841003" y="1053530"/>
            <a:ext cx="10657184" cy="5328592"/>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endParaRPr>
          </a:p>
        </p:txBody>
      </p:sp>
      <p:sp>
        <p:nvSpPr>
          <p:cNvPr id="4" name="矩形 1">
            <a:extLst>
              <a:ext uri="{FF2B5EF4-FFF2-40B4-BE49-F238E27FC236}">
                <a16:creationId xmlns:a16="http://schemas.microsoft.com/office/drawing/2014/main" id="{FBA7B5D3-477A-7438-8238-BFDE5FC26585}"/>
              </a:ext>
            </a:extLst>
          </p:cNvPr>
          <p:cNvSpPr/>
          <p:nvPr/>
        </p:nvSpPr>
        <p:spPr>
          <a:xfrm>
            <a:off x="1108764" y="1302859"/>
            <a:ext cx="10209403" cy="4832092"/>
          </a:xfrm>
          <a:prstGeom prst="rect">
            <a:avLst/>
          </a:prstGeom>
        </p:spPr>
        <p:txBody>
          <a:bodyPr wrap="square">
            <a:spAutoFit/>
          </a:bodyPr>
          <a:lstStyle/>
          <a:p>
            <a:r>
              <a:rPr lang="en-US" altLang="zh-CN" dirty="0"/>
              <a:t>CREATE TABLE t_a2_voice_files (</a:t>
            </a:r>
            <a:endParaRPr lang="zh-CN" altLang="zh-CN" dirty="0"/>
          </a:p>
          <a:p>
            <a:r>
              <a:rPr lang="en-US" altLang="zh-CN" dirty="0"/>
              <a:t>    id SERIAL PRIMARY KEY,</a:t>
            </a:r>
            <a:endParaRPr lang="zh-CN" altLang="zh-CN" dirty="0"/>
          </a:p>
          <a:p>
            <a:r>
              <a:rPr lang="en-US" altLang="zh-CN" dirty="0"/>
              <a:t>    </a:t>
            </a:r>
            <a:r>
              <a:rPr lang="en-US" altLang="zh-CN" dirty="0" err="1"/>
              <a:t>file_name</a:t>
            </a:r>
            <a:r>
              <a:rPr lang="en-US" altLang="zh-CN" dirty="0"/>
              <a:t> VARCHAR(255) NOT NULL,</a:t>
            </a:r>
            <a:endParaRPr lang="zh-CN" altLang="zh-CN" dirty="0"/>
          </a:p>
          <a:p>
            <a:r>
              <a:rPr lang="en-US" altLang="zh-CN" dirty="0"/>
              <a:t>    </a:t>
            </a:r>
            <a:r>
              <a:rPr lang="en-US" altLang="zh-CN" dirty="0" err="1"/>
              <a:t>file_path</a:t>
            </a:r>
            <a:r>
              <a:rPr lang="en-US" altLang="zh-CN" dirty="0"/>
              <a:t> VARCHAR(512) NOT NULL,</a:t>
            </a:r>
            <a:endParaRPr lang="zh-CN" altLang="zh-CN" dirty="0"/>
          </a:p>
          <a:p>
            <a:r>
              <a:rPr lang="en-US" altLang="zh-CN" dirty="0"/>
              <a:t>    </a:t>
            </a:r>
            <a:r>
              <a:rPr lang="en-US" altLang="zh-CN" dirty="0" err="1"/>
              <a:t>icao_code</a:t>
            </a:r>
            <a:r>
              <a:rPr lang="en-US" altLang="zh-CN" dirty="0"/>
              <a:t> VARCHAR(10) DEFAULT 'VHHH',</a:t>
            </a:r>
            <a:endParaRPr lang="zh-CN" altLang="zh-CN" dirty="0"/>
          </a:p>
          <a:p>
            <a:r>
              <a:rPr lang="en-US" altLang="zh-CN" dirty="0"/>
              <a:t>    </a:t>
            </a:r>
            <a:r>
              <a:rPr lang="en-US" altLang="zh-CN" dirty="0" err="1"/>
              <a:t>start_time_utc</a:t>
            </a:r>
            <a:r>
              <a:rPr lang="en-US" altLang="zh-CN" dirty="0"/>
              <a:t> TIMESTAMP NOT NULL,</a:t>
            </a:r>
            <a:endParaRPr lang="zh-CN" altLang="zh-CN" dirty="0"/>
          </a:p>
          <a:p>
            <a:r>
              <a:rPr lang="en-US" altLang="zh-CN" dirty="0"/>
              <a:t>    </a:t>
            </a:r>
            <a:r>
              <a:rPr lang="en-US" altLang="zh-CN" dirty="0" err="1"/>
              <a:t>end_time_utc</a:t>
            </a:r>
            <a:r>
              <a:rPr lang="en-US" altLang="zh-CN" dirty="0"/>
              <a:t> TIMESTAMP NOT NULL,</a:t>
            </a:r>
            <a:endParaRPr lang="zh-CN" altLang="zh-CN" dirty="0"/>
          </a:p>
          <a:p>
            <a:r>
              <a:rPr lang="en-US" altLang="zh-CN" dirty="0"/>
              <a:t>    </a:t>
            </a:r>
            <a:r>
              <a:rPr lang="en-US" altLang="zh-CN" dirty="0" err="1"/>
              <a:t>file_size</a:t>
            </a:r>
            <a:r>
              <a:rPr lang="en-US" altLang="zh-CN" dirty="0"/>
              <a:t> BIGINT,</a:t>
            </a:r>
            <a:endParaRPr lang="zh-CN" altLang="zh-CN" dirty="0"/>
          </a:p>
          <a:p>
            <a:r>
              <a:rPr lang="en-US" altLang="zh-CN" dirty="0"/>
              <a:t>    </a:t>
            </a:r>
            <a:r>
              <a:rPr lang="en-US" altLang="zh-CN" dirty="0" err="1"/>
              <a:t>source_url</a:t>
            </a:r>
            <a:r>
              <a:rPr lang="en-US" altLang="zh-CN" dirty="0"/>
              <a:t> VARCHAR(512),</a:t>
            </a:r>
            <a:endParaRPr lang="zh-CN" altLang="zh-CN" dirty="0"/>
          </a:p>
          <a:p>
            <a:r>
              <a:rPr lang="en-US" altLang="zh-CN" dirty="0"/>
              <a:t>    status SMALLINT DEFAULT 0,</a:t>
            </a:r>
            <a:endParaRPr lang="zh-CN" altLang="zh-CN" dirty="0"/>
          </a:p>
          <a:p>
            <a:r>
              <a:rPr lang="en-US" altLang="zh-CN" dirty="0"/>
              <a:t>    </a:t>
            </a:r>
            <a:r>
              <a:rPr lang="en-US" altLang="zh-CN" dirty="0" err="1"/>
              <a:t>last_access_at</a:t>
            </a:r>
            <a:r>
              <a:rPr lang="en-US" altLang="zh-CN" dirty="0"/>
              <a:t> TIMESTAMP DEFAULT CURRENT_TIMESTAMP,</a:t>
            </a:r>
            <a:endParaRPr lang="zh-CN" altLang="zh-CN" dirty="0"/>
          </a:p>
          <a:p>
            <a:r>
              <a:rPr lang="en-US" altLang="zh-CN" dirty="0"/>
              <a:t>    </a:t>
            </a:r>
            <a:r>
              <a:rPr lang="en-US" altLang="zh-CN" dirty="0" err="1"/>
              <a:t>created_at</a:t>
            </a:r>
            <a:r>
              <a:rPr lang="en-US" altLang="zh-CN" dirty="0"/>
              <a:t> TIMESTAMP DEFAULT CURRENT_TIMESTAMP</a:t>
            </a:r>
            <a:endParaRPr lang="zh-CN" altLang="zh-CN" dirty="0"/>
          </a:p>
          <a:p>
            <a:r>
              <a:rPr lang="en-US" altLang="zh-CN" dirty="0"/>
              <a:t>);</a:t>
            </a:r>
            <a:endParaRPr lang="zh-CN" altLang="zh-CN" dirty="0"/>
          </a:p>
          <a:p>
            <a:r>
              <a:rPr lang="en-US" altLang="zh-CN" dirty="0"/>
              <a:t>CREATE INDEX idx_a2_files_time ON t_a2_voice_files (</a:t>
            </a:r>
            <a:r>
              <a:rPr lang="en-US" altLang="zh-CN" dirty="0" err="1"/>
              <a:t>start_time_utc</a:t>
            </a:r>
            <a:r>
              <a:rPr lang="en-US" altLang="zh-CN" dirty="0"/>
              <a:t>, </a:t>
            </a:r>
            <a:r>
              <a:rPr lang="en-US" altLang="zh-CN" dirty="0" err="1"/>
              <a:t>end_time_utc</a:t>
            </a:r>
            <a:r>
              <a:rPr lang="en-US" altLang="zh-CN" dirty="0"/>
              <a:t>);</a:t>
            </a:r>
            <a:endParaRPr lang="zh-CN" altLang="zh-CN" dirty="0"/>
          </a:p>
        </p:txBody>
      </p:sp>
    </p:spTree>
    <p:extLst>
      <p:ext uri="{BB962C8B-B14F-4D97-AF65-F5344CB8AC3E}">
        <p14:creationId xmlns:p14="http://schemas.microsoft.com/office/powerpoint/2010/main" val="1481381028"/>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669EA-B353-C572-037C-E2398A194AF8}"/>
            </a:ext>
          </a:extLst>
        </p:cNvPr>
        <p:cNvGrpSpPr/>
        <p:nvPr/>
      </p:nvGrpSpPr>
      <p:grpSpPr>
        <a:xfrm>
          <a:off x="0" y="0"/>
          <a:ext cx="0" cy="0"/>
          <a:chOff x="0" y="0"/>
          <a:chExt cx="0" cy="0"/>
        </a:xfrm>
      </p:grpSpPr>
      <p:sp>
        <p:nvSpPr>
          <p:cNvPr id="1048765" name="TextBox 11">
            <a:extLst>
              <a:ext uri="{FF2B5EF4-FFF2-40B4-BE49-F238E27FC236}">
                <a16:creationId xmlns:a16="http://schemas.microsoft.com/office/drawing/2014/main" id="{EC387BFB-6F8D-5635-1244-FC17BF9ADA8C}"/>
              </a:ext>
            </a:extLst>
          </p:cNvPr>
          <p:cNvSpPr txBox="1"/>
          <p:nvPr/>
        </p:nvSpPr>
        <p:spPr>
          <a:xfrm>
            <a:off x="140993" y="152331"/>
            <a:ext cx="12026836" cy="584800"/>
          </a:xfrm>
          <a:prstGeom prst="rect">
            <a:avLst/>
          </a:prstGeom>
          <a:noFill/>
        </p:spPr>
        <p:txBody>
          <a:bodyPr wrap="square" lIns="121944" tIns="60972" rIns="121944" bIns="60972" rtlCol="0">
            <a:spAutoFit/>
          </a:bodyPr>
          <a:lstStyle/>
          <a:p>
            <a:r>
              <a:rPr lang="zh-CN" altLang="en-US" sz="3000" b="1" dirty="0">
                <a:solidFill>
                  <a:schemeClr val="bg1"/>
                </a:solidFill>
                <a:latin typeface="微软雅黑" panose="020B0503020204020204" pitchFamily="34" charset="-122"/>
                <a:ea typeface="微软雅黑" panose="020B0503020204020204" pitchFamily="34" charset="-122"/>
              </a:rPr>
              <a:t>数据库物理设计</a:t>
            </a:r>
            <a:r>
              <a:rPr lang="en-US" altLang="zh-CN" sz="3000" b="1" dirty="0">
                <a:solidFill>
                  <a:schemeClr val="bg1"/>
                </a:solidFill>
                <a:latin typeface="微软雅黑" panose="020B0503020204020204" pitchFamily="34" charset="-122"/>
                <a:ea typeface="微软雅黑" panose="020B0503020204020204" pitchFamily="34" charset="-122"/>
              </a:rPr>
              <a:t>——</a:t>
            </a:r>
            <a:r>
              <a:rPr lang="zh-CN" altLang="en-US" sz="3000" b="1" dirty="0">
                <a:solidFill>
                  <a:schemeClr val="bg1"/>
                </a:solidFill>
                <a:latin typeface="微软雅黑" panose="020B0503020204020204" pitchFamily="34" charset="-122"/>
                <a:ea typeface="微软雅黑" panose="020B0503020204020204" pitchFamily="34" charset="-122"/>
              </a:rPr>
              <a:t>语音切片与</a:t>
            </a:r>
            <a:r>
              <a:rPr lang="en-US" altLang="zh-CN" sz="3000" b="1" dirty="0">
                <a:solidFill>
                  <a:schemeClr val="bg1"/>
                </a:solidFill>
                <a:latin typeface="微软雅黑" panose="020B0503020204020204" pitchFamily="34" charset="-122"/>
                <a:ea typeface="微软雅黑" panose="020B0503020204020204" pitchFamily="34" charset="-122"/>
              </a:rPr>
              <a:t>ASR</a:t>
            </a:r>
            <a:r>
              <a:rPr lang="zh-CN" altLang="en-US" sz="3000" b="1" dirty="0">
                <a:solidFill>
                  <a:schemeClr val="bg1"/>
                </a:solidFill>
                <a:latin typeface="微软雅黑" panose="020B0503020204020204" pitchFamily="34" charset="-122"/>
                <a:ea typeface="微软雅黑" panose="020B0503020204020204" pitchFamily="34" charset="-122"/>
              </a:rPr>
              <a:t>结果表（</a:t>
            </a:r>
            <a:r>
              <a:rPr lang="en-US" altLang="zh-CN" sz="3000" b="1" dirty="0">
                <a:solidFill>
                  <a:schemeClr val="bg1"/>
                </a:solidFill>
                <a:latin typeface="微软雅黑" panose="020B0503020204020204" pitchFamily="34" charset="-122"/>
                <a:ea typeface="微软雅黑" panose="020B0503020204020204" pitchFamily="34" charset="-122"/>
              </a:rPr>
              <a:t>t_a2_voice_segments</a:t>
            </a:r>
            <a:r>
              <a:rPr lang="zh-CN" altLang="en-US" sz="3000" b="1" dirty="0">
                <a:solidFill>
                  <a:schemeClr val="bg1"/>
                </a:solidFill>
                <a:latin typeface="微软雅黑" panose="020B0503020204020204" pitchFamily="34" charset="-122"/>
                <a:ea typeface="微软雅黑" panose="020B0503020204020204" pitchFamily="34" charset="-122"/>
              </a:rPr>
              <a:t>）</a:t>
            </a:r>
          </a:p>
        </p:txBody>
      </p:sp>
      <p:graphicFrame>
        <p:nvGraphicFramePr>
          <p:cNvPr id="3" name="表格 2">
            <a:extLst>
              <a:ext uri="{FF2B5EF4-FFF2-40B4-BE49-F238E27FC236}">
                <a16:creationId xmlns:a16="http://schemas.microsoft.com/office/drawing/2014/main" id="{3C0465D5-439B-B40C-79D3-4903D6E1DC3E}"/>
              </a:ext>
            </a:extLst>
          </p:cNvPr>
          <p:cNvGraphicFramePr>
            <a:graphicFrameLocks noGrp="1"/>
          </p:cNvGraphicFramePr>
          <p:nvPr>
            <p:extLst>
              <p:ext uri="{D42A27DB-BD31-4B8C-83A1-F6EECF244321}">
                <p14:modId xmlns:p14="http://schemas.microsoft.com/office/powerpoint/2010/main" val="1065226622"/>
              </p:ext>
            </p:extLst>
          </p:nvPr>
        </p:nvGraphicFramePr>
        <p:xfrm>
          <a:off x="609599" y="1341562"/>
          <a:ext cx="10975975" cy="4937760"/>
        </p:xfrm>
        <a:graphic>
          <a:graphicData uri="http://schemas.openxmlformats.org/drawingml/2006/table">
            <a:tbl>
              <a:tblPr firstRow="1" firstCol="1" bandRow="1">
                <a:tableStyleId>{5C22544A-7EE6-4342-B048-85BDC9FD1C3A}</a:tableStyleId>
              </a:tblPr>
              <a:tblGrid>
                <a:gridCol w="2195195">
                  <a:extLst>
                    <a:ext uri="{9D8B030D-6E8A-4147-A177-3AD203B41FA5}">
                      <a16:colId xmlns:a16="http://schemas.microsoft.com/office/drawing/2014/main" val="39815774"/>
                    </a:ext>
                  </a:extLst>
                </a:gridCol>
                <a:gridCol w="2195195">
                  <a:extLst>
                    <a:ext uri="{9D8B030D-6E8A-4147-A177-3AD203B41FA5}">
                      <a16:colId xmlns:a16="http://schemas.microsoft.com/office/drawing/2014/main" val="1066549129"/>
                    </a:ext>
                  </a:extLst>
                </a:gridCol>
                <a:gridCol w="1442258">
                  <a:extLst>
                    <a:ext uri="{9D8B030D-6E8A-4147-A177-3AD203B41FA5}">
                      <a16:colId xmlns:a16="http://schemas.microsoft.com/office/drawing/2014/main" val="1148194505"/>
                    </a:ext>
                  </a:extLst>
                </a:gridCol>
                <a:gridCol w="2088232">
                  <a:extLst>
                    <a:ext uri="{9D8B030D-6E8A-4147-A177-3AD203B41FA5}">
                      <a16:colId xmlns:a16="http://schemas.microsoft.com/office/drawing/2014/main" val="1092911059"/>
                    </a:ext>
                  </a:extLst>
                </a:gridCol>
                <a:gridCol w="3055095">
                  <a:extLst>
                    <a:ext uri="{9D8B030D-6E8A-4147-A177-3AD203B41FA5}">
                      <a16:colId xmlns:a16="http://schemas.microsoft.com/office/drawing/2014/main" val="2593601725"/>
                    </a:ext>
                  </a:extLst>
                </a:gridCol>
              </a:tblGrid>
              <a:tr h="0">
                <a:tc>
                  <a:txBody>
                    <a:bodyPr/>
                    <a:lstStyle/>
                    <a:p>
                      <a:pPr algn="just">
                        <a:buNone/>
                      </a:pPr>
                      <a:r>
                        <a:rPr lang="zh-CN" sz="2400" kern="100">
                          <a:solidFill>
                            <a:schemeClr val="tx1"/>
                          </a:solidFill>
                          <a:effectLst/>
                          <a:latin typeface="微软雅黑" panose="020B0503020204020204" pitchFamily="34" charset="-122"/>
                          <a:ea typeface="微软雅黑" panose="020B0503020204020204" pitchFamily="34" charset="-122"/>
                        </a:rPr>
                        <a:t>字段名</a:t>
                      </a:r>
                      <a:endParaRPr lang="zh-CN" sz="2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solidFill>
                  </a:tcPr>
                </a:tc>
                <a:tc>
                  <a:txBody>
                    <a:bodyPr/>
                    <a:lstStyle/>
                    <a:p>
                      <a:pPr algn="just">
                        <a:buNone/>
                      </a:pPr>
                      <a:r>
                        <a:rPr lang="zh-CN" sz="2400" kern="100" dirty="0">
                          <a:solidFill>
                            <a:schemeClr val="tx1"/>
                          </a:solidFill>
                          <a:effectLst/>
                          <a:latin typeface="微软雅黑" panose="020B0503020204020204" pitchFamily="34" charset="-122"/>
                          <a:ea typeface="微软雅黑" panose="020B0503020204020204" pitchFamily="34" charset="-122"/>
                        </a:rPr>
                        <a:t>数据类型</a:t>
                      </a:r>
                      <a:endParaRPr lang="zh-CN" sz="24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solidFill>
                  </a:tcPr>
                </a:tc>
                <a:tc>
                  <a:txBody>
                    <a:bodyPr/>
                    <a:lstStyle/>
                    <a:p>
                      <a:pPr algn="just">
                        <a:buNone/>
                      </a:pPr>
                      <a:r>
                        <a:rPr lang="zh-CN" sz="2400" kern="100">
                          <a:solidFill>
                            <a:schemeClr val="tx1"/>
                          </a:solidFill>
                          <a:effectLst/>
                          <a:latin typeface="微软雅黑" panose="020B0503020204020204" pitchFamily="34" charset="-122"/>
                          <a:ea typeface="微软雅黑" panose="020B0503020204020204" pitchFamily="34" charset="-122"/>
                        </a:rPr>
                        <a:t>长度</a:t>
                      </a:r>
                      <a:endParaRPr lang="zh-CN" sz="2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solidFill>
                  </a:tcPr>
                </a:tc>
                <a:tc>
                  <a:txBody>
                    <a:bodyPr/>
                    <a:lstStyle/>
                    <a:p>
                      <a:pPr algn="just">
                        <a:buNone/>
                      </a:pPr>
                      <a:r>
                        <a:rPr lang="zh-CN" sz="2400" kern="100">
                          <a:solidFill>
                            <a:schemeClr val="tx1"/>
                          </a:solidFill>
                          <a:effectLst/>
                          <a:latin typeface="微软雅黑" panose="020B0503020204020204" pitchFamily="34" charset="-122"/>
                          <a:ea typeface="微软雅黑" panose="020B0503020204020204" pitchFamily="34" charset="-122"/>
                        </a:rPr>
                        <a:t>约束</a:t>
                      </a:r>
                      <a:endParaRPr lang="zh-CN" sz="2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solidFill>
                  </a:tcPr>
                </a:tc>
                <a:tc>
                  <a:txBody>
                    <a:bodyPr/>
                    <a:lstStyle/>
                    <a:p>
                      <a:pPr algn="just">
                        <a:buNone/>
                      </a:pPr>
                      <a:r>
                        <a:rPr lang="zh-CN" sz="2400" kern="100" dirty="0">
                          <a:solidFill>
                            <a:schemeClr val="tx1"/>
                          </a:solidFill>
                          <a:effectLst/>
                          <a:latin typeface="微软雅黑" panose="020B0503020204020204" pitchFamily="34" charset="-122"/>
                          <a:ea typeface="微软雅黑" panose="020B0503020204020204" pitchFamily="34" charset="-122"/>
                        </a:rPr>
                        <a:t>描述</a:t>
                      </a:r>
                      <a:endParaRPr lang="zh-CN" sz="24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solidFill>
                  </a:tcPr>
                </a:tc>
                <a:extLst>
                  <a:ext uri="{0D108BD9-81ED-4DB2-BD59-A6C34878D82A}">
                    <a16:rowId xmlns:a16="http://schemas.microsoft.com/office/drawing/2014/main" val="347522418"/>
                  </a:ext>
                </a:extLst>
              </a:tr>
              <a:tr h="0">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id</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INT</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buNone/>
                      </a:pP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Primary Key</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just">
                        <a:buNone/>
                      </a:pPr>
                      <a:r>
                        <a:rPr lang="zh-CN" sz="2000" kern="100" dirty="0">
                          <a:solidFill>
                            <a:schemeClr val="tx1"/>
                          </a:solidFill>
                          <a:effectLst/>
                          <a:latin typeface="微软雅黑" panose="020B0503020204020204" pitchFamily="34" charset="-122"/>
                          <a:ea typeface="微软雅黑" panose="020B0503020204020204" pitchFamily="34" charset="-122"/>
                        </a:rPr>
                        <a:t>唯一标识</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extLst>
                  <a:ext uri="{0D108BD9-81ED-4DB2-BD59-A6C34878D82A}">
                    <a16:rowId xmlns:a16="http://schemas.microsoft.com/office/drawing/2014/main" val="3021822451"/>
                  </a:ext>
                </a:extLst>
              </a:tr>
              <a:tr h="0">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file_id</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INT</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tc>
                  <a:txBody>
                    <a:bodyPr/>
                    <a:lstStyle/>
                    <a:p>
                      <a:pPr>
                        <a:buNone/>
                      </a:pP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Foreign Key</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tc>
                  <a:txBody>
                    <a:bodyPr/>
                    <a:lstStyle/>
                    <a:p>
                      <a:pPr algn="just">
                        <a:buNone/>
                      </a:pPr>
                      <a:r>
                        <a:rPr lang="zh-CN" sz="2000" kern="100" dirty="0">
                          <a:solidFill>
                            <a:schemeClr val="tx1"/>
                          </a:solidFill>
                          <a:effectLst/>
                          <a:latin typeface="微软雅黑" panose="020B0503020204020204" pitchFamily="34" charset="-122"/>
                          <a:ea typeface="微软雅黑" panose="020B0503020204020204" pitchFamily="34" charset="-122"/>
                        </a:rPr>
                        <a:t>关联</a:t>
                      </a:r>
                      <a:r>
                        <a:rPr lang="en-US" sz="2000" kern="100" dirty="0">
                          <a:solidFill>
                            <a:schemeClr val="tx1"/>
                          </a:solidFill>
                          <a:effectLst/>
                          <a:latin typeface="微软雅黑" panose="020B0503020204020204" pitchFamily="34" charset="-122"/>
                          <a:ea typeface="微软雅黑" panose="020B0503020204020204" pitchFamily="34" charset="-122"/>
                        </a:rPr>
                        <a:t>t_a2_voice_files.id</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extLst>
                  <a:ext uri="{0D108BD9-81ED-4DB2-BD59-A6C34878D82A}">
                    <a16:rowId xmlns:a16="http://schemas.microsoft.com/office/drawing/2014/main" val="1140815752"/>
                  </a:ext>
                </a:extLst>
              </a:tr>
              <a:tr h="0">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relative_start</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FLOAT</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buNone/>
                      </a:pP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NOT NULL</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just">
                        <a:buNone/>
                      </a:pPr>
                      <a:r>
                        <a:rPr lang="zh-CN" sz="2000" kern="100" dirty="0">
                          <a:solidFill>
                            <a:schemeClr val="tx1"/>
                          </a:solidFill>
                          <a:effectLst/>
                          <a:latin typeface="微软雅黑" panose="020B0503020204020204" pitchFamily="34" charset="-122"/>
                          <a:ea typeface="微软雅黑" panose="020B0503020204020204" pitchFamily="34" charset="-122"/>
                        </a:rPr>
                        <a:t>相对于原文件起点的偏移秒数</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extLst>
                  <a:ext uri="{0D108BD9-81ED-4DB2-BD59-A6C34878D82A}">
                    <a16:rowId xmlns:a16="http://schemas.microsoft.com/office/drawing/2014/main" val="2676152177"/>
                  </a:ext>
                </a:extLst>
              </a:tr>
              <a:tr h="0">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relative_end</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FLOAT</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tc>
                  <a:txBody>
                    <a:bodyPr/>
                    <a:lstStyle/>
                    <a:p>
                      <a:pPr>
                        <a:buNone/>
                      </a:pP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NOT NULL</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tc>
                  <a:txBody>
                    <a:bodyPr/>
                    <a:lstStyle/>
                    <a:p>
                      <a:pPr algn="just">
                        <a:buNone/>
                      </a:pPr>
                      <a:r>
                        <a:rPr lang="zh-CN" sz="2000" kern="100" dirty="0">
                          <a:solidFill>
                            <a:schemeClr val="tx1"/>
                          </a:solidFill>
                          <a:effectLst/>
                          <a:latin typeface="微软雅黑" panose="020B0503020204020204" pitchFamily="34" charset="-122"/>
                          <a:ea typeface="微软雅黑" panose="020B0503020204020204" pitchFamily="34" charset="-122"/>
                        </a:rPr>
                        <a:t>相对于原文件终点的偏移秒数</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extLst>
                  <a:ext uri="{0D108BD9-81ED-4DB2-BD59-A6C34878D82A}">
                    <a16:rowId xmlns:a16="http://schemas.microsoft.com/office/drawing/2014/main" val="1241422751"/>
                  </a:ext>
                </a:extLst>
              </a:tr>
              <a:tr h="0">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abs_start_time</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TIMESTAMP</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buNone/>
                      </a:pP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INDEX</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just">
                        <a:buNone/>
                      </a:pPr>
                      <a:r>
                        <a:rPr lang="zh-CN" sz="2000" kern="100" dirty="0">
                          <a:solidFill>
                            <a:schemeClr val="tx1"/>
                          </a:solidFill>
                          <a:effectLst/>
                          <a:latin typeface="微软雅黑" panose="020B0503020204020204" pitchFamily="34" charset="-122"/>
                          <a:ea typeface="微软雅黑" panose="020B0503020204020204" pitchFamily="34" charset="-122"/>
                        </a:rPr>
                        <a:t>绝对开始时间（用于与</a:t>
                      </a:r>
                      <a:r>
                        <a:rPr lang="en-US" sz="2000" kern="100" dirty="0">
                          <a:solidFill>
                            <a:schemeClr val="tx1"/>
                          </a:solidFill>
                          <a:effectLst/>
                          <a:latin typeface="微软雅黑" panose="020B0503020204020204" pitchFamily="34" charset="-122"/>
                          <a:ea typeface="微软雅黑" panose="020B0503020204020204" pitchFamily="34" charset="-122"/>
                        </a:rPr>
                        <a:t>A-1</a:t>
                      </a:r>
                      <a:r>
                        <a:rPr lang="zh-CN" sz="2000" kern="100" dirty="0">
                          <a:solidFill>
                            <a:schemeClr val="tx1"/>
                          </a:solidFill>
                          <a:effectLst/>
                          <a:latin typeface="微软雅黑" panose="020B0503020204020204" pitchFamily="34" charset="-122"/>
                          <a:ea typeface="微软雅黑" panose="020B0503020204020204" pitchFamily="34" charset="-122"/>
                        </a:rPr>
                        <a:t>航迹对齐）</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extLst>
                  <a:ext uri="{0D108BD9-81ED-4DB2-BD59-A6C34878D82A}">
                    <a16:rowId xmlns:a16="http://schemas.microsoft.com/office/drawing/2014/main" val="3367548565"/>
                  </a:ext>
                </a:extLst>
              </a:tr>
              <a:tr h="0">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abs_end_time</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TIMESTAMP</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tc>
                  <a:txBody>
                    <a:bodyPr/>
                    <a:lstStyle/>
                    <a:p>
                      <a:pPr>
                        <a:buNone/>
                      </a:pP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tc>
                  <a:txBody>
                    <a:bodyPr/>
                    <a:lstStyle/>
                    <a:p>
                      <a:pPr>
                        <a:buNone/>
                      </a:pP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tc>
                  <a:txBody>
                    <a:bodyPr/>
                    <a:lstStyle/>
                    <a:p>
                      <a:pPr algn="just">
                        <a:buNone/>
                      </a:pPr>
                      <a:r>
                        <a:rPr lang="zh-CN" sz="2000" kern="100" dirty="0">
                          <a:solidFill>
                            <a:schemeClr val="tx1"/>
                          </a:solidFill>
                          <a:effectLst/>
                          <a:latin typeface="微软雅黑" panose="020B0503020204020204" pitchFamily="34" charset="-122"/>
                          <a:ea typeface="微软雅黑" panose="020B0503020204020204" pitchFamily="34" charset="-122"/>
                        </a:rPr>
                        <a:t>绝对结束时间</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extLst>
                  <a:ext uri="{0D108BD9-81ED-4DB2-BD59-A6C34878D82A}">
                    <a16:rowId xmlns:a16="http://schemas.microsoft.com/office/drawing/2014/main" val="1900122323"/>
                  </a:ext>
                </a:extLst>
              </a:tr>
              <a:tr h="0">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asr_content</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TEXT</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buNone/>
                      </a:pP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buNone/>
                      </a:pP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just">
                        <a:buNone/>
                      </a:pPr>
                      <a:r>
                        <a:rPr lang="en-US" sz="2000" kern="100" dirty="0">
                          <a:solidFill>
                            <a:schemeClr val="tx1"/>
                          </a:solidFill>
                          <a:effectLst/>
                          <a:latin typeface="微软雅黑" panose="020B0503020204020204" pitchFamily="34" charset="-122"/>
                          <a:ea typeface="微软雅黑" panose="020B0503020204020204" pitchFamily="34" charset="-122"/>
                        </a:rPr>
                        <a:t>A-3</a:t>
                      </a:r>
                      <a:r>
                        <a:rPr lang="zh-CN" sz="2000" kern="100" dirty="0">
                          <a:solidFill>
                            <a:schemeClr val="tx1"/>
                          </a:solidFill>
                          <a:effectLst/>
                          <a:latin typeface="微软雅黑" panose="020B0503020204020204" pitchFamily="34" charset="-122"/>
                          <a:ea typeface="微软雅黑" panose="020B0503020204020204" pitchFamily="34" charset="-122"/>
                        </a:rPr>
                        <a:t>生成的初步识别文本</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extLst>
                  <a:ext uri="{0D108BD9-81ED-4DB2-BD59-A6C34878D82A}">
                    <a16:rowId xmlns:a16="http://schemas.microsoft.com/office/drawing/2014/main" val="724554874"/>
                  </a:ext>
                </a:extLst>
              </a:tr>
              <a:tr h="0">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vad_confidence</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FLOAT</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tc>
                  <a:txBody>
                    <a:bodyPr/>
                    <a:lstStyle/>
                    <a:p>
                      <a:pPr>
                        <a:buNone/>
                      </a:pP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tc>
                  <a:txBody>
                    <a:bodyPr/>
                    <a:lstStyle/>
                    <a:p>
                      <a:pPr>
                        <a:buNone/>
                      </a:pP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tc>
                  <a:txBody>
                    <a:bodyPr/>
                    <a:lstStyle/>
                    <a:p>
                      <a:pPr algn="just">
                        <a:buNone/>
                      </a:pPr>
                      <a:r>
                        <a:rPr lang="zh-CN" sz="2000" kern="100" dirty="0">
                          <a:solidFill>
                            <a:schemeClr val="tx1"/>
                          </a:solidFill>
                          <a:effectLst/>
                          <a:latin typeface="微软雅黑" panose="020B0503020204020204" pitchFamily="34" charset="-122"/>
                          <a:ea typeface="微软雅黑" panose="020B0503020204020204" pitchFamily="34" charset="-122"/>
                        </a:rPr>
                        <a:t>语音活动检测置信度</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extLst>
                  <a:ext uri="{0D108BD9-81ED-4DB2-BD59-A6C34878D82A}">
                    <a16:rowId xmlns:a16="http://schemas.microsoft.com/office/drawing/2014/main" val="3192825754"/>
                  </a:ext>
                </a:extLst>
              </a:tr>
              <a:tr h="0">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is_annotated</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BOOLEAN</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buNone/>
                      </a:pP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DEFAULT FALSE</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just">
                        <a:buNone/>
                      </a:pPr>
                      <a:r>
                        <a:rPr lang="zh-CN" sz="2000" kern="100" dirty="0">
                          <a:solidFill>
                            <a:schemeClr val="tx1"/>
                          </a:solidFill>
                          <a:effectLst/>
                          <a:latin typeface="微软雅黑" panose="020B0503020204020204" pitchFamily="34" charset="-122"/>
                          <a:ea typeface="微软雅黑" panose="020B0503020204020204" pitchFamily="34" charset="-122"/>
                        </a:rPr>
                        <a:t>是否已被</a:t>
                      </a:r>
                      <a:r>
                        <a:rPr lang="en-US" sz="2000" kern="100" dirty="0">
                          <a:solidFill>
                            <a:schemeClr val="tx1"/>
                          </a:solidFill>
                          <a:effectLst/>
                          <a:latin typeface="微软雅黑" panose="020B0503020204020204" pitchFamily="34" charset="-122"/>
                          <a:ea typeface="微软雅黑" panose="020B0503020204020204" pitchFamily="34" charset="-122"/>
                        </a:rPr>
                        <a:t>A-4</a:t>
                      </a:r>
                      <a:r>
                        <a:rPr lang="zh-CN" sz="2000" kern="100" dirty="0">
                          <a:solidFill>
                            <a:schemeClr val="tx1"/>
                          </a:solidFill>
                          <a:effectLst/>
                          <a:latin typeface="微软雅黑" panose="020B0503020204020204" pitchFamily="34" charset="-122"/>
                          <a:ea typeface="微软雅黑" panose="020B0503020204020204" pitchFamily="34" charset="-122"/>
                        </a:rPr>
                        <a:t>用户手动校对</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extLst>
                  <a:ext uri="{0D108BD9-81ED-4DB2-BD59-A6C34878D82A}">
                    <a16:rowId xmlns:a16="http://schemas.microsoft.com/office/drawing/2014/main" val="2040034756"/>
                  </a:ext>
                </a:extLst>
              </a:tr>
              <a:tr h="0">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storage_tag</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tc>
                  <a:txBody>
                    <a:bodyPr/>
                    <a:lstStyle/>
                    <a:p>
                      <a:pPr algn="just">
                        <a:buNone/>
                      </a:pPr>
                      <a:r>
                        <a:rPr lang="en-US" sz="2000" kern="100" dirty="0">
                          <a:solidFill>
                            <a:schemeClr val="tx1"/>
                          </a:solidFill>
                          <a:effectLst/>
                          <a:latin typeface="微软雅黑" panose="020B0503020204020204" pitchFamily="34" charset="-122"/>
                          <a:ea typeface="微软雅黑" panose="020B0503020204020204" pitchFamily="34" charset="-122"/>
                        </a:rPr>
                        <a:t>VARCHAR</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50</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tc>
                  <a:txBody>
                    <a:bodyPr/>
                    <a:lstStyle/>
                    <a:p>
                      <a:pPr>
                        <a:buNone/>
                      </a:pP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tc>
                  <a:txBody>
                    <a:bodyPr/>
                    <a:lstStyle/>
                    <a:p>
                      <a:pPr algn="just">
                        <a:buNone/>
                      </a:pPr>
                      <a:r>
                        <a:rPr lang="zh-CN" sz="2000" kern="100" dirty="0">
                          <a:solidFill>
                            <a:schemeClr val="tx1"/>
                          </a:solidFill>
                          <a:effectLst/>
                          <a:latin typeface="微软雅黑" panose="020B0503020204020204" pitchFamily="34" charset="-122"/>
                          <a:ea typeface="微软雅黑" panose="020B0503020204020204" pitchFamily="34" charset="-122"/>
                        </a:rPr>
                        <a:t>存储策略标签（如</a:t>
                      </a:r>
                      <a:r>
                        <a:rPr lang="en-US" sz="2000" kern="100" dirty="0">
                          <a:solidFill>
                            <a:schemeClr val="tx1"/>
                          </a:solidFill>
                          <a:effectLst/>
                          <a:latin typeface="微软雅黑" panose="020B0503020204020204" pitchFamily="34" charset="-122"/>
                          <a:ea typeface="微软雅黑" panose="020B0503020204020204" pitchFamily="34" charset="-122"/>
                        </a:rPr>
                        <a:t>'hot', 'cold'</a:t>
                      </a:r>
                      <a:r>
                        <a:rPr lang="zh-CN" sz="2000" kern="100" dirty="0">
                          <a:solidFill>
                            <a:schemeClr val="tx1"/>
                          </a:solidFill>
                          <a:effectLst/>
                          <a:latin typeface="微软雅黑" panose="020B0503020204020204" pitchFamily="34" charset="-122"/>
                          <a:ea typeface="微软雅黑" panose="020B0503020204020204" pitchFamily="34" charset="-122"/>
                        </a:rPr>
                        <a:t>）</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extLst>
                  <a:ext uri="{0D108BD9-81ED-4DB2-BD59-A6C34878D82A}">
                    <a16:rowId xmlns:a16="http://schemas.microsoft.com/office/drawing/2014/main" val="1652354388"/>
                  </a:ext>
                </a:extLst>
              </a:tr>
            </a:tbl>
          </a:graphicData>
        </a:graphic>
      </p:graphicFrame>
    </p:spTree>
    <p:extLst>
      <p:ext uri="{BB962C8B-B14F-4D97-AF65-F5344CB8AC3E}">
        <p14:creationId xmlns:p14="http://schemas.microsoft.com/office/powerpoint/2010/main" val="1736073932"/>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97FFA-B864-C80E-36FF-56C288699523}"/>
            </a:ext>
          </a:extLst>
        </p:cNvPr>
        <p:cNvGrpSpPr/>
        <p:nvPr/>
      </p:nvGrpSpPr>
      <p:grpSpPr>
        <a:xfrm>
          <a:off x="0" y="0"/>
          <a:ext cx="0" cy="0"/>
          <a:chOff x="0" y="0"/>
          <a:chExt cx="0" cy="0"/>
        </a:xfrm>
      </p:grpSpPr>
      <p:sp>
        <p:nvSpPr>
          <p:cNvPr id="1048764" name="矩形 24">
            <a:extLst>
              <a:ext uri="{FF2B5EF4-FFF2-40B4-BE49-F238E27FC236}">
                <a16:creationId xmlns:a16="http://schemas.microsoft.com/office/drawing/2014/main" id="{5161B5C8-C540-B7AA-79E9-6D182C6D849E}"/>
              </a:ext>
            </a:extLst>
          </p:cNvPr>
          <p:cNvSpPr/>
          <p:nvPr/>
        </p:nvSpPr>
        <p:spPr>
          <a:xfrm>
            <a:off x="955407" y="1896721"/>
            <a:ext cx="1467069" cy="400110"/>
          </a:xfrm>
          <a:prstGeom prst="rect">
            <a:avLst/>
          </a:prstGeom>
        </p:spPr>
        <p:txBody>
          <a:bodyPr wrap="none">
            <a:sp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rPr>
              <a:t>模块负责人</a:t>
            </a:r>
          </a:p>
        </p:txBody>
      </p:sp>
      <p:sp>
        <p:nvSpPr>
          <p:cNvPr id="6" name="矩形 24">
            <a:extLst>
              <a:ext uri="{FF2B5EF4-FFF2-40B4-BE49-F238E27FC236}">
                <a16:creationId xmlns:a16="http://schemas.microsoft.com/office/drawing/2014/main" id="{C86C34AB-8C0B-9516-FE77-0F7731070152}"/>
              </a:ext>
            </a:extLst>
          </p:cNvPr>
          <p:cNvSpPr/>
          <p:nvPr/>
        </p:nvSpPr>
        <p:spPr>
          <a:xfrm>
            <a:off x="719977" y="4988437"/>
            <a:ext cx="1980029" cy="707886"/>
          </a:xfrm>
          <a:prstGeom prst="rect">
            <a:avLst/>
          </a:prstGeom>
        </p:spPr>
        <p:txBody>
          <a:bodyPr wrap="none">
            <a:spAutoFit/>
          </a:bodyPr>
          <a:lstStyle/>
          <a:p>
            <a:pPr algn="ctr"/>
            <a:r>
              <a:rPr lang="en-US" altLang="zh-CN" sz="2000" dirty="0">
                <a:solidFill>
                  <a:schemeClr val="bg1"/>
                </a:solidFill>
                <a:latin typeface="微软雅黑" panose="020B0503020204020204" pitchFamily="34" charset="-122"/>
                <a:ea typeface="微软雅黑" panose="020B0503020204020204" pitchFamily="34" charset="-122"/>
              </a:rPr>
              <a:t>API</a:t>
            </a:r>
            <a:r>
              <a:rPr lang="zh-CN" altLang="en-US" sz="2000" dirty="0">
                <a:solidFill>
                  <a:schemeClr val="bg1"/>
                </a:solidFill>
                <a:latin typeface="微软雅黑" panose="020B0503020204020204" pitchFamily="34" charset="-122"/>
                <a:ea typeface="微软雅黑" panose="020B0503020204020204" pitchFamily="34" charset="-122"/>
              </a:rPr>
              <a:t>集成与</a:t>
            </a:r>
            <a:endParaRPr lang="en-US" altLang="zh-CN" sz="2000" dirty="0">
              <a:solidFill>
                <a:schemeClr val="bg1"/>
              </a:solidFill>
              <a:latin typeface="微软雅黑" panose="020B0503020204020204" pitchFamily="34" charset="-122"/>
              <a:ea typeface="微软雅黑" panose="020B0503020204020204" pitchFamily="34" charset="-122"/>
            </a:endParaRPr>
          </a:p>
          <a:p>
            <a:pPr algn="ctr"/>
            <a:r>
              <a:rPr lang="zh-CN" altLang="en-US" sz="2000" dirty="0">
                <a:solidFill>
                  <a:schemeClr val="bg1"/>
                </a:solidFill>
                <a:latin typeface="微软雅黑" panose="020B0503020204020204" pitchFamily="34" charset="-122"/>
                <a:ea typeface="微软雅黑" panose="020B0503020204020204" pitchFamily="34" charset="-122"/>
              </a:rPr>
              <a:t>数据处理工程师</a:t>
            </a:r>
          </a:p>
        </p:txBody>
      </p:sp>
      <p:sp>
        <p:nvSpPr>
          <p:cNvPr id="3" name="矩形: 圆角 2">
            <a:extLst>
              <a:ext uri="{FF2B5EF4-FFF2-40B4-BE49-F238E27FC236}">
                <a16:creationId xmlns:a16="http://schemas.microsoft.com/office/drawing/2014/main" id="{338E122A-105C-D860-4227-E26B6751CB8C}"/>
              </a:ext>
            </a:extLst>
          </p:cNvPr>
          <p:cNvSpPr/>
          <p:nvPr/>
        </p:nvSpPr>
        <p:spPr>
          <a:xfrm>
            <a:off x="841003" y="1125539"/>
            <a:ext cx="10657184" cy="5686520"/>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endParaRPr>
          </a:p>
        </p:txBody>
      </p:sp>
      <p:sp>
        <p:nvSpPr>
          <p:cNvPr id="4" name="矩形 1">
            <a:extLst>
              <a:ext uri="{FF2B5EF4-FFF2-40B4-BE49-F238E27FC236}">
                <a16:creationId xmlns:a16="http://schemas.microsoft.com/office/drawing/2014/main" id="{9B92E47E-AA3D-8B25-F650-50CA75DD13FF}"/>
              </a:ext>
            </a:extLst>
          </p:cNvPr>
          <p:cNvSpPr/>
          <p:nvPr/>
        </p:nvSpPr>
        <p:spPr>
          <a:xfrm>
            <a:off x="1157946" y="1198057"/>
            <a:ext cx="10209403" cy="5509200"/>
          </a:xfrm>
          <a:prstGeom prst="rect">
            <a:avLst/>
          </a:prstGeom>
        </p:spPr>
        <p:txBody>
          <a:bodyPr wrap="square">
            <a:spAutoFit/>
          </a:bodyPr>
          <a:lstStyle/>
          <a:p>
            <a:r>
              <a:rPr lang="en-US" altLang="zh-CN" dirty="0"/>
              <a:t>CREATE TABLE t_a2_voice_segments (</a:t>
            </a:r>
            <a:endParaRPr lang="zh-CN" altLang="zh-CN" dirty="0"/>
          </a:p>
          <a:p>
            <a:r>
              <a:rPr lang="en-US" altLang="zh-CN" dirty="0"/>
              <a:t>    id SERIAL PRIMARY KEY,</a:t>
            </a:r>
            <a:endParaRPr lang="zh-CN" altLang="zh-CN" dirty="0"/>
          </a:p>
          <a:p>
            <a:r>
              <a:rPr lang="en-US" altLang="zh-CN" dirty="0"/>
              <a:t>    </a:t>
            </a:r>
            <a:r>
              <a:rPr lang="en-US" altLang="zh-CN" dirty="0" err="1"/>
              <a:t>file_id</a:t>
            </a:r>
            <a:r>
              <a:rPr lang="en-US" altLang="zh-CN" dirty="0"/>
              <a:t> INT NOT NULL,</a:t>
            </a:r>
            <a:endParaRPr lang="zh-CN" altLang="zh-CN" dirty="0"/>
          </a:p>
          <a:p>
            <a:r>
              <a:rPr lang="en-US" altLang="zh-CN" dirty="0"/>
              <a:t>    </a:t>
            </a:r>
            <a:r>
              <a:rPr lang="en-US" altLang="zh-CN" dirty="0" err="1"/>
              <a:t>relative_start</a:t>
            </a:r>
            <a:r>
              <a:rPr lang="en-US" altLang="zh-CN" dirty="0"/>
              <a:t> FLOAT NOT NULL,</a:t>
            </a:r>
            <a:endParaRPr lang="zh-CN" altLang="zh-CN" dirty="0"/>
          </a:p>
          <a:p>
            <a:r>
              <a:rPr lang="en-US" altLang="zh-CN" dirty="0"/>
              <a:t>    </a:t>
            </a:r>
            <a:r>
              <a:rPr lang="en-US" altLang="zh-CN" dirty="0" err="1"/>
              <a:t>relative_end</a:t>
            </a:r>
            <a:r>
              <a:rPr lang="en-US" altLang="zh-CN" dirty="0"/>
              <a:t> FLOAT NOT NULL,</a:t>
            </a:r>
            <a:endParaRPr lang="zh-CN" altLang="zh-CN" dirty="0"/>
          </a:p>
          <a:p>
            <a:r>
              <a:rPr lang="en-US" altLang="zh-CN" dirty="0"/>
              <a:t>    </a:t>
            </a:r>
            <a:r>
              <a:rPr lang="en-US" altLang="zh-CN" dirty="0" err="1"/>
              <a:t>abs_start_time</a:t>
            </a:r>
            <a:r>
              <a:rPr lang="en-US" altLang="zh-CN" dirty="0"/>
              <a:t> TIMESTAMP NOT NULL,</a:t>
            </a:r>
            <a:endParaRPr lang="zh-CN" altLang="zh-CN" dirty="0"/>
          </a:p>
          <a:p>
            <a:r>
              <a:rPr lang="en-US" altLang="zh-CN" dirty="0"/>
              <a:t>    </a:t>
            </a:r>
            <a:r>
              <a:rPr lang="en-US" altLang="zh-CN" dirty="0" err="1"/>
              <a:t>abs_end_time</a:t>
            </a:r>
            <a:r>
              <a:rPr lang="en-US" altLang="zh-CN" dirty="0"/>
              <a:t> TIMESTAMP NOT NULL,</a:t>
            </a:r>
            <a:endParaRPr lang="zh-CN" altLang="zh-CN" dirty="0"/>
          </a:p>
          <a:p>
            <a:r>
              <a:rPr lang="en-US" altLang="zh-CN" dirty="0"/>
              <a:t>    </a:t>
            </a:r>
            <a:r>
              <a:rPr lang="en-US" altLang="zh-CN" dirty="0" err="1"/>
              <a:t>asr_content</a:t>
            </a:r>
            <a:r>
              <a:rPr lang="en-US" altLang="zh-CN" dirty="0"/>
              <a:t> TEXT,</a:t>
            </a:r>
            <a:endParaRPr lang="zh-CN" altLang="zh-CN" dirty="0"/>
          </a:p>
          <a:p>
            <a:r>
              <a:rPr lang="en-US" altLang="zh-CN" dirty="0"/>
              <a:t>    </a:t>
            </a:r>
            <a:r>
              <a:rPr lang="en-US" altLang="zh-CN" dirty="0" err="1"/>
              <a:t>vad_confidence</a:t>
            </a:r>
            <a:r>
              <a:rPr lang="en-US" altLang="zh-CN" dirty="0"/>
              <a:t> FLOAT,</a:t>
            </a:r>
            <a:endParaRPr lang="zh-CN" altLang="zh-CN" dirty="0"/>
          </a:p>
          <a:p>
            <a:r>
              <a:rPr lang="en-US" altLang="zh-CN" dirty="0"/>
              <a:t>    </a:t>
            </a:r>
            <a:r>
              <a:rPr lang="en-US" altLang="zh-CN" dirty="0" err="1"/>
              <a:t>is_annotated</a:t>
            </a:r>
            <a:r>
              <a:rPr lang="en-US" altLang="zh-CN" dirty="0"/>
              <a:t> BOOLEAN DEFAULT FALSE,</a:t>
            </a:r>
            <a:endParaRPr lang="zh-CN" altLang="zh-CN" dirty="0"/>
          </a:p>
          <a:p>
            <a:r>
              <a:rPr lang="en-US" altLang="zh-CN" dirty="0"/>
              <a:t>    </a:t>
            </a:r>
            <a:r>
              <a:rPr lang="en-US" altLang="zh-CN" dirty="0" err="1"/>
              <a:t>storage_tag</a:t>
            </a:r>
            <a:r>
              <a:rPr lang="en-US" altLang="zh-CN" dirty="0"/>
              <a:t> VARCHAR(50),</a:t>
            </a:r>
            <a:endParaRPr lang="zh-CN" altLang="zh-CN" dirty="0"/>
          </a:p>
          <a:p>
            <a:r>
              <a:rPr lang="en-US" altLang="zh-CN" dirty="0"/>
              <a:t>    </a:t>
            </a:r>
            <a:r>
              <a:rPr lang="en-US" altLang="zh-CN" dirty="0" err="1"/>
              <a:t>created_at</a:t>
            </a:r>
            <a:r>
              <a:rPr lang="en-US" altLang="zh-CN" dirty="0"/>
              <a:t> TIMESTAMP DEFAULT CURRENT_TIMESTAMP,</a:t>
            </a:r>
            <a:endParaRPr lang="zh-CN" altLang="zh-CN" dirty="0"/>
          </a:p>
          <a:p>
            <a:r>
              <a:rPr lang="en-US" altLang="zh-CN" dirty="0"/>
              <a:t>    CONSTRAINT fk_a2_voice_file FOREIGN KEY (</a:t>
            </a:r>
            <a:r>
              <a:rPr lang="en-US" altLang="zh-CN" dirty="0" err="1"/>
              <a:t>file_id</a:t>
            </a:r>
            <a:r>
              <a:rPr lang="en-US" altLang="zh-CN" dirty="0"/>
              <a:t>) </a:t>
            </a:r>
            <a:endParaRPr lang="zh-CN" altLang="zh-CN" dirty="0"/>
          </a:p>
          <a:p>
            <a:r>
              <a:rPr lang="en-US" altLang="zh-CN" dirty="0"/>
              <a:t>        REFERENCES t_a2_voice_files(id) ON DELETE CASCADE</a:t>
            </a:r>
            <a:endParaRPr lang="zh-CN" altLang="zh-CN" dirty="0"/>
          </a:p>
          <a:p>
            <a:r>
              <a:rPr lang="en-US" altLang="zh-CN" dirty="0"/>
              <a:t>);</a:t>
            </a:r>
            <a:endParaRPr lang="zh-CN" altLang="zh-CN" dirty="0"/>
          </a:p>
          <a:p>
            <a:r>
              <a:rPr lang="en-US" altLang="zh-CN" dirty="0"/>
              <a:t>CREATE INDEX idx_a2_seg_abs_time ON t_a2_voice_segments (</a:t>
            </a:r>
            <a:r>
              <a:rPr lang="en-US" altLang="zh-CN" dirty="0" err="1"/>
              <a:t>abs_start_time</a:t>
            </a:r>
            <a:r>
              <a:rPr lang="en-US" altLang="zh-CN" dirty="0"/>
              <a:t>);</a:t>
            </a:r>
            <a:endParaRPr lang="zh-CN" altLang="zh-CN" dirty="0"/>
          </a:p>
        </p:txBody>
      </p:sp>
      <p:sp>
        <p:nvSpPr>
          <p:cNvPr id="2" name="TextBox 11">
            <a:extLst>
              <a:ext uri="{FF2B5EF4-FFF2-40B4-BE49-F238E27FC236}">
                <a16:creationId xmlns:a16="http://schemas.microsoft.com/office/drawing/2014/main" id="{57E9BC40-232D-DC35-05F4-7791C6AD76B0}"/>
              </a:ext>
            </a:extLst>
          </p:cNvPr>
          <p:cNvSpPr txBox="1"/>
          <p:nvPr/>
        </p:nvSpPr>
        <p:spPr>
          <a:xfrm>
            <a:off x="140993" y="152331"/>
            <a:ext cx="12026836" cy="584800"/>
          </a:xfrm>
          <a:prstGeom prst="rect">
            <a:avLst/>
          </a:prstGeom>
          <a:noFill/>
        </p:spPr>
        <p:txBody>
          <a:bodyPr wrap="square" lIns="121944" tIns="60972" rIns="121944" bIns="60972" rtlCol="0">
            <a:spAutoFit/>
          </a:bodyPr>
          <a:lstStyle/>
          <a:p>
            <a:r>
              <a:rPr lang="zh-CN" altLang="en-US" sz="3000" b="1" dirty="0">
                <a:solidFill>
                  <a:schemeClr val="bg1"/>
                </a:solidFill>
                <a:latin typeface="微软雅黑" panose="020B0503020204020204" pitchFamily="34" charset="-122"/>
                <a:ea typeface="微软雅黑" panose="020B0503020204020204" pitchFamily="34" charset="-122"/>
              </a:rPr>
              <a:t>数据库物理设计</a:t>
            </a:r>
            <a:r>
              <a:rPr lang="en-US" altLang="zh-CN" sz="3000" b="1" dirty="0">
                <a:solidFill>
                  <a:schemeClr val="bg1"/>
                </a:solidFill>
                <a:latin typeface="微软雅黑" panose="020B0503020204020204" pitchFamily="34" charset="-122"/>
                <a:ea typeface="微软雅黑" panose="020B0503020204020204" pitchFamily="34" charset="-122"/>
              </a:rPr>
              <a:t>——</a:t>
            </a:r>
            <a:r>
              <a:rPr lang="zh-CN" altLang="en-US" sz="3000" b="1" dirty="0">
                <a:solidFill>
                  <a:schemeClr val="bg1"/>
                </a:solidFill>
                <a:latin typeface="微软雅黑" panose="020B0503020204020204" pitchFamily="34" charset="-122"/>
                <a:ea typeface="微软雅黑" panose="020B0503020204020204" pitchFamily="34" charset="-122"/>
              </a:rPr>
              <a:t>语音切片与</a:t>
            </a:r>
            <a:r>
              <a:rPr lang="en-US" altLang="zh-CN" sz="3000" b="1" dirty="0">
                <a:solidFill>
                  <a:schemeClr val="bg1"/>
                </a:solidFill>
                <a:latin typeface="微软雅黑" panose="020B0503020204020204" pitchFamily="34" charset="-122"/>
                <a:ea typeface="微软雅黑" panose="020B0503020204020204" pitchFamily="34" charset="-122"/>
              </a:rPr>
              <a:t>ASR</a:t>
            </a:r>
            <a:r>
              <a:rPr lang="zh-CN" altLang="en-US" sz="3000" b="1" dirty="0">
                <a:solidFill>
                  <a:schemeClr val="bg1"/>
                </a:solidFill>
                <a:latin typeface="微软雅黑" panose="020B0503020204020204" pitchFamily="34" charset="-122"/>
                <a:ea typeface="微软雅黑" panose="020B0503020204020204" pitchFamily="34" charset="-122"/>
              </a:rPr>
              <a:t>结果表（</a:t>
            </a:r>
            <a:r>
              <a:rPr lang="en-US" altLang="zh-CN" sz="3000" b="1" dirty="0">
                <a:solidFill>
                  <a:schemeClr val="bg1"/>
                </a:solidFill>
                <a:latin typeface="微软雅黑" panose="020B0503020204020204" pitchFamily="34" charset="-122"/>
                <a:ea typeface="微软雅黑" panose="020B0503020204020204" pitchFamily="34" charset="-122"/>
              </a:rPr>
              <a:t>t_a2_voice_segments</a:t>
            </a:r>
            <a:r>
              <a:rPr lang="zh-CN" altLang="en-US" sz="3000" b="1" dirty="0">
                <a:solidFill>
                  <a:schemeClr val="bg1"/>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3789181205"/>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2FD32-B627-0CB1-CCA0-A87842FE9BF0}"/>
            </a:ext>
          </a:extLst>
        </p:cNvPr>
        <p:cNvGrpSpPr/>
        <p:nvPr/>
      </p:nvGrpSpPr>
      <p:grpSpPr>
        <a:xfrm>
          <a:off x="0" y="0"/>
          <a:ext cx="0" cy="0"/>
          <a:chOff x="0" y="0"/>
          <a:chExt cx="0" cy="0"/>
        </a:xfrm>
      </p:grpSpPr>
      <p:sp>
        <p:nvSpPr>
          <p:cNvPr id="1048765" name="TextBox 11">
            <a:extLst>
              <a:ext uri="{FF2B5EF4-FFF2-40B4-BE49-F238E27FC236}">
                <a16:creationId xmlns:a16="http://schemas.microsoft.com/office/drawing/2014/main" id="{ECE6C2D4-12B4-B257-E4D4-186AE3F9D23E}"/>
              </a:ext>
            </a:extLst>
          </p:cNvPr>
          <p:cNvSpPr txBox="1"/>
          <p:nvPr/>
        </p:nvSpPr>
        <p:spPr>
          <a:xfrm>
            <a:off x="140993" y="152331"/>
            <a:ext cx="12026836" cy="584800"/>
          </a:xfrm>
          <a:prstGeom prst="rect">
            <a:avLst/>
          </a:prstGeom>
          <a:noFill/>
        </p:spPr>
        <p:txBody>
          <a:bodyPr wrap="square" lIns="121944" tIns="60972" rIns="121944" bIns="60972" rtlCol="0">
            <a:spAutoFit/>
          </a:bodyPr>
          <a:lstStyle/>
          <a:p>
            <a:r>
              <a:rPr lang="zh-CN" altLang="en-US" sz="3000" b="1" dirty="0">
                <a:solidFill>
                  <a:schemeClr val="bg1"/>
                </a:solidFill>
                <a:latin typeface="微软雅黑" panose="020B0503020204020204" pitchFamily="34" charset="-122"/>
                <a:ea typeface="微软雅黑" panose="020B0503020204020204" pitchFamily="34" charset="-122"/>
              </a:rPr>
              <a:t>数据库物理设计</a:t>
            </a:r>
            <a:r>
              <a:rPr lang="en-US" altLang="zh-CN" sz="3000" b="1" dirty="0">
                <a:solidFill>
                  <a:schemeClr val="bg1"/>
                </a:solidFill>
                <a:latin typeface="微软雅黑" panose="020B0503020204020204" pitchFamily="34" charset="-122"/>
                <a:ea typeface="微软雅黑" panose="020B0503020204020204" pitchFamily="34" charset="-122"/>
              </a:rPr>
              <a:t>——</a:t>
            </a:r>
            <a:r>
              <a:rPr lang="zh-CN" altLang="zh-CN" sz="3000" b="1" dirty="0">
                <a:solidFill>
                  <a:schemeClr val="bg1"/>
                </a:solidFill>
                <a:latin typeface="微软雅黑" panose="020B0503020204020204" pitchFamily="34" charset="-122"/>
                <a:ea typeface="微软雅黑" panose="020B0503020204020204" pitchFamily="34" charset="-122"/>
              </a:rPr>
              <a:t>存储清理审计表</a:t>
            </a:r>
            <a:r>
              <a:rPr lang="en-US" altLang="zh-CN" sz="3000" b="1" dirty="0">
                <a:solidFill>
                  <a:schemeClr val="bg1"/>
                </a:solidFill>
                <a:latin typeface="微软雅黑" panose="020B0503020204020204" pitchFamily="34" charset="-122"/>
                <a:ea typeface="微软雅黑" panose="020B0503020204020204" pitchFamily="34" charset="-122"/>
              </a:rPr>
              <a:t> (t_a2_storage_log)</a:t>
            </a:r>
            <a:endParaRPr lang="zh-CN" altLang="zh-CN" sz="3000" b="1" dirty="0">
              <a:solidFill>
                <a:schemeClr val="bg1"/>
              </a:solidFill>
              <a:latin typeface="微软雅黑" panose="020B0503020204020204" pitchFamily="34" charset="-122"/>
              <a:ea typeface="微软雅黑" panose="020B0503020204020204" pitchFamily="34" charset="-122"/>
            </a:endParaRPr>
          </a:p>
        </p:txBody>
      </p:sp>
      <p:graphicFrame>
        <p:nvGraphicFramePr>
          <p:cNvPr id="2" name="表格 1">
            <a:extLst>
              <a:ext uri="{FF2B5EF4-FFF2-40B4-BE49-F238E27FC236}">
                <a16:creationId xmlns:a16="http://schemas.microsoft.com/office/drawing/2014/main" id="{81595835-4533-7422-2C0F-F7562CEC336C}"/>
              </a:ext>
            </a:extLst>
          </p:cNvPr>
          <p:cNvGraphicFramePr>
            <a:graphicFrameLocks noGrp="1"/>
          </p:cNvGraphicFramePr>
          <p:nvPr>
            <p:extLst>
              <p:ext uri="{D42A27DB-BD31-4B8C-83A1-F6EECF244321}">
                <p14:modId xmlns:p14="http://schemas.microsoft.com/office/powerpoint/2010/main" val="442874662"/>
              </p:ext>
            </p:extLst>
          </p:nvPr>
        </p:nvGraphicFramePr>
        <p:xfrm>
          <a:off x="666423" y="2332514"/>
          <a:ext cx="10975975" cy="2194560"/>
        </p:xfrm>
        <a:graphic>
          <a:graphicData uri="http://schemas.openxmlformats.org/drawingml/2006/table">
            <a:tbl>
              <a:tblPr firstRow="1" firstCol="1" bandRow="1">
                <a:tableStyleId>{5C22544A-7EE6-4342-B048-85BDC9FD1C3A}</a:tableStyleId>
              </a:tblPr>
              <a:tblGrid>
                <a:gridCol w="2195195">
                  <a:extLst>
                    <a:ext uri="{9D8B030D-6E8A-4147-A177-3AD203B41FA5}">
                      <a16:colId xmlns:a16="http://schemas.microsoft.com/office/drawing/2014/main" val="1112540934"/>
                    </a:ext>
                  </a:extLst>
                </a:gridCol>
                <a:gridCol w="2195195">
                  <a:extLst>
                    <a:ext uri="{9D8B030D-6E8A-4147-A177-3AD203B41FA5}">
                      <a16:colId xmlns:a16="http://schemas.microsoft.com/office/drawing/2014/main" val="2460882627"/>
                    </a:ext>
                  </a:extLst>
                </a:gridCol>
                <a:gridCol w="1457637">
                  <a:extLst>
                    <a:ext uri="{9D8B030D-6E8A-4147-A177-3AD203B41FA5}">
                      <a16:colId xmlns:a16="http://schemas.microsoft.com/office/drawing/2014/main" val="2235526305"/>
                    </a:ext>
                  </a:extLst>
                </a:gridCol>
                <a:gridCol w="1872208">
                  <a:extLst>
                    <a:ext uri="{9D8B030D-6E8A-4147-A177-3AD203B41FA5}">
                      <a16:colId xmlns:a16="http://schemas.microsoft.com/office/drawing/2014/main" val="585474631"/>
                    </a:ext>
                  </a:extLst>
                </a:gridCol>
                <a:gridCol w="3255740">
                  <a:extLst>
                    <a:ext uri="{9D8B030D-6E8A-4147-A177-3AD203B41FA5}">
                      <a16:colId xmlns:a16="http://schemas.microsoft.com/office/drawing/2014/main" val="4261426261"/>
                    </a:ext>
                  </a:extLst>
                </a:gridCol>
              </a:tblGrid>
              <a:tr h="0">
                <a:tc>
                  <a:txBody>
                    <a:bodyPr/>
                    <a:lstStyle/>
                    <a:p>
                      <a:pPr algn="just">
                        <a:buNone/>
                      </a:pPr>
                      <a:r>
                        <a:rPr lang="zh-CN" sz="2400" kern="100">
                          <a:solidFill>
                            <a:schemeClr val="tx1"/>
                          </a:solidFill>
                          <a:effectLst/>
                          <a:latin typeface="微软雅黑" panose="020B0503020204020204" pitchFamily="34" charset="-122"/>
                          <a:ea typeface="微软雅黑" panose="020B0503020204020204" pitchFamily="34" charset="-122"/>
                        </a:rPr>
                        <a:t>字段名</a:t>
                      </a:r>
                      <a:endParaRPr lang="zh-CN" sz="2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solidFill>
                  </a:tcPr>
                </a:tc>
                <a:tc>
                  <a:txBody>
                    <a:bodyPr/>
                    <a:lstStyle/>
                    <a:p>
                      <a:pPr algn="just">
                        <a:buNone/>
                      </a:pPr>
                      <a:r>
                        <a:rPr lang="zh-CN" sz="2400" kern="100">
                          <a:solidFill>
                            <a:schemeClr val="tx1"/>
                          </a:solidFill>
                          <a:effectLst/>
                          <a:latin typeface="微软雅黑" panose="020B0503020204020204" pitchFamily="34" charset="-122"/>
                          <a:ea typeface="微软雅黑" panose="020B0503020204020204" pitchFamily="34" charset="-122"/>
                        </a:rPr>
                        <a:t>数据类型</a:t>
                      </a:r>
                      <a:endParaRPr lang="zh-CN" sz="2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solidFill>
                  </a:tcPr>
                </a:tc>
                <a:tc>
                  <a:txBody>
                    <a:bodyPr/>
                    <a:lstStyle/>
                    <a:p>
                      <a:pPr algn="just">
                        <a:buNone/>
                      </a:pPr>
                      <a:r>
                        <a:rPr lang="zh-CN" sz="2400" kern="100">
                          <a:solidFill>
                            <a:schemeClr val="tx1"/>
                          </a:solidFill>
                          <a:effectLst/>
                          <a:latin typeface="微软雅黑" panose="020B0503020204020204" pitchFamily="34" charset="-122"/>
                          <a:ea typeface="微软雅黑" panose="020B0503020204020204" pitchFamily="34" charset="-122"/>
                        </a:rPr>
                        <a:t>长度</a:t>
                      </a:r>
                      <a:endParaRPr lang="zh-CN" sz="2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solidFill>
                  </a:tcPr>
                </a:tc>
                <a:tc>
                  <a:txBody>
                    <a:bodyPr/>
                    <a:lstStyle/>
                    <a:p>
                      <a:pPr algn="just">
                        <a:buNone/>
                      </a:pPr>
                      <a:r>
                        <a:rPr lang="zh-CN" sz="2400" kern="100">
                          <a:solidFill>
                            <a:schemeClr val="tx1"/>
                          </a:solidFill>
                          <a:effectLst/>
                          <a:latin typeface="微软雅黑" panose="020B0503020204020204" pitchFamily="34" charset="-122"/>
                          <a:ea typeface="微软雅黑" panose="020B0503020204020204" pitchFamily="34" charset="-122"/>
                        </a:rPr>
                        <a:t>约束</a:t>
                      </a:r>
                      <a:endParaRPr lang="zh-CN" sz="24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solidFill>
                  </a:tcPr>
                </a:tc>
                <a:tc>
                  <a:txBody>
                    <a:bodyPr/>
                    <a:lstStyle/>
                    <a:p>
                      <a:pPr algn="just">
                        <a:buNone/>
                      </a:pPr>
                      <a:r>
                        <a:rPr lang="zh-CN" sz="2400" kern="100" dirty="0">
                          <a:solidFill>
                            <a:schemeClr val="tx1"/>
                          </a:solidFill>
                          <a:effectLst/>
                          <a:latin typeface="微软雅黑" panose="020B0503020204020204" pitchFamily="34" charset="-122"/>
                          <a:ea typeface="微软雅黑" panose="020B0503020204020204" pitchFamily="34" charset="-122"/>
                        </a:rPr>
                        <a:t>描述</a:t>
                      </a:r>
                      <a:endParaRPr lang="zh-CN" sz="24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solidFill>
                  </a:tcPr>
                </a:tc>
                <a:extLst>
                  <a:ext uri="{0D108BD9-81ED-4DB2-BD59-A6C34878D82A}">
                    <a16:rowId xmlns:a16="http://schemas.microsoft.com/office/drawing/2014/main" val="3400988349"/>
                  </a:ext>
                </a:extLst>
              </a:tr>
              <a:tr h="0">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id</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INT</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buNone/>
                      </a:pP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Primary Key</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buNone/>
                      </a:pP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extLst>
                  <a:ext uri="{0D108BD9-81ED-4DB2-BD59-A6C34878D82A}">
                    <a16:rowId xmlns:a16="http://schemas.microsoft.com/office/drawing/2014/main" val="903638919"/>
                  </a:ext>
                </a:extLst>
              </a:tr>
              <a:tr h="0">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action_type</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VARCHAR</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20</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tc>
                  <a:txBody>
                    <a:bodyPr/>
                    <a:lstStyle/>
                    <a:p>
                      <a:pPr>
                        <a:buNone/>
                      </a:pP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tc>
                  <a:txBody>
                    <a:bodyPr/>
                    <a:lstStyle/>
                    <a:p>
                      <a:pPr algn="just">
                        <a:buNone/>
                      </a:pPr>
                      <a:r>
                        <a:rPr lang="en-US" sz="2000" kern="100" dirty="0">
                          <a:solidFill>
                            <a:schemeClr val="tx1"/>
                          </a:solidFill>
                          <a:effectLst/>
                          <a:latin typeface="微软雅黑" panose="020B0503020204020204" pitchFamily="34" charset="-122"/>
                          <a:ea typeface="微软雅黑" panose="020B0503020204020204" pitchFamily="34" charset="-122"/>
                        </a:rPr>
                        <a:t>'CLEANUP' (</a:t>
                      </a:r>
                      <a:r>
                        <a:rPr lang="zh-CN" sz="2000" kern="100" dirty="0">
                          <a:solidFill>
                            <a:schemeClr val="tx1"/>
                          </a:solidFill>
                          <a:effectLst/>
                          <a:latin typeface="微软雅黑" panose="020B0503020204020204" pitchFamily="34" charset="-122"/>
                          <a:ea typeface="微软雅黑" panose="020B0503020204020204" pitchFamily="34" charset="-122"/>
                        </a:rPr>
                        <a:t>清理</a:t>
                      </a:r>
                      <a:r>
                        <a:rPr lang="en-US" sz="2000" kern="100" dirty="0">
                          <a:solidFill>
                            <a:schemeClr val="tx1"/>
                          </a:solidFill>
                          <a:effectLst/>
                          <a:latin typeface="微软雅黑" panose="020B0503020204020204" pitchFamily="34" charset="-122"/>
                          <a:ea typeface="微软雅黑" panose="020B0503020204020204" pitchFamily="34" charset="-122"/>
                        </a:rPr>
                        <a:t>), 'ARCHIVE' (</a:t>
                      </a:r>
                      <a:r>
                        <a:rPr lang="zh-CN" sz="2000" kern="100" dirty="0">
                          <a:solidFill>
                            <a:schemeClr val="tx1"/>
                          </a:solidFill>
                          <a:effectLst/>
                          <a:latin typeface="微软雅黑" panose="020B0503020204020204" pitchFamily="34" charset="-122"/>
                          <a:ea typeface="微软雅黑" panose="020B0503020204020204" pitchFamily="34" charset="-122"/>
                        </a:rPr>
                        <a:t>归档</a:t>
                      </a:r>
                      <a:r>
                        <a:rPr lang="en-US" sz="2000" kern="100" dirty="0">
                          <a:solidFill>
                            <a:schemeClr val="tx1"/>
                          </a:solidFill>
                          <a:effectLst/>
                          <a:latin typeface="微软雅黑" panose="020B0503020204020204" pitchFamily="34" charset="-122"/>
                          <a:ea typeface="微软雅黑" panose="020B0503020204020204" pitchFamily="34" charset="-122"/>
                        </a:rPr>
                        <a:t>)</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extLst>
                  <a:ext uri="{0D108BD9-81ED-4DB2-BD59-A6C34878D82A}">
                    <a16:rowId xmlns:a16="http://schemas.microsoft.com/office/drawing/2014/main" val="1516804000"/>
                  </a:ext>
                </a:extLst>
              </a:tr>
              <a:tr h="0">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target_file_id</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INT</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buNone/>
                      </a:pP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buNone/>
                      </a:pP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just">
                        <a:buNone/>
                      </a:pPr>
                      <a:r>
                        <a:rPr lang="zh-CN" sz="2000" kern="100" dirty="0">
                          <a:solidFill>
                            <a:schemeClr val="tx1"/>
                          </a:solidFill>
                          <a:effectLst/>
                          <a:latin typeface="微软雅黑" panose="020B0503020204020204" pitchFamily="34" charset="-122"/>
                          <a:ea typeface="微软雅黑" panose="020B0503020204020204" pitchFamily="34" charset="-122"/>
                        </a:rPr>
                        <a:t>被操作的文件</a:t>
                      </a:r>
                      <a:r>
                        <a:rPr lang="en-US" sz="2000" kern="100" dirty="0">
                          <a:solidFill>
                            <a:schemeClr val="tx1"/>
                          </a:solidFill>
                          <a:effectLst/>
                          <a:latin typeface="微软雅黑" panose="020B0503020204020204" pitchFamily="34" charset="-122"/>
                          <a:ea typeface="微软雅黑" panose="020B0503020204020204" pitchFamily="34" charset="-122"/>
                        </a:rPr>
                        <a:t> ID</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extLst>
                  <a:ext uri="{0D108BD9-81ED-4DB2-BD59-A6C34878D82A}">
                    <a16:rowId xmlns:a16="http://schemas.microsoft.com/office/drawing/2014/main" val="2073634767"/>
                  </a:ext>
                </a:extLst>
              </a:tr>
              <a:tr h="0">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released_space</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BIGINT</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tc>
                  <a:txBody>
                    <a:bodyPr/>
                    <a:lstStyle/>
                    <a:p>
                      <a:pPr>
                        <a:buNone/>
                      </a:pP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tc>
                  <a:txBody>
                    <a:bodyPr/>
                    <a:lstStyle/>
                    <a:p>
                      <a:pPr>
                        <a:buNone/>
                      </a:pP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tc>
                  <a:txBody>
                    <a:bodyPr/>
                    <a:lstStyle/>
                    <a:p>
                      <a:pPr algn="just">
                        <a:buNone/>
                      </a:pPr>
                      <a:r>
                        <a:rPr lang="zh-CN" sz="2000" kern="100" dirty="0">
                          <a:solidFill>
                            <a:schemeClr val="tx1"/>
                          </a:solidFill>
                          <a:effectLst/>
                          <a:latin typeface="微软雅黑" panose="020B0503020204020204" pitchFamily="34" charset="-122"/>
                          <a:ea typeface="微软雅黑" panose="020B0503020204020204" pitchFamily="34" charset="-122"/>
                        </a:rPr>
                        <a:t>释放的空间大小</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60000"/>
                        <a:lumOff val="40000"/>
                      </a:schemeClr>
                    </a:solidFill>
                  </a:tcPr>
                </a:tc>
                <a:extLst>
                  <a:ext uri="{0D108BD9-81ED-4DB2-BD59-A6C34878D82A}">
                    <a16:rowId xmlns:a16="http://schemas.microsoft.com/office/drawing/2014/main" val="550073055"/>
                  </a:ext>
                </a:extLst>
              </a:tr>
              <a:tr h="0">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op_time</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just">
                        <a:buNone/>
                      </a:pPr>
                      <a:r>
                        <a:rPr lang="en-US" sz="2000" kern="100">
                          <a:solidFill>
                            <a:schemeClr val="tx1"/>
                          </a:solidFill>
                          <a:effectLst/>
                          <a:latin typeface="微软雅黑" panose="020B0503020204020204" pitchFamily="34" charset="-122"/>
                          <a:ea typeface="微软雅黑" panose="020B0503020204020204" pitchFamily="34" charset="-122"/>
                        </a:rPr>
                        <a:t>TIMESTAMP</a:t>
                      </a: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buNone/>
                      </a:pP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buNone/>
                      </a:pPr>
                      <a:endParaRPr lang="zh-CN" sz="2000" kern="10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just">
                        <a:buNone/>
                      </a:pPr>
                      <a:r>
                        <a:rPr lang="zh-CN" sz="2000" kern="100" dirty="0">
                          <a:solidFill>
                            <a:schemeClr val="tx1"/>
                          </a:solidFill>
                          <a:effectLst/>
                          <a:latin typeface="微软雅黑" panose="020B0503020204020204" pitchFamily="34" charset="-122"/>
                          <a:ea typeface="微软雅黑" panose="020B0503020204020204" pitchFamily="34" charset="-122"/>
                        </a:rPr>
                        <a:t>执行时间</a:t>
                      </a:r>
                      <a:endParaRPr 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chemeClr val="accent2">
                        <a:lumMod val="20000"/>
                        <a:lumOff val="80000"/>
                      </a:schemeClr>
                    </a:solidFill>
                  </a:tcPr>
                </a:tc>
                <a:extLst>
                  <a:ext uri="{0D108BD9-81ED-4DB2-BD59-A6C34878D82A}">
                    <a16:rowId xmlns:a16="http://schemas.microsoft.com/office/drawing/2014/main" val="2201278006"/>
                  </a:ext>
                </a:extLst>
              </a:tr>
            </a:tbl>
          </a:graphicData>
        </a:graphic>
      </p:graphicFrame>
    </p:spTree>
    <p:extLst>
      <p:ext uri="{BB962C8B-B14F-4D97-AF65-F5344CB8AC3E}">
        <p14:creationId xmlns:p14="http://schemas.microsoft.com/office/powerpoint/2010/main" val="718833452"/>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80785-855B-6E5C-65D6-5329CED12831}"/>
            </a:ext>
          </a:extLst>
        </p:cNvPr>
        <p:cNvGrpSpPr/>
        <p:nvPr/>
      </p:nvGrpSpPr>
      <p:grpSpPr>
        <a:xfrm>
          <a:off x="0" y="0"/>
          <a:ext cx="0" cy="0"/>
          <a:chOff x="0" y="0"/>
          <a:chExt cx="0" cy="0"/>
        </a:xfrm>
      </p:grpSpPr>
      <p:sp>
        <p:nvSpPr>
          <p:cNvPr id="1048764" name="矩形 24">
            <a:extLst>
              <a:ext uri="{FF2B5EF4-FFF2-40B4-BE49-F238E27FC236}">
                <a16:creationId xmlns:a16="http://schemas.microsoft.com/office/drawing/2014/main" id="{AD46A255-C3DC-65BA-8712-56F8D6D1DA88}"/>
              </a:ext>
            </a:extLst>
          </p:cNvPr>
          <p:cNvSpPr/>
          <p:nvPr/>
        </p:nvSpPr>
        <p:spPr>
          <a:xfrm>
            <a:off x="955407" y="1896721"/>
            <a:ext cx="1467069" cy="400110"/>
          </a:xfrm>
          <a:prstGeom prst="rect">
            <a:avLst/>
          </a:prstGeom>
        </p:spPr>
        <p:txBody>
          <a:bodyPr wrap="none">
            <a:sp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rPr>
              <a:t>模块负责人</a:t>
            </a:r>
          </a:p>
        </p:txBody>
      </p:sp>
      <p:sp>
        <p:nvSpPr>
          <p:cNvPr id="6" name="矩形 24">
            <a:extLst>
              <a:ext uri="{FF2B5EF4-FFF2-40B4-BE49-F238E27FC236}">
                <a16:creationId xmlns:a16="http://schemas.microsoft.com/office/drawing/2014/main" id="{2D7897EE-85D2-51CE-3577-140634AEE500}"/>
              </a:ext>
            </a:extLst>
          </p:cNvPr>
          <p:cNvSpPr/>
          <p:nvPr/>
        </p:nvSpPr>
        <p:spPr>
          <a:xfrm>
            <a:off x="719977" y="4988437"/>
            <a:ext cx="1980029" cy="707886"/>
          </a:xfrm>
          <a:prstGeom prst="rect">
            <a:avLst/>
          </a:prstGeom>
        </p:spPr>
        <p:txBody>
          <a:bodyPr wrap="none">
            <a:spAutoFit/>
          </a:bodyPr>
          <a:lstStyle/>
          <a:p>
            <a:pPr algn="ctr"/>
            <a:r>
              <a:rPr lang="en-US" altLang="zh-CN" sz="2000" dirty="0">
                <a:solidFill>
                  <a:schemeClr val="bg1"/>
                </a:solidFill>
                <a:latin typeface="微软雅黑" panose="020B0503020204020204" pitchFamily="34" charset="-122"/>
                <a:ea typeface="微软雅黑" panose="020B0503020204020204" pitchFamily="34" charset="-122"/>
              </a:rPr>
              <a:t>API</a:t>
            </a:r>
            <a:r>
              <a:rPr lang="zh-CN" altLang="en-US" sz="2000" dirty="0">
                <a:solidFill>
                  <a:schemeClr val="bg1"/>
                </a:solidFill>
                <a:latin typeface="微软雅黑" panose="020B0503020204020204" pitchFamily="34" charset="-122"/>
                <a:ea typeface="微软雅黑" panose="020B0503020204020204" pitchFamily="34" charset="-122"/>
              </a:rPr>
              <a:t>集成与</a:t>
            </a:r>
            <a:endParaRPr lang="en-US" altLang="zh-CN" sz="2000" dirty="0">
              <a:solidFill>
                <a:schemeClr val="bg1"/>
              </a:solidFill>
              <a:latin typeface="微软雅黑" panose="020B0503020204020204" pitchFamily="34" charset="-122"/>
              <a:ea typeface="微软雅黑" panose="020B0503020204020204" pitchFamily="34" charset="-122"/>
            </a:endParaRPr>
          </a:p>
          <a:p>
            <a:pPr algn="ctr"/>
            <a:r>
              <a:rPr lang="zh-CN" altLang="en-US" sz="2000" dirty="0">
                <a:solidFill>
                  <a:schemeClr val="bg1"/>
                </a:solidFill>
                <a:latin typeface="微软雅黑" panose="020B0503020204020204" pitchFamily="34" charset="-122"/>
                <a:ea typeface="微软雅黑" panose="020B0503020204020204" pitchFamily="34" charset="-122"/>
              </a:rPr>
              <a:t>数据处理工程师</a:t>
            </a:r>
          </a:p>
        </p:txBody>
      </p:sp>
      <p:sp>
        <p:nvSpPr>
          <p:cNvPr id="3" name="矩形: 圆角 2">
            <a:extLst>
              <a:ext uri="{FF2B5EF4-FFF2-40B4-BE49-F238E27FC236}">
                <a16:creationId xmlns:a16="http://schemas.microsoft.com/office/drawing/2014/main" id="{15E7CCD2-BE0D-51DA-D77C-0DE50821FC9A}"/>
              </a:ext>
            </a:extLst>
          </p:cNvPr>
          <p:cNvSpPr/>
          <p:nvPr/>
        </p:nvSpPr>
        <p:spPr>
          <a:xfrm>
            <a:off x="841003" y="1197546"/>
            <a:ext cx="10657184" cy="2952328"/>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endParaRPr>
          </a:p>
        </p:txBody>
      </p:sp>
      <p:sp>
        <p:nvSpPr>
          <p:cNvPr id="4" name="矩形 1">
            <a:extLst>
              <a:ext uri="{FF2B5EF4-FFF2-40B4-BE49-F238E27FC236}">
                <a16:creationId xmlns:a16="http://schemas.microsoft.com/office/drawing/2014/main" id="{A391211D-98CF-8DD0-EC62-BDDED11F5C17}"/>
              </a:ext>
            </a:extLst>
          </p:cNvPr>
          <p:cNvSpPr/>
          <p:nvPr/>
        </p:nvSpPr>
        <p:spPr>
          <a:xfrm>
            <a:off x="1108764" y="1302859"/>
            <a:ext cx="10209403" cy="2462213"/>
          </a:xfrm>
          <a:prstGeom prst="rect">
            <a:avLst/>
          </a:prstGeom>
        </p:spPr>
        <p:txBody>
          <a:bodyPr wrap="square">
            <a:spAutoFit/>
          </a:bodyPr>
          <a:lstStyle/>
          <a:p>
            <a:r>
              <a:rPr lang="en-US" altLang="zh-CN" dirty="0"/>
              <a:t>CREATE TABLE t_a2_storage_log (</a:t>
            </a:r>
            <a:endParaRPr lang="zh-CN" altLang="zh-CN" dirty="0"/>
          </a:p>
          <a:p>
            <a:r>
              <a:rPr lang="en-US" altLang="zh-CN" dirty="0"/>
              <a:t>    id SERIAL PRIMARY KEY,</a:t>
            </a:r>
            <a:endParaRPr lang="zh-CN" altLang="zh-CN" dirty="0"/>
          </a:p>
          <a:p>
            <a:r>
              <a:rPr lang="en-US" altLang="zh-CN" dirty="0"/>
              <a:t>    </a:t>
            </a:r>
            <a:r>
              <a:rPr lang="en-US" altLang="zh-CN" dirty="0" err="1"/>
              <a:t>action_type</a:t>
            </a:r>
            <a:r>
              <a:rPr lang="en-US" altLang="zh-CN" dirty="0"/>
              <a:t> VARCHAR(20) NOT NULL,</a:t>
            </a:r>
            <a:endParaRPr lang="zh-CN" altLang="zh-CN" dirty="0"/>
          </a:p>
          <a:p>
            <a:r>
              <a:rPr lang="en-US" altLang="zh-CN" dirty="0"/>
              <a:t>    </a:t>
            </a:r>
            <a:r>
              <a:rPr lang="en-US" altLang="zh-CN" dirty="0" err="1"/>
              <a:t>target_file_id</a:t>
            </a:r>
            <a:r>
              <a:rPr lang="en-US" altLang="zh-CN" dirty="0"/>
              <a:t> INT,</a:t>
            </a:r>
            <a:endParaRPr lang="zh-CN" altLang="zh-CN" dirty="0"/>
          </a:p>
          <a:p>
            <a:r>
              <a:rPr lang="en-US" altLang="zh-CN" dirty="0"/>
              <a:t>    </a:t>
            </a:r>
            <a:r>
              <a:rPr lang="en-US" altLang="zh-CN" dirty="0" err="1"/>
              <a:t>released_space</a:t>
            </a:r>
            <a:r>
              <a:rPr lang="en-US" altLang="zh-CN" dirty="0"/>
              <a:t> BIGINT,</a:t>
            </a:r>
            <a:endParaRPr lang="zh-CN" altLang="zh-CN" dirty="0"/>
          </a:p>
          <a:p>
            <a:r>
              <a:rPr lang="en-US" altLang="zh-CN" dirty="0"/>
              <a:t>    </a:t>
            </a:r>
            <a:r>
              <a:rPr lang="en-US" altLang="zh-CN" dirty="0" err="1"/>
              <a:t>op_time</a:t>
            </a:r>
            <a:r>
              <a:rPr lang="en-US" altLang="zh-CN" dirty="0"/>
              <a:t> TIMESTAMP DEFAULT CURRENT_TIMESTAMP</a:t>
            </a:r>
            <a:endParaRPr lang="zh-CN" altLang="zh-CN" dirty="0"/>
          </a:p>
          <a:p>
            <a:r>
              <a:rPr lang="en-US" altLang="zh-CN" dirty="0"/>
              <a:t>);</a:t>
            </a:r>
            <a:endParaRPr lang="zh-CN" altLang="zh-CN" dirty="0"/>
          </a:p>
        </p:txBody>
      </p:sp>
      <p:sp>
        <p:nvSpPr>
          <p:cNvPr id="2" name="TextBox 11">
            <a:extLst>
              <a:ext uri="{FF2B5EF4-FFF2-40B4-BE49-F238E27FC236}">
                <a16:creationId xmlns:a16="http://schemas.microsoft.com/office/drawing/2014/main" id="{A42899D0-9564-447C-8A51-A4DB1486F3AF}"/>
              </a:ext>
            </a:extLst>
          </p:cNvPr>
          <p:cNvSpPr txBox="1"/>
          <p:nvPr/>
        </p:nvSpPr>
        <p:spPr>
          <a:xfrm>
            <a:off x="140993" y="152331"/>
            <a:ext cx="12026836" cy="584800"/>
          </a:xfrm>
          <a:prstGeom prst="rect">
            <a:avLst/>
          </a:prstGeom>
          <a:noFill/>
        </p:spPr>
        <p:txBody>
          <a:bodyPr wrap="square" lIns="121944" tIns="60972" rIns="121944" bIns="60972" rtlCol="0">
            <a:spAutoFit/>
          </a:bodyPr>
          <a:lstStyle/>
          <a:p>
            <a:r>
              <a:rPr lang="zh-CN" altLang="en-US" sz="3000" b="1" dirty="0">
                <a:solidFill>
                  <a:schemeClr val="bg1"/>
                </a:solidFill>
                <a:latin typeface="微软雅黑" panose="020B0503020204020204" pitchFamily="34" charset="-122"/>
                <a:ea typeface="微软雅黑" panose="020B0503020204020204" pitchFamily="34" charset="-122"/>
              </a:rPr>
              <a:t>数据库物理设计</a:t>
            </a:r>
            <a:r>
              <a:rPr lang="en-US" altLang="zh-CN" sz="3000" b="1" dirty="0">
                <a:solidFill>
                  <a:schemeClr val="bg1"/>
                </a:solidFill>
                <a:latin typeface="微软雅黑" panose="020B0503020204020204" pitchFamily="34" charset="-122"/>
                <a:ea typeface="微软雅黑" panose="020B0503020204020204" pitchFamily="34" charset="-122"/>
              </a:rPr>
              <a:t>——</a:t>
            </a:r>
            <a:r>
              <a:rPr lang="zh-CN" altLang="zh-CN" sz="3000" b="1" dirty="0">
                <a:solidFill>
                  <a:schemeClr val="bg1"/>
                </a:solidFill>
                <a:latin typeface="微软雅黑" panose="020B0503020204020204" pitchFamily="34" charset="-122"/>
                <a:ea typeface="微软雅黑" panose="020B0503020204020204" pitchFamily="34" charset="-122"/>
              </a:rPr>
              <a:t>存储清理审计表</a:t>
            </a:r>
            <a:r>
              <a:rPr lang="en-US" altLang="zh-CN" sz="3000" b="1" dirty="0">
                <a:solidFill>
                  <a:schemeClr val="bg1"/>
                </a:solidFill>
                <a:latin typeface="微软雅黑" panose="020B0503020204020204" pitchFamily="34" charset="-122"/>
                <a:ea typeface="微软雅黑" panose="020B0503020204020204" pitchFamily="34" charset="-122"/>
              </a:rPr>
              <a:t> (t_a2_storage_log)</a:t>
            </a:r>
            <a:endParaRPr lang="zh-CN" altLang="en-US" sz="30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79116546"/>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6005255" y="3269982"/>
            <a:ext cx="184666" cy="318036"/>
          </a:xfrm>
          <a:prstGeom prst="rect">
            <a:avLst/>
          </a:prstGeom>
        </p:spPr>
        <p:txBody>
          <a:bodyPr wrap="none">
            <a:spAutoFit/>
          </a:bodyPr>
          <a:lstStyle/>
          <a:p>
            <a:r>
              <a:rPr lang="zh-CN" altLang="en-US" baseline="30000"/>
              <a:t> </a:t>
            </a:r>
            <a:endParaRPr lang="zh-CN" altLang="en-US" dirty="0"/>
          </a:p>
        </p:txBody>
      </p:sp>
      <p:pic>
        <p:nvPicPr>
          <p:cNvPr id="3" name="图片 2" descr="未命名 2.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83097"/>
            <a:ext cx="12195176" cy="5425133"/>
          </a:xfrm>
          <a:prstGeom prst="rect">
            <a:avLst/>
          </a:prstGeom>
        </p:spPr>
      </p:pic>
      <p:pic>
        <p:nvPicPr>
          <p:cNvPr id="5" name="图片 4">
            <a:extLst>
              <a:ext uri="{FF2B5EF4-FFF2-40B4-BE49-F238E27FC236}">
                <a16:creationId xmlns:a16="http://schemas.microsoft.com/office/drawing/2014/main" id="{B24CBC03-1AA6-3443-D666-8DB15F68B70F}"/>
              </a:ext>
            </a:extLst>
          </p:cNvPr>
          <p:cNvPicPr>
            <a:picLocks noChangeAspect="1"/>
          </p:cNvPicPr>
          <p:nvPr/>
        </p:nvPicPr>
        <p:blipFill>
          <a:blip r:embed="rId3"/>
          <a:stretch>
            <a:fillRect/>
          </a:stretch>
        </p:blipFill>
        <p:spPr>
          <a:xfrm>
            <a:off x="10764365" y="5631034"/>
            <a:ext cx="949846" cy="949846"/>
          </a:xfrm>
          <a:prstGeom prst="rect">
            <a:avLst/>
          </a:prstGeom>
        </p:spPr>
      </p:pic>
      <p:sp>
        <p:nvSpPr>
          <p:cNvPr id="2" name="文本框 1">
            <a:extLst>
              <a:ext uri="{FF2B5EF4-FFF2-40B4-BE49-F238E27FC236}">
                <a16:creationId xmlns:a16="http://schemas.microsoft.com/office/drawing/2014/main" id="{ABBD58ED-3751-DFE9-BEF0-D3C8B4DC3A9F}"/>
              </a:ext>
            </a:extLst>
          </p:cNvPr>
          <p:cNvSpPr txBox="1"/>
          <p:nvPr/>
        </p:nvSpPr>
        <p:spPr bwMode="auto">
          <a:xfrm>
            <a:off x="9193931" y="4892233"/>
            <a:ext cx="2736304" cy="400110"/>
          </a:xfrm>
          <a:prstGeom prst="rect">
            <a:avLst/>
          </a:prstGeom>
          <a:noFill/>
          <a:ln w="9525">
            <a:noFill/>
            <a:prstDash val="lgDash"/>
            <a:miter lim="800000"/>
          </a:ln>
        </p:spPr>
        <p:txBody>
          <a:bodyPr wrap="square" rtlCol="0">
            <a:spAutoFit/>
          </a:bodyPr>
          <a:lstStyle/>
          <a:p>
            <a:pPr eaLnBrk="1" hangingPunct="1"/>
            <a:r>
              <a:rPr lang="zh-CN" altLang="en-US" sz="2000" b="1" dirty="0">
                <a:solidFill>
                  <a:schemeClr val="bg1"/>
                </a:solidFill>
                <a:latin typeface="微软雅黑" panose="020B0503020204020204" pitchFamily="34" charset="-122"/>
                <a:ea typeface="微软雅黑" panose="020B0503020204020204" pitchFamily="34" charset="-122"/>
              </a:rPr>
              <a:t>汇报人：朱浩然</a:t>
            </a:r>
          </a:p>
        </p:txBody>
      </p:sp>
      <p:sp>
        <p:nvSpPr>
          <p:cNvPr id="4" name="文本框 3">
            <a:extLst>
              <a:ext uri="{FF2B5EF4-FFF2-40B4-BE49-F238E27FC236}">
                <a16:creationId xmlns:a16="http://schemas.microsoft.com/office/drawing/2014/main" id="{47CC2110-C37F-1C3B-7C49-FE0F3939DC45}"/>
              </a:ext>
            </a:extLst>
          </p:cNvPr>
          <p:cNvSpPr txBox="1"/>
          <p:nvPr/>
        </p:nvSpPr>
        <p:spPr bwMode="auto">
          <a:xfrm>
            <a:off x="9193931" y="4509914"/>
            <a:ext cx="2736304" cy="400110"/>
          </a:xfrm>
          <a:prstGeom prst="rect">
            <a:avLst/>
          </a:prstGeom>
          <a:noFill/>
          <a:ln w="9525">
            <a:noFill/>
            <a:prstDash val="lgDash"/>
            <a:miter lim="800000"/>
          </a:ln>
        </p:spPr>
        <p:txBody>
          <a:bodyPr wrap="square" rtlCol="0">
            <a:spAutoFit/>
          </a:bodyPr>
          <a:lstStyle/>
          <a:p>
            <a:pPr eaLnBrk="1" hangingPunct="1"/>
            <a:r>
              <a:rPr lang="zh-CN" altLang="en-US" sz="2000" b="1" dirty="0">
                <a:solidFill>
                  <a:schemeClr val="bg1"/>
                </a:solidFill>
                <a:latin typeface="微软雅黑" panose="020B0503020204020204" pitchFamily="34" charset="-122"/>
                <a:ea typeface="微软雅黑" panose="020B0503020204020204" pitchFamily="34" charset="-122"/>
              </a:rPr>
              <a:t>组   别：第</a:t>
            </a:r>
            <a:r>
              <a:rPr lang="en-US" altLang="zh-CN" sz="2000" b="1" dirty="0">
                <a:solidFill>
                  <a:schemeClr val="bg1"/>
                </a:solidFill>
                <a:latin typeface="微软雅黑" panose="020B0503020204020204" pitchFamily="34" charset="-122"/>
                <a:ea typeface="微软雅黑" panose="020B0503020204020204" pitchFamily="34" charset="-122"/>
              </a:rPr>
              <a:t>2</a:t>
            </a:r>
            <a:r>
              <a:rPr lang="zh-CN" altLang="en-US" sz="2000" b="1" dirty="0">
                <a:solidFill>
                  <a:schemeClr val="bg1"/>
                </a:solidFill>
                <a:latin typeface="微软雅黑" panose="020B0503020204020204" pitchFamily="34" charset="-122"/>
                <a:ea typeface="微软雅黑" panose="020B0503020204020204" pitchFamily="34" charset="-122"/>
              </a:rPr>
              <a:t>组</a:t>
            </a:r>
          </a:p>
        </p:txBody>
      </p:sp>
    </p:spTree>
  </p:cSld>
  <p:clrMapOvr>
    <a:masterClrMapping/>
  </p:clrMapOvr>
  <p:transition spd="slow">
    <p:push dir="u"/>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bwMode="auto">
        <a:noFill/>
        <a:ln w="9525">
          <a:solidFill>
            <a:srgbClr val="00B0F0"/>
          </a:solidFill>
          <a:prstDash val="lgDash"/>
          <a:miter lim="800000"/>
        </a:ln>
      </a:spPr>
      <a:bodyPr wrap="square">
        <a:spAutoFit/>
      </a:bodyPr>
      <a:lstStyle>
        <a:defPPr eaLnBrk="1" hangingPunct="1">
          <a:defRPr sz="2800" b="1" dirty="0">
            <a:solidFill>
              <a:srgbClr val="00B0F0"/>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6078</TotalTime>
  <Words>2507</Words>
  <Application>Microsoft Office PowerPoint</Application>
  <PresentationFormat>自定义</PresentationFormat>
  <Paragraphs>293</Paragraphs>
  <Slides>18</Slides>
  <Notes>14</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18</vt:i4>
      </vt:variant>
    </vt:vector>
  </HeadingPairs>
  <TitlesOfParts>
    <vt:vector size="23" baseType="lpstr">
      <vt:lpstr>Arial</vt:lpstr>
      <vt:lpstr>微软雅黑</vt:lpstr>
      <vt:lpstr>Calibri</vt:lpstr>
      <vt:lpstr>Calibri (正文)</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迅联数字化生态解决模式</dc:title>
  <dc:creator>sunyiwen</dc:creator>
  <cp:lastModifiedBy>歆 徐</cp:lastModifiedBy>
  <cp:revision>1637</cp:revision>
  <dcterms:created xsi:type="dcterms:W3CDTF">2014-10-10T10:55:00Z</dcterms:created>
  <dcterms:modified xsi:type="dcterms:W3CDTF">2026-03-31T08:51:33Z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2052-10.1.0.7224</vt:lpwstr>
  </property>
</Properties>
</file>