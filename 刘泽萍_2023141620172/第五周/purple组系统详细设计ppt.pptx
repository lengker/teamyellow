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706" r:id="rId2"/>
    <p:sldId id="802" r:id="rId3"/>
    <p:sldId id="843" r:id="rId4"/>
    <p:sldId id="842" r:id="rId5"/>
    <p:sldId id="814" r:id="rId6"/>
    <p:sldId id="838" r:id="rId7"/>
    <p:sldId id="839" r:id="rId8"/>
    <p:sldId id="840" r:id="rId9"/>
    <p:sldId id="841" r:id="rId10"/>
    <p:sldId id="836" r:id="rId11"/>
    <p:sldId id="811" r:id="rId12"/>
    <p:sldId id="829" r:id="rId13"/>
    <p:sldId id="830" r:id="rId14"/>
    <p:sldId id="831" r:id="rId15"/>
    <p:sldId id="828" r:id="rId16"/>
    <p:sldId id="264" r:id="rId17"/>
    <p:sldId id="265" r:id="rId18"/>
    <p:sldId id="266" r:id="rId19"/>
    <p:sldId id="844" r:id="rId20"/>
  </p:sldIdLst>
  <p:sldSz cx="12195175" cy="6859588"/>
  <p:notesSz cx="6858000" cy="9144000"/>
  <p:custDataLst>
    <p:tags r:id="rId23"/>
  </p:custDataLst>
  <p:defaultTextStyle>
    <a:defPPr>
      <a:defRPr lang="zh-CN"/>
    </a:defPPr>
    <a:lvl1pPr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55625" indent="-9842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13155" indent="-19875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70050" indent="-29845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27580" indent="-39878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00"/>
    <a:srgbClr val="E54E4B"/>
    <a:srgbClr val="FF8490"/>
    <a:srgbClr val="B08D8D"/>
    <a:srgbClr val="AE1600"/>
    <a:srgbClr val="F21D00"/>
    <a:srgbClr val="FF0D0D"/>
    <a:srgbClr val="FF2929"/>
    <a:srgbClr val="FF2305"/>
    <a:srgbClr val="DE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1" autoAdjust="0"/>
    <p:restoredTop sz="86701" autoAdjust="0"/>
  </p:normalViewPr>
  <p:slideViewPr>
    <p:cSldViewPr showGuides="1">
      <p:cViewPr varScale="1">
        <p:scale>
          <a:sx n="45" d="100"/>
          <a:sy n="45" d="100"/>
        </p:scale>
        <p:origin x="62" y="747"/>
      </p:cViewPr>
      <p:guideLst>
        <p:guide orient="horz" pos="3884"/>
        <p:guide pos="386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568" y="184"/>
      </p:cViewPr>
      <p:guideLst>
        <p:guide orient="horz" pos="2880"/>
        <p:guide pos="217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92240-AAD8-8A40-B472-4B2BB0E3C869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3428E-1752-044E-8E84-1206952236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96FE60-AC88-4099-828E-6EAB92C99598}" type="datetimeFigureOut">
              <a:rPr lang="zh-CN" altLang="en-US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174F2B2-5209-471A-A08A-9815279348B7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前端，我们使用了多种中间件来提升应用的健壮性和用户体验。路由守卫确保了页面的访问安全；HTTP请求中间件统一了API交互的逻辑；状态管理中间件帮助我们管理用户偏好等状态；而错误处理中间件则能全局捕获并优雅地处理各种运行时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中间件是保障API服务安全和稳定的关键。认证和权限中间件构成了系统的安全防线；日志中间件为系统监控和问题排查提供了依据；限流中间件则保护系统免受恶意攻击；CORS中间件解决了前后端分离架构下的跨域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前后端中间件的典型执行流程。在后端，一个请求会依次经过CORS、认证、权限、限流等中间件的处理，然后到达业务逻辑，最后由日志中间件记录后返回响应。在前端，用户操作触发事件，通过状态管理和HTTP请求中间件与后端API交互，最终更新UI。这个流程确保了所有横切关注点都得到了统一处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641" y="2130922"/>
            <a:ext cx="10365898" cy="147036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击此处编辑母版标题样式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 l="24357" t="22404" r="9236" b="26901"/>
          <a:stretch>
            <a:fillRect/>
          </a:stretch>
        </p:blipFill>
        <p:spPr bwMode="auto">
          <a:xfrm>
            <a:off x="-22989" y="-674662"/>
            <a:ext cx="12241256" cy="5544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370" y="5662042"/>
            <a:ext cx="12159806" cy="10801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  <p:pic>
        <p:nvPicPr>
          <p:cNvPr id="38913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0"/>
            <a:ext cx="12218268" cy="79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 userDrawn="1"/>
        </p:nvSpPr>
        <p:spPr bwMode="auto">
          <a:xfrm>
            <a:off x="2065139" y="119167"/>
            <a:ext cx="7560840" cy="646331"/>
          </a:xfrm>
          <a:prstGeom prst="rect">
            <a:avLst/>
          </a:prstGeom>
          <a:noFill/>
          <a:ln w="9525">
            <a:noFill/>
            <a:prstDash val="lgDash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sz="3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/>
          <p:cNvSpPr txBox="1">
            <a:spLocks noChangeArrowheads="1"/>
          </p:cNvSpPr>
          <p:nvPr userDrawn="1"/>
        </p:nvSpPr>
        <p:spPr bwMode="auto">
          <a:xfrm>
            <a:off x="10650538" y="6540500"/>
            <a:ext cx="155892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600">
                <a:solidFill>
                  <a:schemeClr val="bg1"/>
                </a:solidFill>
              </a:rPr>
              <a:t>From KPI To ROI 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/>
              <a:t>2026/4/14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29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6388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302B5DB-DC4A-471D-8BB5-DE1AA9BABD40}" type="datetimeFigureOut">
              <a:rPr lang="zh-CN" altLang="en-US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188" y="6357938"/>
            <a:ext cx="3860800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ctr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188" y="6357938"/>
            <a:ext cx="2846387" cy="365125"/>
          </a:xfrm>
          <a:prstGeom prst="rect">
            <a:avLst/>
          </a:prstGeom>
        </p:spPr>
        <p:txBody>
          <a:bodyPr vert="horz" wrap="square" lIns="111420" tIns="55710" rIns="111420" bIns="55710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slow">
    <p:push dir="u"/>
  </p:transition>
  <p:txStyles>
    <p:titleStyle>
      <a:lvl1pPr algn="ctr" defTabSz="1112520" rtl="0" eaLnBrk="0" fontAlgn="base" hangingPunct="0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7830" indent="-4178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4875" indent="-34798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555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945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50698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6387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2140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78300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3519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442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7132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821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574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64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953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706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6967" y="1557586"/>
            <a:ext cx="11161240" cy="14287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Purple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组系统详细汇报</a:t>
            </a:r>
            <a:endParaRPr lang="en-US" altLang="zh-CN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590312" y="5662042"/>
            <a:ext cx="2569196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 bwMode="auto">
          <a:xfrm>
            <a:off x="1525079" y="5477956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汇报团队：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purple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1525079" y="5923652"/>
            <a:ext cx="9145016" cy="39878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 eaLnBrk="1" hangingPunct="1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日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109" y="161152"/>
            <a:ext cx="6002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5"/>
          <p:cNvSpPr txBox="1"/>
          <p:nvPr>
            <p:custDataLst>
              <p:tags r:id="rId1"/>
            </p:custDataLst>
          </p:nvPr>
        </p:nvSpPr>
        <p:spPr>
          <a:xfrm rot="16200000">
            <a:off x="914740" y="3282003"/>
            <a:ext cx="417672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义启萌妹体" panose="02010601030101010101" charset="-122"/>
                <a:ea typeface="义启萌妹体" panose="02010601030101010101" charset="-122"/>
                <a:cs typeface="+mn-cs"/>
              </a:rPr>
              <a:t>CONTENT</a:t>
            </a:r>
          </a:p>
        </p:txBody>
      </p:sp>
      <p:sp>
        <p:nvSpPr>
          <p:cNvPr id="4" name="MH_Number_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873297" y="2061599"/>
            <a:ext cx="503919" cy="503919"/>
          </a:xfrm>
          <a:prstGeom prst="ellipse">
            <a:avLst/>
          </a:prstGeom>
          <a:solidFill>
            <a:srgbClr val="FF2305"/>
          </a:solidFill>
          <a:ln w="57150">
            <a:solidFill>
              <a:srgbClr val="E54E4B"/>
            </a:solidFill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3"/>
            </p:custDataLst>
          </p:nvPr>
        </p:nvSpPr>
        <p:spPr>
          <a:xfrm>
            <a:off x="5666410" y="1845368"/>
            <a:ext cx="4168861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需求说明</a:t>
            </a:r>
          </a:p>
        </p:txBody>
      </p:sp>
      <p:sp>
        <p:nvSpPr>
          <p:cNvPr id="6" name="MH_Number_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873434" y="3141050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MH_Entry_2"/>
          <p:cNvSpPr/>
          <p:nvPr>
            <p:custDataLst>
              <p:tags r:id="rId5"/>
            </p:custDataLst>
          </p:nvPr>
        </p:nvSpPr>
        <p:spPr>
          <a:xfrm>
            <a:off x="5666410" y="2925168"/>
            <a:ext cx="2806564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功能性需求</a:t>
            </a:r>
          </a:p>
        </p:txBody>
      </p:sp>
      <p:sp>
        <p:nvSpPr>
          <p:cNvPr id="8" name="MH_Number_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874069" y="4262009"/>
            <a:ext cx="504056" cy="504152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" name="MH_Entry_3"/>
          <p:cNvSpPr/>
          <p:nvPr>
            <p:custDataLst>
              <p:tags r:id="rId7"/>
            </p:custDataLst>
          </p:nvPr>
        </p:nvSpPr>
        <p:spPr>
          <a:xfrm>
            <a:off x="5666097" y="4077840"/>
            <a:ext cx="2928071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接口需求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201043" y="2274769"/>
            <a:ext cx="1368152" cy="3030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 dirty="0">
                <a:solidFill>
                  <a:srgbClr val="C00000"/>
                </a:solidFill>
              </a:rPr>
              <a:t>目</a:t>
            </a:r>
          </a:p>
          <a:p>
            <a:r>
              <a:rPr lang="zh-CN" altLang="en-US" sz="9600" dirty="0">
                <a:solidFill>
                  <a:srgbClr val="C00000"/>
                </a:solidFill>
              </a:rPr>
              <a:t>录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3721323" y="1413570"/>
            <a:ext cx="0" cy="475252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MH_Number_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873434" y="5300685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</a:p>
        </p:txBody>
      </p:sp>
      <p:sp>
        <p:nvSpPr>
          <p:cNvPr id="11" name="MH_Entry_2"/>
          <p:cNvSpPr/>
          <p:nvPr>
            <p:custDataLst>
              <p:tags r:id="rId9"/>
            </p:custDataLst>
          </p:nvPr>
        </p:nvSpPr>
        <p:spPr>
          <a:xfrm>
            <a:off x="5593715" y="5085715"/>
            <a:ext cx="3420745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非功能性需求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A7AF-83F5-B539-7185-115F9FF1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2C8F16E-0D8E-F89E-C50A-722CC213E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699A714-B15B-2E18-2CC7-281587B8FA93}"/>
              </a:ext>
            </a:extLst>
          </p:cNvPr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项目核心介绍</a:t>
            </a:r>
          </a:p>
        </p:txBody>
      </p:sp>
    </p:spTree>
    <p:extLst>
      <p:ext uri="{BB962C8B-B14F-4D97-AF65-F5344CB8AC3E}">
        <p14:creationId xmlns:p14="http://schemas.microsoft.com/office/powerpoint/2010/main" val="4121424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6A6F2-6894-00E7-C0B0-1A5D8C19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B7E18-066A-2D17-F118-E4B9904BF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0" y="167234"/>
            <a:ext cx="7056784" cy="611034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bg1"/>
                </a:solidFill>
              </a:rPr>
              <a:t>项目核心介绍</a:t>
            </a:r>
            <a:endParaRPr lang="zh-CN" altLang="en-US" sz="3300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A4C245-FDC0-4731-71F6-1E74FBA9C43A}"/>
              </a:ext>
            </a:extLst>
          </p:cNvPr>
          <p:cNvSpPr txBox="1"/>
          <p:nvPr/>
        </p:nvSpPr>
        <p:spPr bwMode="auto">
          <a:xfrm>
            <a:off x="480963" y="981522"/>
            <a:ext cx="10945217" cy="55490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marL="457200" indent="-457200" eaLnBrk="1" hangingPunct="1">
              <a:lnSpc>
                <a:spcPct val="114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+mj-ea"/>
                <a:ea typeface="+mj-ea"/>
              </a:rPr>
              <a:t>项目目标</a:t>
            </a:r>
            <a:r>
              <a:rPr lang="en-US" altLang="zh-CN" sz="2800" b="1" dirty="0">
                <a:latin typeface="+mj-ea"/>
                <a:ea typeface="+mj-ea"/>
              </a:rPr>
              <a:t>:</a:t>
            </a:r>
            <a:r>
              <a:rPr lang="zh-CN" altLang="en-US" sz="2800" dirty="0">
                <a:latin typeface="+mj-ea"/>
                <a:ea typeface="+mj-ea"/>
              </a:rPr>
              <a:t>本项目是一款面向编程教学的作业代码自动评分系统，采用前后端分离的</a:t>
            </a:r>
            <a:r>
              <a:rPr lang="en-US" altLang="zh-CN" sz="2800" dirty="0">
                <a:latin typeface="+mj-ea"/>
                <a:ea typeface="+mj-ea"/>
              </a:rPr>
              <a:t>BS</a:t>
            </a:r>
            <a:r>
              <a:rPr lang="zh-CN" altLang="en-US" sz="2800" dirty="0">
                <a:latin typeface="+mj-ea"/>
                <a:ea typeface="+mj-ea"/>
              </a:rPr>
              <a:t>架构，核心解决编程作业提交、静态与动态评测、结果分析与导出的全流程自动化问题，旨在提升教学效率与评测标准化水平。</a:t>
            </a:r>
          </a:p>
          <a:p>
            <a:pPr marL="457200" indent="-457200" eaLnBrk="1" hangingPunct="1">
              <a:lnSpc>
                <a:spcPct val="114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+mj-ea"/>
                <a:ea typeface="+mj-ea"/>
              </a:rPr>
              <a:t>核心功能</a:t>
            </a:r>
            <a:r>
              <a:rPr lang="en-US" altLang="zh-CN" sz="2800" b="1" dirty="0">
                <a:latin typeface="+mj-ea"/>
                <a:ea typeface="+mj-ea"/>
              </a:rPr>
              <a:t>:</a:t>
            </a:r>
            <a:r>
              <a:rPr lang="en-US" altLang="zh-CN" sz="2800" dirty="0">
                <a:latin typeface="+mj-ea"/>
                <a:ea typeface="+mj-ea"/>
              </a:rPr>
              <a:t>UI</a:t>
            </a:r>
            <a:r>
              <a:rPr lang="zh-CN" altLang="en-US" sz="2800" dirty="0">
                <a:latin typeface="+mj-ea"/>
                <a:ea typeface="+mj-ea"/>
              </a:rPr>
              <a:t>用户界面模块</a:t>
            </a:r>
            <a:r>
              <a:rPr lang="en-US" altLang="zh-CN" sz="2800" dirty="0">
                <a:latin typeface="+mj-ea"/>
                <a:ea typeface="+mj-ea"/>
              </a:rPr>
              <a:t>(</a:t>
            </a:r>
            <a:r>
              <a:rPr lang="zh-CN" altLang="en-US" sz="2800" dirty="0">
                <a:latin typeface="+mj-ea"/>
                <a:ea typeface="+mj-ea"/>
              </a:rPr>
              <a:t>学生</a:t>
            </a:r>
            <a:r>
              <a:rPr lang="en-US" altLang="zh-CN" sz="2800" dirty="0">
                <a:latin typeface="+mj-ea"/>
                <a:ea typeface="+mj-ea"/>
              </a:rPr>
              <a:t>/</a:t>
            </a:r>
            <a:r>
              <a:rPr lang="zh-CN" altLang="en-US" sz="2800" dirty="0">
                <a:latin typeface="+mj-ea"/>
                <a:ea typeface="+mj-ea"/>
              </a:rPr>
              <a:t>教师</a:t>
            </a:r>
            <a:r>
              <a:rPr lang="en-US" altLang="zh-CN" sz="2800" dirty="0">
                <a:latin typeface="+mj-ea"/>
                <a:ea typeface="+mj-ea"/>
              </a:rPr>
              <a:t>/</a:t>
            </a:r>
            <a:r>
              <a:rPr lang="zh-CN" altLang="en-US" sz="2800" dirty="0">
                <a:latin typeface="+mj-ea"/>
                <a:ea typeface="+mj-ea"/>
              </a:rPr>
              <a:t>管理员三角色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r>
              <a:rPr lang="zh-CN" altLang="en-US" sz="2800" dirty="0">
                <a:latin typeface="+mj-ea"/>
                <a:ea typeface="+mj-ea"/>
              </a:rPr>
              <a:t>、代码测评模块</a:t>
            </a:r>
            <a:r>
              <a:rPr lang="en-US" altLang="zh-CN" sz="2800" dirty="0">
                <a:latin typeface="+mj-ea"/>
                <a:ea typeface="+mj-ea"/>
              </a:rPr>
              <a:t>(</a:t>
            </a:r>
            <a:r>
              <a:rPr lang="zh-CN" altLang="en-US" sz="2800" dirty="0">
                <a:latin typeface="+mj-ea"/>
                <a:ea typeface="+mj-ea"/>
              </a:rPr>
              <a:t>静态检查</a:t>
            </a:r>
            <a:r>
              <a:rPr lang="en-US" altLang="zh-CN" sz="2800" dirty="0">
                <a:latin typeface="+mj-ea"/>
                <a:ea typeface="+mj-ea"/>
              </a:rPr>
              <a:t>+</a:t>
            </a:r>
            <a:r>
              <a:rPr lang="zh-CN" altLang="en-US" sz="2800" dirty="0">
                <a:latin typeface="+mj-ea"/>
                <a:ea typeface="+mj-ea"/>
              </a:rPr>
              <a:t>动态测试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r>
              <a:rPr lang="zh-CN" altLang="en-US" sz="2800" dirty="0">
                <a:latin typeface="+mj-ea"/>
                <a:ea typeface="+mj-ea"/>
              </a:rPr>
              <a:t>、题库管理模块</a:t>
            </a:r>
            <a:r>
              <a:rPr lang="en-US" altLang="zh-CN" sz="2800" dirty="0">
                <a:latin typeface="+mj-ea"/>
                <a:ea typeface="+mj-ea"/>
              </a:rPr>
              <a:t>(</a:t>
            </a:r>
            <a:r>
              <a:rPr lang="zh-CN" altLang="en-US" sz="2800" dirty="0">
                <a:latin typeface="+mj-ea"/>
                <a:ea typeface="+mj-ea"/>
              </a:rPr>
              <a:t>题目维护</a:t>
            </a:r>
            <a:r>
              <a:rPr lang="en-US" altLang="zh-CN" sz="2800" dirty="0">
                <a:latin typeface="+mj-ea"/>
                <a:ea typeface="+mj-ea"/>
              </a:rPr>
              <a:t>+</a:t>
            </a:r>
            <a:r>
              <a:rPr lang="zh-CN" altLang="en-US" sz="2800" dirty="0">
                <a:latin typeface="+mj-ea"/>
                <a:ea typeface="+mj-ea"/>
              </a:rPr>
              <a:t>测试框架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r>
              <a:rPr lang="zh-CN" altLang="en-US" sz="2800" dirty="0">
                <a:latin typeface="+mj-ea"/>
                <a:ea typeface="+mj-ea"/>
              </a:rPr>
              <a:t>、后端数据库管理模块</a:t>
            </a:r>
            <a:r>
              <a:rPr lang="en-US" altLang="zh-CN" sz="2800" dirty="0">
                <a:latin typeface="+mj-ea"/>
                <a:ea typeface="+mj-ea"/>
              </a:rPr>
              <a:t>(</a:t>
            </a:r>
            <a:r>
              <a:rPr lang="zh-CN" altLang="en-US" sz="2800" dirty="0">
                <a:latin typeface="+mj-ea"/>
                <a:ea typeface="+mj-ea"/>
              </a:rPr>
              <a:t>数据存储</a:t>
            </a:r>
            <a:r>
              <a:rPr lang="en-US" altLang="zh-CN" sz="2800" dirty="0">
                <a:latin typeface="+mj-ea"/>
                <a:ea typeface="+mj-ea"/>
              </a:rPr>
              <a:t>+API</a:t>
            </a:r>
            <a:r>
              <a:rPr lang="zh-CN" altLang="en-US" sz="2800" dirty="0">
                <a:latin typeface="+mj-ea"/>
                <a:ea typeface="+mj-ea"/>
              </a:rPr>
              <a:t>服务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</a:p>
          <a:p>
            <a:pPr marL="457200" indent="-457200" eaLnBrk="1" hangingPunct="1">
              <a:lnSpc>
                <a:spcPct val="114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+mj-ea"/>
                <a:ea typeface="+mj-ea"/>
              </a:rPr>
              <a:t>技术架构</a:t>
            </a:r>
            <a:r>
              <a:rPr lang="en-US" altLang="zh-CN" sz="2800" b="1" dirty="0">
                <a:latin typeface="+mj-ea"/>
                <a:ea typeface="+mj-ea"/>
              </a:rPr>
              <a:t>:</a:t>
            </a:r>
            <a:r>
              <a:rPr lang="en-US" altLang="zh-CN" sz="2800" dirty="0">
                <a:latin typeface="+mj-ea"/>
                <a:ea typeface="+mj-ea"/>
              </a:rPr>
              <a:t>Python (</a:t>
            </a:r>
            <a:r>
              <a:rPr lang="en-US" altLang="zh-CN" sz="2800" dirty="0" err="1">
                <a:latin typeface="+mj-ea"/>
                <a:ea typeface="+mj-ea"/>
              </a:rPr>
              <a:t>FastAPI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r>
              <a:rPr lang="zh-CN" altLang="en-US" sz="2800" dirty="0">
                <a:latin typeface="+mj-ea"/>
                <a:ea typeface="+mj-ea"/>
              </a:rPr>
              <a:t>、</a:t>
            </a:r>
            <a:r>
              <a:rPr lang="en-US" altLang="zh-CN" sz="2800" dirty="0">
                <a:latin typeface="+mj-ea"/>
                <a:ea typeface="+mj-ea"/>
              </a:rPr>
              <a:t>JavaScript (Vue.js)</a:t>
            </a:r>
            <a:r>
              <a:rPr lang="zh-CN" altLang="en-US" sz="2800" dirty="0">
                <a:latin typeface="+mj-ea"/>
                <a:ea typeface="+mj-ea"/>
              </a:rPr>
              <a:t>、</a:t>
            </a:r>
            <a:r>
              <a:rPr lang="en-US" altLang="zh-CN" sz="2800" dirty="0">
                <a:latin typeface="+mj-ea"/>
                <a:ea typeface="+mj-ea"/>
              </a:rPr>
              <a:t>SQLite</a:t>
            </a:r>
            <a:r>
              <a:rPr lang="zh-CN" altLang="en-US" sz="2800" dirty="0">
                <a:latin typeface="+mj-ea"/>
                <a:ea typeface="+mj-ea"/>
              </a:rPr>
              <a:t>、</a:t>
            </a:r>
            <a:r>
              <a:rPr lang="en-US" altLang="zh-CN" sz="2800" dirty="0">
                <a:latin typeface="+mj-ea"/>
                <a:ea typeface="+mj-ea"/>
              </a:rPr>
              <a:t>Docker</a:t>
            </a:r>
          </a:p>
          <a:p>
            <a:pPr marL="457200" indent="-457200" eaLnBrk="1" hangingPunct="1">
              <a:lnSpc>
                <a:spcPct val="114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+mj-ea"/>
                <a:ea typeface="+mj-ea"/>
              </a:rPr>
              <a:t>部署方式</a:t>
            </a:r>
            <a:r>
              <a:rPr lang="en-US" altLang="zh-CN" sz="2800" b="1" dirty="0">
                <a:latin typeface="+mj-ea"/>
                <a:ea typeface="+mj-ea"/>
              </a:rPr>
              <a:t>:</a:t>
            </a:r>
            <a:r>
              <a:rPr lang="en-US" altLang="zh-CN" sz="2800" dirty="0">
                <a:latin typeface="+mj-ea"/>
                <a:ea typeface="+mj-ea"/>
              </a:rPr>
              <a:t>BS</a:t>
            </a:r>
            <a:r>
              <a:rPr lang="zh-CN" altLang="en-US" sz="2800" dirty="0">
                <a:latin typeface="+mj-ea"/>
                <a:ea typeface="+mj-ea"/>
              </a:rPr>
              <a:t>架构，支持主流浏览器访问，适配低资源服务器环境部署。</a:t>
            </a:r>
          </a:p>
        </p:txBody>
      </p:sp>
    </p:spTree>
    <p:extLst>
      <p:ext uri="{BB962C8B-B14F-4D97-AF65-F5344CB8AC3E}">
        <p14:creationId xmlns:p14="http://schemas.microsoft.com/office/powerpoint/2010/main" val="411423061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4800" dirty="0"/>
              <a:t>功能各模块的详细设计</a:t>
            </a:r>
            <a:endParaRPr lang="en-US" altLang="zh-CN" sz="4800" dirty="0"/>
          </a:p>
          <a:p>
            <a:pPr>
              <a:lnSpc>
                <a:spcPct val="150000"/>
              </a:lnSpc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4800" dirty="0"/>
              <a:t>功能点与需求项的覆盖关系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E2F51-E0CE-FD7A-BAB1-66AF9B9C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D1F14-E987-7301-6C4F-FE7B77097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23" y="117426"/>
            <a:ext cx="7056784" cy="611034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300" dirty="0">
                <a:solidFill>
                  <a:schemeClr val="bg1"/>
                </a:solidFill>
              </a:rPr>
              <a:t>B1-</a:t>
            </a:r>
            <a:r>
              <a:rPr lang="zh-CN" altLang="en-US" sz="3300" dirty="0">
                <a:solidFill>
                  <a:schemeClr val="bg1"/>
                </a:solidFill>
              </a:rPr>
              <a:t>学生端功能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19F85A-1D15-9E1B-E893-2FCBDD73B095}"/>
              </a:ext>
            </a:extLst>
          </p:cNvPr>
          <p:cNvSpPr txBox="1"/>
          <p:nvPr/>
        </p:nvSpPr>
        <p:spPr bwMode="auto">
          <a:xfrm>
            <a:off x="21363" y="909514"/>
            <a:ext cx="11593288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dirty="0"/>
              <a:t>核心定位：前端交互层，三角色权限隔离，对接 </a:t>
            </a:r>
            <a:r>
              <a:rPr lang="en-US" altLang="zh-CN" sz="2800" dirty="0"/>
              <a:t>B-2/B-4 API</a:t>
            </a:r>
            <a:endParaRPr lang="zh-CN" altLang="en-US" sz="28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E48B270-9781-4E03-381F-79AF1A5CF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33546"/>
              </p:ext>
            </p:extLst>
          </p:nvPr>
        </p:nvGraphicFramePr>
        <p:xfrm>
          <a:off x="191408" y="1917626"/>
          <a:ext cx="11812358" cy="42265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11544">
                  <a:extLst>
                    <a:ext uri="{9D8B030D-6E8A-4147-A177-3AD203B41FA5}">
                      <a16:colId xmlns:a16="http://schemas.microsoft.com/office/drawing/2014/main" val="979947857"/>
                    </a:ext>
                  </a:extLst>
                </a:gridCol>
                <a:gridCol w="2179818">
                  <a:extLst>
                    <a:ext uri="{9D8B030D-6E8A-4147-A177-3AD203B41FA5}">
                      <a16:colId xmlns:a16="http://schemas.microsoft.com/office/drawing/2014/main" val="3714453328"/>
                    </a:ext>
                  </a:extLst>
                </a:gridCol>
                <a:gridCol w="4060498">
                  <a:extLst>
                    <a:ext uri="{9D8B030D-6E8A-4147-A177-3AD203B41FA5}">
                      <a16:colId xmlns:a16="http://schemas.microsoft.com/office/drawing/2014/main" val="3728462859"/>
                    </a:ext>
                  </a:extLst>
                </a:gridCol>
                <a:gridCol w="4060498">
                  <a:extLst>
                    <a:ext uri="{9D8B030D-6E8A-4147-A177-3AD203B41FA5}">
                      <a16:colId xmlns:a16="http://schemas.microsoft.com/office/drawing/2014/main" val="40085489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需求编号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核心功能设计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详细技术实现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55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RQ-B-1-10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导入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PDF/XLSX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学生信息（姓名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学号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课程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课序号）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批量文件解析、字段校验、数据入库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前端：文件上传组件；后端：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pandas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解析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Excel/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PyMuPDF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解析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PDF；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唯一性校验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1965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RQ-B-1-20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学生信息编辑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权限控制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增删改查、角色鉴权、操作日志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JWT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角色校验（仅教师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管理员可编辑）；学生只读；接口权限拦截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9646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RQ-B-1-30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按班级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课程显示成绩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查询功能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多维度成绩展示、模糊查询、脱敏展示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教师：全班成绩列表；学生：仅本人成绩；支持学号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姓名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课程筛选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3949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RQ-B-1-40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作业提交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API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转发至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代码上传、格式校验、异步提交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支持文件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文本提交；校验代码格式；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接口转发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B-2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；返回提交状态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776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23661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6196-E381-22B8-D71A-8C16FB8C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B3DE0-7F84-A50B-B39E-6AA2E52D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23" y="117426"/>
            <a:ext cx="7056784" cy="611034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300" dirty="0">
                <a:solidFill>
                  <a:schemeClr val="bg1"/>
                </a:solidFill>
              </a:rPr>
              <a:t>B-2 </a:t>
            </a:r>
            <a:r>
              <a:rPr lang="zh-CN" altLang="en-US" sz="3300" dirty="0">
                <a:solidFill>
                  <a:schemeClr val="bg1"/>
                </a:solidFill>
              </a:rPr>
              <a:t>代码测评模块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483A5D-6340-060E-4438-11E60C1DA920}"/>
              </a:ext>
            </a:extLst>
          </p:cNvPr>
          <p:cNvSpPr txBox="1"/>
          <p:nvPr/>
        </p:nvSpPr>
        <p:spPr bwMode="auto">
          <a:xfrm>
            <a:off x="0" y="928517"/>
            <a:ext cx="11593288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dirty="0"/>
              <a:t>核心定位：测评核心层，沙盒隔离，静态 </a:t>
            </a:r>
            <a:r>
              <a:rPr lang="en-US" altLang="zh-CN" sz="2800" dirty="0"/>
              <a:t>+ </a:t>
            </a:r>
            <a:r>
              <a:rPr lang="zh-CN" altLang="en-US" sz="2800" dirty="0"/>
              <a:t>动态双维度测评</a:t>
            </a:r>
            <a:endParaRPr lang="zh-CN" altLang="en-US" sz="28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42B1F5E-A842-F63E-82BC-32FD4BD8A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898913"/>
              </p:ext>
            </p:extLst>
          </p:nvPr>
        </p:nvGraphicFramePr>
        <p:xfrm>
          <a:off x="336947" y="1651794"/>
          <a:ext cx="11593288" cy="468811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979947857"/>
                    </a:ext>
                  </a:extLst>
                </a:gridCol>
                <a:gridCol w="1968642">
                  <a:extLst>
                    <a:ext uri="{9D8B030D-6E8A-4147-A177-3AD203B41FA5}">
                      <a16:colId xmlns:a16="http://schemas.microsoft.com/office/drawing/2014/main" val="3714453328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3728462859"/>
                    </a:ext>
                  </a:extLst>
                </a:gridCol>
                <a:gridCol w="4445353">
                  <a:extLst>
                    <a:ext uri="{9D8B030D-6E8A-4147-A177-3AD203B41FA5}">
                      <a16:colId xmlns:a16="http://schemas.microsoft.com/office/drawing/2014/main" val="40085489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需求编号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需求描述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核心功能设计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详细技术实现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55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RQ-B-2-10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接收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B-1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待测代码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接口接收、参数校验、任务初始化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二进制接口；校验学号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题目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；生成唯一提交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1965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RQ-B-2-20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电子邮件接收待测代码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邮件轮询、附件解析、自动匹配学生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IMAP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协议监听邮箱；解析主题绑定学号；提取代码附件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9646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RQ-B-2-30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存储管理待测代码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分级存储、文件去重、生命周期管理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存储路径：课程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课序号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学号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作业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；磁盘持久化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数据库映射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3949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RQ-B-2-40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静态合法性检查（总评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细节）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语法校验、规范扫描、风险检测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pylint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C/C++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cppcheck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；输出行号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错误类型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修复建议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7766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RQ-B-2-50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动态逻辑测试（总评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细节）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沙盒运行、用例对比、异常捕获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Docker/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Firejail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隔离；拉取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B-3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用例；计分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超时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崩溃判定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9643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RQ-B-2-60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结果入库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格式化导出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全链路日志、结果持久化、批量导出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入库静态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动态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总分；支持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Excel/PDF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按班级导出报告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63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75179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7B1A5-4C5C-8734-6945-9C627C75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B1315-46B5-5A4C-5D7A-CAA1C96D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23" y="117426"/>
            <a:ext cx="7056784" cy="611034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300" dirty="0">
                <a:solidFill>
                  <a:schemeClr val="bg1"/>
                </a:solidFill>
              </a:rPr>
              <a:t>B-3 </a:t>
            </a:r>
            <a:r>
              <a:rPr lang="zh-CN" altLang="en-US" sz="3300" dirty="0">
                <a:solidFill>
                  <a:schemeClr val="bg1"/>
                </a:solidFill>
              </a:rPr>
              <a:t>题库管理模块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75C2BE-D3F5-5AF7-55C4-51E55351DD00}"/>
              </a:ext>
            </a:extLst>
          </p:cNvPr>
          <p:cNvSpPr txBox="1"/>
          <p:nvPr/>
        </p:nvSpPr>
        <p:spPr bwMode="auto">
          <a:xfrm>
            <a:off x="21363" y="909514"/>
            <a:ext cx="11593288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dirty="0"/>
              <a:t>核心定位：判题规则层，三类题型框架，安全前置校验</a:t>
            </a:r>
            <a:endParaRPr lang="zh-CN" altLang="en-US" sz="28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9E9A07D-0212-90A3-01D4-31A33C6EE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432123"/>
              </p:ext>
            </p:extLst>
          </p:nvPr>
        </p:nvGraphicFramePr>
        <p:xfrm>
          <a:off x="264939" y="1404216"/>
          <a:ext cx="11665296" cy="538480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979947857"/>
                    </a:ext>
                  </a:extLst>
                </a:gridCol>
                <a:gridCol w="1968642">
                  <a:extLst>
                    <a:ext uri="{9D8B030D-6E8A-4147-A177-3AD203B41FA5}">
                      <a16:colId xmlns:a16="http://schemas.microsoft.com/office/drawing/2014/main" val="3714453328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3728462859"/>
                    </a:ext>
                  </a:extLst>
                </a:gridCol>
                <a:gridCol w="4445353">
                  <a:extLst>
                    <a:ext uri="{9D8B030D-6E8A-4147-A177-3AD203B41FA5}">
                      <a16:colId xmlns:a16="http://schemas.microsoft.com/office/drawing/2014/main" val="40085489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需求编号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需求描述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核心功能设计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详细技术实现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55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RQ-B-3-10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待测代码安全性确认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恶意代码拦截、高危函数检测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静态扫描禁用 </a:t>
                      </a: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API（os.system/system ()）；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拦截网络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越权操作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1965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RQ-B-3-20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多类型题目测试框架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统一执行器、题型分流、环境构造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抽象测试模板；兼容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 /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接口三类题型，可扩展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9646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RQ-B-3-30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命令行接收测试数据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标准输入注入、输出比对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stdin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传入测试数据；捕获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stdout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与预期值精准对比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3949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RQ-B-3-40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文件读取测试数据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临时文件构造、权限控制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沙盒挂载测试文件；限制读写路径；校验文件输出结果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7766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RQ-B-3-50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import/include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接口调用测试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动态装载、函数调用、断言校验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单元测试脚本导入待测代码；调用指定接口；断言返回值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964338"/>
                  </a:ext>
                </a:extLst>
              </a:tr>
              <a:tr h="123336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RQ-B-3-60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题库维护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题目增删改查、用例管理、元数据配置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题面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测试用例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规则分层存储；教师端可视化维护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952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RQ-B-3-70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生成答案评价（总评 </a:t>
                      </a:r>
                      <a:r>
                        <a:rPr lang="en-US" altLang="zh-CN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细节）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标准代码测评、模板报告生成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自动运行标准答案；输出参考评分规则 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细节日志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019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77691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A148E-E129-FAF9-320C-D53521C7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A6874-6692-6666-78A8-00628D85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23" y="117426"/>
            <a:ext cx="7056784" cy="611034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300" dirty="0">
                <a:solidFill>
                  <a:schemeClr val="bg1"/>
                </a:solidFill>
              </a:rPr>
              <a:t>B-4 </a:t>
            </a:r>
            <a:r>
              <a:rPr lang="zh-CN" altLang="en-US" sz="3300" dirty="0">
                <a:solidFill>
                  <a:schemeClr val="bg1"/>
                </a:solidFill>
              </a:rPr>
              <a:t>数据库管理模块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EB0A51-CF90-D8D8-DA87-E39520471F72}"/>
              </a:ext>
            </a:extLst>
          </p:cNvPr>
          <p:cNvSpPr txBox="1"/>
          <p:nvPr/>
        </p:nvSpPr>
        <p:spPr bwMode="auto">
          <a:xfrm>
            <a:off x="21363" y="909514"/>
            <a:ext cx="11593288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dirty="0"/>
              <a:t>核心定位：底层支撑层，数据 </a:t>
            </a:r>
            <a:r>
              <a:rPr lang="en-US" altLang="zh-CN" sz="2800" dirty="0"/>
              <a:t>+ </a:t>
            </a:r>
            <a:r>
              <a:rPr lang="zh-CN" altLang="en-US" sz="2800" dirty="0"/>
              <a:t>接口 </a:t>
            </a:r>
            <a:r>
              <a:rPr lang="en-US" altLang="zh-CN" sz="2800" dirty="0"/>
              <a:t>+ </a:t>
            </a:r>
            <a:r>
              <a:rPr lang="zh-CN" altLang="en-US" sz="2800" dirty="0"/>
              <a:t>用户全生命周期管理</a:t>
            </a:r>
            <a:endParaRPr lang="zh-CN" altLang="en-US" sz="28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02563C5-779B-2427-DF61-676F27216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56338"/>
              </p:ext>
            </p:extLst>
          </p:nvPr>
        </p:nvGraphicFramePr>
        <p:xfrm>
          <a:off x="444959" y="1613788"/>
          <a:ext cx="11305256" cy="49667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979947857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3714453328"/>
                    </a:ext>
                  </a:extLst>
                </a:gridCol>
                <a:gridCol w="3367515">
                  <a:extLst>
                    <a:ext uri="{9D8B030D-6E8A-4147-A177-3AD203B41FA5}">
                      <a16:colId xmlns:a16="http://schemas.microsoft.com/office/drawing/2014/main" val="3728462859"/>
                    </a:ext>
                  </a:extLst>
                </a:gridCol>
                <a:gridCol w="4301337">
                  <a:extLst>
                    <a:ext uri="{9D8B030D-6E8A-4147-A177-3AD203B41FA5}">
                      <a16:colId xmlns:a16="http://schemas.microsoft.com/office/drawing/2014/main" val="40085489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需求编号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需求描述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核心功能设计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详细技术实现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55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RQ-B-4-10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维护数据库正常运行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连接池、监控、自动备份、异常重连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 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轻量库；连接池复用；定时备份；索引优化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1965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RQ-B-4-20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维护消息中间件（按需）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异步队列、削峰填谷、状态同步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Redis List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极简队列；测评任务异步调度；无额外资源占用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9646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RQ-B-4-30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定义数据库表结构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全表设计、约束、外键、索引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核心表：用户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学生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题库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提交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测评结果；保证数据一致性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3949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RQ-B-4-40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定义模块间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路由统一、参数校验、文档生成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RESTful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规范；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自动 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Swagger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文档；全局异常处理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7766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RQ-B-4-50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实现用户管理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登录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注册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权限 </a:t>
                      </a:r>
                      <a:r>
                        <a:rPr lang="en-US" altLang="zh-CN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密码管理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11379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JWT 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认证；</a:t>
                      </a:r>
                      <a:r>
                        <a:rPr lang="en-US" altLang="zh-CN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bcrypt</a:t>
                      </a: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密码加密；角色权限接口；会话管理</a:t>
                      </a:r>
                    </a:p>
                  </a:txBody>
                  <a:tcPr marL="43543" marR="43543" marT="43543" marB="43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964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72159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5FD05-2F0F-B007-1595-AA0FB27AD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07A2429-F7B8-EAF0-4DF0-88EFFD7B3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79BD870-DB00-CCD4-AB06-EF2BEF352E11}"/>
              </a:ext>
            </a:extLst>
          </p:cNvPr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</a:p>
        </p:txBody>
      </p:sp>
    </p:spTree>
    <p:extLst>
      <p:ext uri="{BB962C8B-B14F-4D97-AF65-F5344CB8AC3E}">
        <p14:creationId xmlns:p14="http://schemas.microsoft.com/office/powerpoint/2010/main" val="352812146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4939" y="117426"/>
            <a:ext cx="7992887" cy="611034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数据库表结构（用户与课程管理）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067E7F-B3D8-4D0D-AAC1-41ADCFF9A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308132"/>
              </p:ext>
            </p:extLst>
          </p:nvPr>
        </p:nvGraphicFramePr>
        <p:xfrm>
          <a:off x="552971" y="1651794"/>
          <a:ext cx="10668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表名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主要功能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关键字段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用户信息管理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username, password, role, email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students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学生信息管理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student_id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student_number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department, major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teachers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教师信息管理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teacher_id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teacher_number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department, title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courses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课程管理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course_id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course_name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course_code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teacher_id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semester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classes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班级管理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class_id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course_id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class_name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class_number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student_count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student_classes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学生班级关联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student_id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class_id</a:t>
                      </a: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join_date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931" y="117426"/>
            <a:ext cx="7992887" cy="611034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数据库表结构（作业与测评）</a:t>
            </a: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9EF03CF6-9BB8-485B-9982-C05B0F8D2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600561"/>
              </p:ext>
            </p:extLst>
          </p:nvPr>
        </p:nvGraphicFramePr>
        <p:xfrm>
          <a:off x="762000" y="1524000"/>
          <a:ext cx="10668000" cy="431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主要功能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关键字段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26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assignments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作业管理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assignment_id, course_id, title, due_date, is_published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assignment_classes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作业班级关联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assignment_id, class_id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questions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题目管理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question_id, title, type, difficulty, language, time_limit, memory_limit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test_cases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测试用例管理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test_case_id</a:t>
                      </a:r>
                      <a:r>
                        <a:rPr lang="en-US" sz="11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question_id</a:t>
                      </a:r>
                      <a:r>
                        <a:rPr lang="en-US" sz="11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input, </a:t>
                      </a:r>
                      <a:r>
                        <a:rPr lang="en-US" sz="11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expected_output</a:t>
                      </a:r>
                      <a:r>
                        <a:rPr lang="en-US" sz="11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is_public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assignment_questions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作业题目关联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</a:t>
                      </a:r>
                      <a:r>
                        <a:rPr lang="en-US" sz="11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assignment_id</a:t>
                      </a:r>
                      <a:r>
                        <a:rPr lang="en-US" sz="11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question_id</a:t>
                      </a:r>
                      <a:r>
                        <a:rPr lang="en-US" sz="11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, score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02415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4939" y="117426"/>
            <a:ext cx="7992887" cy="611034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数据库表结构（提交、结果与系统）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1C13EE-67ED-4E63-8C10-A66661950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177551"/>
              </p:ext>
            </p:extLst>
          </p:nvPr>
        </p:nvGraphicFramePr>
        <p:xfrm>
          <a:off x="762000" y="1524000"/>
          <a:ext cx="10668000" cy="431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表名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44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主要功能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44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关键字段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444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submissions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代码提交管理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submission_id, assignment_id, question_id, student_user_id, code, language, score, status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test_results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测试结果管理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test_result_id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submission_id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test_case_id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status,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actual_output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error_message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announcements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公告管理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announcement_id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course_id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title, content,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created_by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system_logs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系统日志管理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log_id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user_id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action,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target_type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target_id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details,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ip_address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system_config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系统配置管理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config_key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config_value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config_type</a:t>
                      </a:r>
                      <a:r>
                        <a:rPr lang="en-US" sz="10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, description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68387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4939" y="82456"/>
            <a:ext cx="7992887" cy="611034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数据库索引优化</a:t>
            </a: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1F7C72C-2305-42BF-9B83-5AA3B0B78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00262"/>
              </p:ext>
            </p:extLst>
          </p:nvPr>
        </p:nvGraphicFramePr>
        <p:xfrm>
          <a:off x="841003" y="1426371"/>
          <a:ext cx="10160000" cy="508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索引类型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44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索引名称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44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包含字段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444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复合索引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idx_student_assignment_time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submissions: </a:t>
                      </a: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学生ID、作业ID、提交时间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idx_submission_test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test_results</a:t>
                      </a:r>
                      <a:r>
                        <a:rPr lang="en-US" sz="12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: </a:t>
                      </a: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提交ID、测试用例ID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idx_class_assignment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assignment_classes: 班级ID、作业ID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覆盖索引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idx_teacher_course_semester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courses: 教师ID、学期、课程名称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idx_course_due_published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assignments: 课程ID、截止时间、发布状态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+mj-cs"/>
                          <a:sym typeface="Noto Sans SC"/>
                        </a:rPr>
                        <a:t>idx_student_status_time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submissions: </a:t>
                      </a:r>
                      <a:r>
                        <a:rPr lang="en-US" sz="12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学生ID、状态、提交时间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60909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中间件的使用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352" y="635147"/>
            <a:ext cx="5081176" cy="5081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1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前端中间件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352" y="1524353"/>
            <a:ext cx="5208205" cy="2286529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411" y="1905441"/>
            <a:ext cx="1016235" cy="1016235"/>
          </a:xfrm>
          <a:prstGeom prst="roundRect">
            <a:avLst>
              <a:gd name="adj" fmla="val 2500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470" y="2159500"/>
            <a:ext cx="508118" cy="508118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705" y="1841927"/>
            <a:ext cx="3429794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路由守卫中间件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705" y="2413559"/>
            <a:ext cx="3429794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2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控制页面访问权限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705" y="2921676"/>
            <a:ext cx="3429794" cy="6351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1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</a:t>
            </a:r>
            <a:r>
              <a:rPr lang="en-US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学生访问课程页面、教师访问管理页面、管理员访问系统设置页面。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4617" y="1524353"/>
            <a:ext cx="5208205" cy="2286529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8675" y="1905441"/>
            <a:ext cx="1016235" cy="1016235"/>
          </a:xfrm>
          <a:prstGeom prst="roundRect">
            <a:avLst>
              <a:gd name="adj" fmla="val 2500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2734" y="2159500"/>
            <a:ext cx="508118" cy="508118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748969" y="1841927"/>
            <a:ext cx="3429794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HTTP 请求中间件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48969" y="2413559"/>
            <a:ext cx="3429794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2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统一处理HTTP请求和响应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748969" y="2921676"/>
            <a:ext cx="3429794" cy="6351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1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</a:t>
            </a:r>
            <a:r>
              <a:rPr lang="en-US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所有API请求的认证处理、统一的错误处理、请求参数的统一处理。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352" y="4064941"/>
            <a:ext cx="5208205" cy="2286529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411" y="4446029"/>
            <a:ext cx="1016235" cy="1016235"/>
          </a:xfrm>
          <a:prstGeom prst="roundRect">
            <a:avLst>
              <a:gd name="adj" fmla="val 2500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470" y="4700088"/>
            <a:ext cx="508118" cy="508118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286705" y="4382515"/>
            <a:ext cx="3429794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状态管理中间件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286705" y="4954147"/>
            <a:ext cx="3429794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2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管理应用状态，实现数据持久化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286705" y="5462264"/>
            <a:ext cx="3429794" cy="6351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1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</a:t>
            </a:r>
            <a:r>
              <a:rPr lang="en-US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主题设置持久化、语言设置持久化、用户偏好设置持久化。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4617" y="4064941"/>
            <a:ext cx="5208205" cy="2286529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8675" y="4446029"/>
            <a:ext cx="1016235" cy="1016235"/>
          </a:xfrm>
          <a:prstGeom prst="roundRect">
            <a:avLst>
              <a:gd name="adj" fmla="val 2500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2734" y="4700088"/>
            <a:ext cx="508118" cy="508118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748969" y="4382515"/>
            <a:ext cx="3429794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全局错误处理中间件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748969" y="4954147"/>
            <a:ext cx="3429794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2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全局捕获和处理应用错误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748969" y="5462264"/>
            <a:ext cx="3429794" cy="6351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1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</a:t>
            </a:r>
            <a:r>
              <a:rPr lang="en-US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组件渲染错误、异步操作错误、其他运行时错误。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352" y="635147"/>
            <a:ext cx="3810882" cy="5081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1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后端中间件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352" y="1524353"/>
            <a:ext cx="3302764" cy="2159500"/>
          </a:xfrm>
          <a:prstGeom prst="roundRect">
            <a:avLst>
              <a:gd name="adj" fmla="val 7058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411" y="1778412"/>
            <a:ext cx="711365" cy="711365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846" y="1930847"/>
            <a:ext cx="406494" cy="406494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617" y="1778412"/>
            <a:ext cx="1778412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认证中间件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617" y="2286529"/>
            <a:ext cx="1778412" cy="635147"/>
          </a:xfrm>
          <a:prstGeom prst="roundRect">
            <a:avLst>
              <a:gd name="adj" fmla="val 12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032646" y="2350044"/>
            <a:ext cx="1524353" cy="5081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0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0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验证用户身份，确保API访问安全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617" y="3048706"/>
            <a:ext cx="1778412" cy="508118"/>
          </a:xfrm>
          <a:prstGeom prst="roundRect">
            <a:avLst>
              <a:gd name="adj" fmla="val 1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032646" y="3112221"/>
            <a:ext cx="1524353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0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</a:t>
            </a:r>
            <a:r>
              <a:rPr lang="en-US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保护敏感操作接口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6205" y="1524353"/>
            <a:ext cx="3302764" cy="2159500"/>
          </a:xfrm>
          <a:prstGeom prst="roundRect">
            <a:avLst>
              <a:gd name="adj" fmla="val 7058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700263" y="1778412"/>
            <a:ext cx="711365" cy="711365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2699" y="1930847"/>
            <a:ext cx="406494" cy="406494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89469" y="1778412"/>
            <a:ext cx="1778412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权限中间件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89469" y="2286529"/>
            <a:ext cx="1778412" cy="635147"/>
          </a:xfrm>
          <a:prstGeom prst="roundRect">
            <a:avLst>
              <a:gd name="adj" fmla="val 12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716499" y="2350044"/>
            <a:ext cx="1524353" cy="5081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0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0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控制访问权限，确保资源授权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589469" y="3048706"/>
            <a:ext cx="1778412" cy="508118"/>
          </a:xfrm>
          <a:prstGeom prst="roundRect">
            <a:avLst>
              <a:gd name="adj" fmla="val 1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716499" y="3112221"/>
            <a:ext cx="1524353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0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</a:t>
            </a:r>
            <a:r>
              <a:rPr lang="en-US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角色差异化管理接口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30058" y="1524353"/>
            <a:ext cx="3302764" cy="2159500"/>
          </a:xfrm>
          <a:prstGeom prst="roundRect">
            <a:avLst>
              <a:gd name="adj" fmla="val 7058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384116" y="1778412"/>
            <a:ext cx="711365" cy="711365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6551" y="1930847"/>
            <a:ext cx="406494" cy="406494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273322" y="1778412"/>
            <a:ext cx="1778412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日志中间件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73322" y="2286529"/>
            <a:ext cx="1778412" cy="635147"/>
          </a:xfrm>
          <a:prstGeom prst="roundRect">
            <a:avLst>
              <a:gd name="adj" fmla="val 12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400351" y="2350044"/>
            <a:ext cx="1524353" cy="5081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0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0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记录请求日志，监控排查问题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3322" y="3048706"/>
            <a:ext cx="1778412" cy="508118"/>
          </a:xfrm>
          <a:prstGeom prst="roundRect">
            <a:avLst>
              <a:gd name="adj" fmla="val 1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400351" y="3112221"/>
            <a:ext cx="1524353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0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</a:t>
            </a:r>
            <a:r>
              <a:rPr lang="en-US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全链路监控与分析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352" y="3937912"/>
            <a:ext cx="5208205" cy="1905441"/>
          </a:xfrm>
          <a:prstGeom prst="roundRect">
            <a:avLst>
              <a:gd name="adj" fmla="val 8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016411" y="4191970"/>
            <a:ext cx="812988" cy="812988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658" y="4395217"/>
            <a:ext cx="406494" cy="406494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2032646" y="4191970"/>
            <a:ext cx="3556823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限流中间件 (Rate Limiting)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2032646" y="4700088"/>
            <a:ext cx="1714897" cy="889206"/>
          </a:xfrm>
          <a:prstGeom prst="roundRect">
            <a:avLst>
              <a:gd name="adj" fmla="val 8571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2159676" y="4801712"/>
            <a:ext cx="1460838" cy="7621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1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</a:t>
            </a:r>
            <a:r>
              <a:rPr lang="en-US" sz="10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限制API请求频率，防止系统过载崩溃。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938087" y="4700088"/>
            <a:ext cx="1778412" cy="889206"/>
          </a:xfrm>
          <a:prstGeom prst="roundRect">
            <a:avLst>
              <a:gd name="adj" fmla="val 857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4065117" y="4801712"/>
            <a:ext cx="1524353" cy="7621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1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</a:t>
            </a:r>
            <a:r>
              <a:rPr lang="en-US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防止恶意刷接口、秒杀等高并发场景保护。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24617" y="3937912"/>
            <a:ext cx="5208205" cy="1905441"/>
          </a:xfrm>
          <a:prstGeom prst="roundRect">
            <a:avLst>
              <a:gd name="adj" fmla="val 8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478675" y="4191970"/>
            <a:ext cx="812988" cy="812988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1922" y="4395217"/>
            <a:ext cx="406494" cy="406494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494910" y="4191970"/>
            <a:ext cx="3556823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CORS 跨域中间件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494910" y="4700088"/>
            <a:ext cx="1714897" cy="889206"/>
          </a:xfrm>
          <a:prstGeom prst="roundRect">
            <a:avLst>
              <a:gd name="adj" fmla="val 8571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7621940" y="4801712"/>
            <a:ext cx="1460838" cy="7621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100" b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</a:t>
            </a:r>
            <a:r>
              <a:rPr lang="en-US" sz="10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配置响应头，允许前端跨域名访问后端资源。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400351" y="4700088"/>
            <a:ext cx="1778412" cy="889206"/>
          </a:xfrm>
          <a:prstGeom prst="roundRect">
            <a:avLst>
              <a:gd name="adj" fmla="val 857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9527381" y="4801712"/>
            <a:ext cx="1524353" cy="7621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100" b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</a:t>
            </a:r>
            <a:r>
              <a:rPr lang="en-US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前后端分离架构、开发环境联调及生产环境跨域。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353" y="635147"/>
            <a:ext cx="10670469" cy="5081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1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中间件使用流程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352" y="1397323"/>
            <a:ext cx="5208205" cy="4954147"/>
          </a:xfrm>
          <a:prstGeom prst="roundRect">
            <a:avLst>
              <a:gd name="adj" fmla="val 3076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411" y="1651383"/>
            <a:ext cx="355682" cy="355682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529" y="1651383"/>
            <a:ext cx="4191970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后端请求处理流程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411" y="2286529"/>
            <a:ext cx="4700088" cy="889206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411" y="2286529"/>
            <a:ext cx="76218" cy="889206"/>
          </a:xfrm>
          <a:prstGeom prst="roundRect">
            <a:avLst>
              <a:gd name="adj" fmla="val 133333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470" y="2413559"/>
            <a:ext cx="4319000" cy="304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接入层预处理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470" y="2794647"/>
            <a:ext cx="4319000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HTTP 请求 → CORS 跨域中间件 (Origin/Header 校验)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411" y="3366279"/>
            <a:ext cx="4700088" cy="889206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411" y="3366279"/>
            <a:ext cx="76218" cy="889206"/>
          </a:xfrm>
          <a:prstGeom prst="roundRect">
            <a:avLst>
              <a:gd name="adj" fmla="val 133333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470" y="3493308"/>
            <a:ext cx="4319000" cy="304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核心安全校验链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470" y="3874397"/>
            <a:ext cx="4319000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认证中间件 (Token/JWT) → 权限中间件 (RBAC) → 限流中间件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411" y="4446029"/>
            <a:ext cx="4700088" cy="889206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411" y="4446029"/>
            <a:ext cx="76218" cy="889206"/>
          </a:xfrm>
          <a:prstGeom prst="roundRect">
            <a:avLst>
              <a:gd name="adj" fmla="val 133333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70470" y="4573058"/>
            <a:ext cx="4319000" cy="304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业务逻辑执行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270470" y="4954147"/>
            <a:ext cx="4319000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路由分发 → 业务 Service 处理 → 数据访问层 (DAO) 交互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411" y="5525779"/>
            <a:ext cx="4700088" cy="762176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411" y="5525779"/>
            <a:ext cx="76218" cy="762176"/>
          </a:xfrm>
          <a:prstGeom prst="roundRect">
            <a:avLst>
              <a:gd name="adj" fmla="val 133333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270470" y="5589294"/>
            <a:ext cx="4319000" cy="304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结果响应与归档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270470" y="5944976"/>
            <a:ext cx="4319000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响应结果封装 → 全局日志中间件记录 → HTTP 统一响应返回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4617" y="1397323"/>
            <a:ext cx="5208205" cy="4954147"/>
          </a:xfrm>
          <a:prstGeom prst="roundRect">
            <a:avLst>
              <a:gd name="adj" fmla="val 3076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8675" y="1651383"/>
            <a:ext cx="355682" cy="355682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6793" y="1651383"/>
            <a:ext cx="4191970" cy="381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前端请求交互流程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8675" y="2286529"/>
            <a:ext cx="4700088" cy="889206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8675" y="2286529"/>
            <a:ext cx="76218" cy="889206"/>
          </a:xfrm>
          <a:prstGeom prst="roundRect">
            <a:avLst>
              <a:gd name="adj" fmla="val 133333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732734" y="2413559"/>
            <a:ext cx="4319000" cy="304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用户交互触发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732734" y="2794647"/>
            <a:ext cx="4319000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用户点击/输入 → 组件事件监听 (Event Emit / Callback)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8675" y="3366279"/>
            <a:ext cx="4700088" cy="889206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478675" y="3366279"/>
            <a:ext cx="76218" cy="889206"/>
          </a:xfrm>
          <a:prstGeom prst="roundRect">
            <a:avLst>
              <a:gd name="adj" fmla="val 133333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732734" y="3493308"/>
            <a:ext cx="4319000" cy="304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请求状态准备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732734" y="3874397"/>
            <a:ext cx="4319000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状态管理分发 (Store/Context) → HTTP 客户端参数封装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8675" y="4446029"/>
            <a:ext cx="4700088" cy="889206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478675" y="4446029"/>
            <a:ext cx="76218" cy="889206"/>
          </a:xfrm>
          <a:prstGeom prst="roundRect">
            <a:avLst>
              <a:gd name="adj" fmla="val 133333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732734" y="4573058"/>
            <a:ext cx="4319000" cy="304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接口通信与拦截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732734" y="4954147"/>
            <a:ext cx="4319000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请求拦截器 (Token/Header) → 发送请求至后端 API 接口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478675" y="5525779"/>
            <a:ext cx="4700088" cy="762176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15" tIns="63515" rIns="63515" bIns="63515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478675" y="5525779"/>
            <a:ext cx="76218" cy="762176"/>
          </a:xfrm>
          <a:prstGeom prst="roundRect">
            <a:avLst>
              <a:gd name="adj" fmla="val 133333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732734" y="5589294"/>
            <a:ext cx="4319000" cy="3048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响应处理与渲染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732734" y="5944976"/>
            <a:ext cx="4319000" cy="2540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响应拦截器解析 → 全局异常处理 → 更新状态与 UI 渲染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1CC7-D5EC-DFFD-5BFC-77564115B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0AB38E8-D728-CF10-7F78-6D76FE59C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6F36D6A-677D-FF82-11EA-E49E105C16E3}"/>
              </a:ext>
            </a:extLst>
          </p:cNvPr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5600">
                <a:latin typeface="微软雅黑" panose="020B0503020204020204" pitchFamily="34" charset="-122"/>
                <a:ea typeface="微软雅黑" panose="020B0503020204020204" pitchFamily="34" charset="-122"/>
              </a:rPr>
              <a:t>恳请请</a:t>
            </a: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老师指正</a:t>
            </a:r>
          </a:p>
        </p:txBody>
      </p:sp>
    </p:spTree>
    <p:extLst>
      <p:ext uri="{BB962C8B-B14F-4D97-AF65-F5344CB8AC3E}">
        <p14:creationId xmlns:p14="http://schemas.microsoft.com/office/powerpoint/2010/main" val="2700567377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336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  <p:tag name="KSO_WM_DIAGRAM_VIRTUALLY_FRAME" val="{&quot;height&quot;:350.32047244094485,&quot;left&quot;:378.0849606299213,&quot;top&quot;:124.47952755905513,&quot;width&quot;:402.545826771653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  <p:tag name="KSO_WM_BEAUTIFY_FLAG" val=""/>
  <p:tag name="KSO_WM_DIAGRAM_VIRTUALLY_FRAME" val="{&quot;height&quot;:350.32047244094485,&quot;left&quot;:378.0849606299213,&quot;top&quot;:124.47952755905513,&quot;width&quot;:402.545826771653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  <p:tag name="KSO_WM_BEAUTIFY_FLAG" val=""/>
  <p:tag name="KSO_WM_DIAGRAM_VIRTUALLY_FRAME" val="{&quot;height&quot;:350.32047244094485,&quot;left&quot;:378.0849606299213,&quot;top&quot;:124.47952755905513,&quot;width&quot;:402.5458267716536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  <p:tag name="KSO_WM_BEAUTIFY_FLAG" val=""/>
  <p:tag name="KSO_WM_DIAGRAM_VIRTUALLY_FRAME" val="{&quot;height&quot;:350.32047244094485,&quot;left&quot;:378.0849606299213,&quot;top&quot;:124.47952755905513,&quot;width&quot;:402.5458267716536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  <p:tag name="KSO_WM_BEAUTIFY_FLAG" val=""/>
  <p:tag name="KSO_WM_DIAGRAM_VIRTUALLY_FRAME" val="{&quot;height&quot;:350.32047244094485,&quot;left&quot;:378.0849606299213,&quot;top&quot;:124.47952755905513,&quot;width&quot;:402.545826771653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  <p:tag name="KSO_WM_DIAGRAM_VIRTUALLY_FRAME" val="{&quot;height&quot;:350.32047244094485,&quot;left&quot;:378.0849606299213,&quot;top&quot;:124.47952755905513,&quot;width&quot;:402.545826771653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  <p:tag name="KSO_WM_BEAUTIFY_FLAG" val=""/>
  <p:tag name="KSO_WM_DIAGRAM_VIRTUALLY_FRAME" val="{&quot;height&quot;:350.32047244094485,&quot;left&quot;:378.0849606299213,&quot;top&quot;:124.47952755905513,&quot;width&quot;:402.545826771653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  <p:tag name="KSO_WM_BEAUTIFY_FLAG" val=""/>
  <p:tag name="KSO_WM_DIAGRAM_VIRTUALLY_FRAME" val="{&quot;height&quot;:350.32047244094485,&quot;left&quot;:378.0849606299213,&quot;top&quot;:124.47952755905513,&quot;width&quot;:402.5458267716536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solidFill>
            <a:srgbClr val="00B0F0"/>
          </a:solidFill>
          <a:prstDash val="lgDash"/>
          <a:miter lim="800000"/>
        </a:ln>
      </a:spPr>
      <a:bodyPr wrap="square">
        <a:spAutoFit/>
      </a:bodyPr>
      <a:lstStyle>
        <a:defPPr eaLnBrk="1" hangingPunct="1">
          <a:defRPr sz="2800" b="1" dirty="0">
            <a:solidFill>
              <a:srgbClr val="00B0F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1745</Words>
  <Application>Microsoft Office PowerPoint</Application>
  <PresentationFormat>自定义</PresentationFormat>
  <Paragraphs>273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Noto Sans SC</vt:lpstr>
      <vt:lpstr>微软雅黑</vt:lpstr>
      <vt:lpstr>义启萌妹体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项目核心介绍</vt:lpstr>
      <vt:lpstr>PowerPoint 演示文稿</vt:lpstr>
      <vt:lpstr>B1-学生端功能</vt:lpstr>
      <vt:lpstr>B-2 代码测评模块</vt:lpstr>
      <vt:lpstr>B-3 题库管理模块</vt:lpstr>
      <vt:lpstr>B-4 数据库管理模块</vt:lpstr>
      <vt:lpstr>PowerPoint 演示文稿</vt:lpstr>
      <vt:lpstr>数据库表结构（用户与课程管理）</vt:lpstr>
      <vt:lpstr>数据库表结构（作业与测评）</vt:lpstr>
      <vt:lpstr>数据库表结构（提交、结果与系统）</vt:lpstr>
      <vt:lpstr>数据库索引优化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迅联数字化生态解决模式</dc:title>
  <dc:creator>sunyiwen</dc:creator>
  <cp:lastModifiedBy>t45744</cp:lastModifiedBy>
  <cp:revision>1668</cp:revision>
  <dcterms:created xsi:type="dcterms:W3CDTF">2014-10-10T10:55:00Z</dcterms:created>
  <dcterms:modified xsi:type="dcterms:W3CDTF">2026-04-14T08:58:25Z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2052-12.1.0.23539</vt:lpwstr>
  </property>
  <property fmtid="{D5CDD505-2E9C-101B-9397-08002B2CF9AE}" pid="3" name="ICV">
    <vt:lpwstr>46A3E3ABBFCC40AFB79764A918ACB3FC_13</vt:lpwstr>
  </property>
</Properties>
</file>