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706" r:id="rId2"/>
    <p:sldId id="802" r:id="rId3"/>
    <p:sldId id="814" r:id="rId4"/>
    <p:sldId id="811" r:id="rId5"/>
    <p:sldId id="799" r:id="rId6"/>
    <p:sldId id="815" r:id="rId7"/>
    <p:sldId id="812" r:id="rId8"/>
    <p:sldId id="798" r:id="rId9"/>
    <p:sldId id="816" r:id="rId10"/>
    <p:sldId id="805" r:id="rId11"/>
    <p:sldId id="761" r:id="rId12"/>
  </p:sldIdLst>
  <p:sldSz cx="12195175" cy="6859588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6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 showGuides="1">
      <p:cViewPr varScale="1">
        <p:scale>
          <a:sx n="51" d="100"/>
          <a:sy n="51" d="100"/>
        </p:scale>
        <p:origin x="68" y="668"/>
      </p:cViewPr>
      <p:guideLst>
        <p:guide orient="horz" pos="3796"/>
        <p:guide pos="380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910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A-4)</a:t>
            </a:r>
          </a:p>
        </p:txBody>
      </p:sp>
      <p:sp>
        <p:nvSpPr>
          <p:cNvPr id="4" name="矩形 3"/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 bwMode="auto">
          <a:xfrm>
            <a:off x="1921510" y="3410585"/>
            <a:ext cx="8905875" cy="52197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地空通话语音标注系统需求规格说明书汇报</a:t>
            </a:r>
          </a:p>
        </p:txBody>
      </p:sp>
      <p:sp>
        <p:nvSpPr>
          <p:cNvPr id="10" name="文本框 9"/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1525079" y="5923652"/>
            <a:ext cx="9145016" cy="39878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</a:p>
        </p:txBody>
      </p:sp>
      <p:sp>
        <p:nvSpPr>
          <p:cNvPr id="4" name="MH_Number_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73297" y="2061599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3"/>
            </p:custDataLst>
          </p:nvPr>
        </p:nvSpPr>
        <p:spPr>
          <a:xfrm>
            <a:off x="5666410" y="1845368"/>
            <a:ext cx="416886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项目介绍</a:t>
            </a:r>
          </a:p>
        </p:txBody>
      </p:sp>
      <p:sp>
        <p:nvSpPr>
          <p:cNvPr id="6" name="MH_Number_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72799" y="3357585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MH_Entry_2"/>
          <p:cNvSpPr/>
          <p:nvPr>
            <p:custDataLst>
              <p:tags r:id="rId5"/>
            </p:custDataLst>
          </p:nvPr>
        </p:nvSpPr>
        <p:spPr>
          <a:xfrm>
            <a:off x="5665775" y="3141703"/>
            <a:ext cx="2806564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整体需求</a:t>
            </a:r>
          </a:p>
        </p:txBody>
      </p:sp>
      <p:sp>
        <p:nvSpPr>
          <p:cNvPr id="8" name="MH_Number_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945189" y="4726194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MH_Entry_3"/>
          <p:cNvSpPr/>
          <p:nvPr>
            <p:custDataLst>
              <p:tags r:id="rId7"/>
            </p:custDataLst>
          </p:nvPr>
        </p:nvSpPr>
        <p:spPr>
          <a:xfrm>
            <a:off x="5604502" y="4542025"/>
            <a:ext cx="292807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功能需求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项目目标：实现一个高性能的B/S架构Web前端界面，提供静态机场底图、动态航迹、音频波形的同屏渲染，并实现毫秒级的“时空漫游”交互，最终支撑标注人员对预处理文本的高效编辑与写回。</a:t>
            </a:r>
          </a:p>
          <a:p>
            <a:pPr marL="0" indent="0">
              <a:buNone/>
            </a:pPr>
            <a:endParaRPr lang="zh-CN" altLang="en-US"/>
          </a:p>
          <a:p>
            <a:r>
              <a:rPr lang="zh-CN" altLang="en-US" sz="2800"/>
              <a:t>项目用户：语音数据标注员、数据分析师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整体需求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整体需求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185" y="1557655"/>
            <a:ext cx="4145280" cy="4714240"/>
          </a:xfrm>
        </p:spPr>
        <p:txBody>
          <a:bodyPr/>
          <a:lstStyle/>
          <a:p>
            <a:r>
              <a:rPr lang="en-US" altLang="zh-CN"/>
              <a:t>A-4 UI</a:t>
            </a:r>
            <a:r>
              <a:rPr lang="zh-CN" altLang="en-US"/>
              <a:t>用户界面模块需要对接后端</a:t>
            </a:r>
            <a:r>
              <a:rPr lang="en-US" altLang="zh-CN"/>
              <a:t>API</a:t>
            </a:r>
            <a:r>
              <a:rPr lang="zh-CN" altLang="en-US"/>
              <a:t>，安全验证用户身份后，在工作台中无缝整合</a:t>
            </a:r>
            <a:r>
              <a:rPr lang="en-US" altLang="zh-CN"/>
              <a:t>VHHH</a:t>
            </a:r>
            <a:r>
              <a:rPr lang="zh-CN" altLang="en-US"/>
              <a:t>机场的静态图层、飞机动态</a:t>
            </a:r>
            <a:r>
              <a:rPr lang="en-US" altLang="zh-CN"/>
              <a:t>ADSB</a:t>
            </a:r>
            <a:r>
              <a:rPr lang="zh-CN" altLang="en-US"/>
              <a:t>航迹、</a:t>
            </a:r>
            <a:r>
              <a:rPr lang="en-US" altLang="zh-CN"/>
              <a:t>ATC</a:t>
            </a:r>
            <a:r>
              <a:rPr lang="zh-CN" altLang="en-US"/>
              <a:t>地空通话录音波形以及</a:t>
            </a:r>
            <a:r>
              <a:rPr lang="en-US" altLang="zh-CN"/>
              <a:t>ASR</a:t>
            </a:r>
            <a:r>
              <a:rPr lang="zh-CN" altLang="en-US"/>
              <a:t>预处理文本，提供标注编辑、数据导出及多模态同步的时间漫游能力。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791D15-B25B-20FA-CE68-E6D81CC464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225" y="1587415"/>
            <a:ext cx="7698590" cy="36903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功能需求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基础系统功能模块</a:t>
            </a:r>
          </a:p>
        </p:txBody>
      </p:sp>
      <p:sp>
        <p:nvSpPr>
          <p:cNvPr id="21" name="Rectangle 4"/>
          <p:cNvSpPr/>
          <p:nvPr/>
        </p:nvSpPr>
        <p:spPr>
          <a:xfrm>
            <a:off x="199390" y="1341755"/>
            <a:ext cx="12005945" cy="519684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/>
          <p:cNvGrpSpPr/>
          <p:nvPr/>
        </p:nvGrpSpPr>
        <p:grpSpPr>
          <a:xfrm>
            <a:off x="5882005" y="1485265"/>
            <a:ext cx="5628640" cy="4705985"/>
            <a:chOff x="783563" y="1249478"/>
            <a:chExt cx="1841127" cy="1562683"/>
          </a:xfrm>
        </p:grpSpPr>
        <p:sp>
          <p:nvSpPr>
            <p:cNvPr id="36" name="Rectangle 12"/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菜单导航展示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顶部导航支持一键折展，最大化释放工作台视区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配备高辨识度图标，动态高亮当前激活路由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基于用户角色（如标注员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管理员）动态生成并展示对应菜单项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数据导出功能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多维靶向检索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：支持按时间跨度或特定航班号精准筛选目标数据集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多源数据聚合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：底层接口整合对齐后的语音时标（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）、修正文本（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）及动态航迹（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标准化序列化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：支持将聚合数据一键导出为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JSON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CSV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标准格式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783563" y="1249478"/>
              <a:ext cx="1841127" cy="29355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后台功能调用菜单</a:t>
              </a: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408940" y="1485900"/>
            <a:ext cx="4949825" cy="4630420"/>
            <a:chOff x="795687" y="1197028"/>
            <a:chExt cx="1926564" cy="1555707"/>
          </a:xfrm>
        </p:grpSpPr>
        <p:sp>
          <p:nvSpPr>
            <p:cNvPr id="32" name="Rectangle 26"/>
            <p:cNvSpPr/>
            <p:nvPr/>
          </p:nvSpPr>
          <p:spPr>
            <a:xfrm>
              <a:off x="795687" y="1571052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界面布局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：独立页面，包含 Log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、系统名称、账号输入（带清除键）、密码输入（明暗文切换）及登录按钮。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前端校验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：提交前执行非空、超长等防呆校验，拦截无效请求。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状态反馈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：点击后按钮变更为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Loading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状态防重提；失败时全局轻提示具体原因（如密码错误、网络超时）。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鉴权与跳转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：密码加密传输；验证成功后本地安全存储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JWT Token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，开启路由守卫，平滑重定向至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A-4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标注工作台。</a:t>
              </a:r>
            </a:p>
          </p:txBody>
        </p:sp>
        <p:sp>
          <p:nvSpPr>
            <p:cNvPr id="33" name="Rectangle 27"/>
            <p:cNvSpPr/>
            <p:nvPr/>
          </p:nvSpPr>
          <p:spPr>
            <a:xfrm>
              <a:off x="805616" y="1197028"/>
              <a:ext cx="1916635" cy="29738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用户登录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地图航迹展示模块</a:t>
            </a:r>
          </a:p>
        </p:txBody>
      </p:sp>
      <p:sp>
        <p:nvSpPr>
          <p:cNvPr id="21" name="Rectangle 4"/>
          <p:cNvSpPr/>
          <p:nvPr/>
        </p:nvSpPr>
        <p:spPr>
          <a:xfrm>
            <a:off x="-22860" y="909320"/>
            <a:ext cx="12123420" cy="563372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4" name="Group 14"/>
          <p:cNvGrpSpPr/>
          <p:nvPr>
            <p:custDataLst>
              <p:tags r:id="rId1"/>
            </p:custDataLst>
          </p:nvPr>
        </p:nvGrpSpPr>
        <p:grpSpPr>
          <a:xfrm>
            <a:off x="121285" y="1053465"/>
            <a:ext cx="3672205" cy="5077460"/>
            <a:chOff x="-1143000" y="4385890"/>
            <a:chExt cx="1778001" cy="1651303"/>
          </a:xfrm>
        </p:grpSpPr>
        <p:sp>
          <p:nvSpPr>
            <p:cNvPr id="34" name="Rectangle 15"/>
            <p:cNvSpPr/>
            <p:nvPr>
              <p:custDataLst>
                <p:tags r:id="rId8"/>
              </p:custDataLst>
            </p:nvPr>
          </p:nvSpPr>
          <p:spPr>
            <a:xfrm>
              <a:off x="-1143000" y="4598808"/>
              <a:ext cx="1778001" cy="14383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VHHH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跑道与滑行道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高精度底图解析：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精准渲染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VHHH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机场跑道、滑行网络、停机坪及核心物理航路点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视距自适应渲染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：依据地图缩放级平滑呈现细节 。宏观视图聚焦主干轮廓，逐级放大则动态展示滑行道与停机位编号，有效规避信息过载与标签拥挤 。</a:t>
              </a:r>
            </a:p>
          </p:txBody>
        </p:sp>
        <p:sp>
          <p:nvSpPr>
            <p:cNvPr id="35" name="Rectangle 16"/>
            <p:cNvSpPr/>
            <p:nvPr>
              <p:custDataLst>
                <p:tags r:id="rId9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静态信息显示</a:t>
              </a:r>
            </a:p>
          </p:txBody>
        </p:sp>
      </p:grpSp>
      <p:grpSp>
        <p:nvGrpSpPr>
          <p:cNvPr id="4" name="Group 14"/>
          <p:cNvGrpSpPr/>
          <p:nvPr>
            <p:custDataLst>
              <p:tags r:id="rId2"/>
            </p:custDataLst>
          </p:nvPr>
        </p:nvGrpSpPr>
        <p:grpSpPr>
          <a:xfrm>
            <a:off x="4009390" y="1053465"/>
            <a:ext cx="3695065" cy="5068570"/>
            <a:chOff x="-1143000" y="4385890"/>
            <a:chExt cx="1778001" cy="1577577"/>
          </a:xfrm>
        </p:grpSpPr>
        <p:sp>
          <p:nvSpPr>
            <p:cNvPr id="5" name="Rectangle 15"/>
            <p:cNvSpPr/>
            <p:nvPr>
              <p:custDataLst>
                <p:tags r:id="rId6"/>
              </p:custDataLst>
            </p:nvPr>
          </p:nvSpPr>
          <p:spPr>
            <a:xfrm>
              <a:off x="-1143000" y="4598808"/>
              <a:ext cx="1778001" cy="13646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航班位置与轨迹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依据 ADSB 数据实时更新飞机坐标，并精准同步机头偏转角度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绘制带有“渐变淡出”效果的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飞行尾迹线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，直观呈现航班运动趋势 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支持悬停/点击触发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，轻量弹窗实时展示航班号、高度、速度等核心字段 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 Canvas/WebGL 技术进行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批量渲染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，确保 VHHH 高密度空域下百架飞机同屏丝滑不卡顿</a:t>
              </a:r>
            </a:p>
          </p:txBody>
        </p:sp>
        <p:sp>
          <p:nvSpPr>
            <p:cNvPr id="6" name="Rectangle 16"/>
            <p:cNvSpPr/>
            <p:nvPr>
              <p:custDataLst>
                <p:tags r:id="rId7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动态航迹显示</a:t>
              </a:r>
            </a:p>
          </p:txBody>
        </p:sp>
      </p:grpSp>
      <p:grpSp>
        <p:nvGrpSpPr>
          <p:cNvPr id="7" name="Group 14"/>
          <p:cNvGrpSpPr/>
          <p:nvPr>
            <p:custDataLst>
              <p:tags r:id="rId3"/>
            </p:custDataLst>
          </p:nvPr>
        </p:nvGrpSpPr>
        <p:grpSpPr>
          <a:xfrm>
            <a:off x="7920355" y="1083310"/>
            <a:ext cx="3683635" cy="5039360"/>
            <a:chOff x="-1143000" y="4385890"/>
            <a:chExt cx="1778001" cy="1577577"/>
          </a:xfrm>
        </p:grpSpPr>
        <p:sp>
          <p:nvSpPr>
            <p:cNvPr id="8" name="Rectangle 15"/>
            <p:cNvSpPr/>
            <p:nvPr>
              <p:custDataLst>
                <p:tags r:id="rId4"/>
              </p:custDataLst>
            </p:nvPr>
          </p:nvSpPr>
          <p:spPr>
            <a:xfrm>
              <a:off x="-1143000" y="4598808"/>
              <a:ext cx="1778001" cy="13646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常用地标与航线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：自定义图层控制。集成图层管理器，支持按需叠加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SID/STAR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等标准进离场辅助航线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智能防碰撞渲染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：前端内置文本防重叠逻辑，保障密集区域航路与地标标签的清晰可读</a:t>
              </a:r>
            </a:p>
          </p:txBody>
        </p:sp>
        <p:sp>
          <p:nvSpPr>
            <p:cNvPr id="9" name="Rectangle 16"/>
            <p:cNvSpPr/>
            <p:nvPr>
              <p:custDataLst>
                <p:tags r:id="rId5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辅助信息显示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音频标注与漫游模块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53465" y="1089025"/>
          <a:ext cx="10412095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3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模块名称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音频标注与漫游模块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模块简介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音频波形渲染、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预处理文本展示、人工编辑修改及核心的时空同步联动功能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模块功能列表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一级功能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二级功能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音视频流展示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Waveform</a:t>
                      </a:r>
                      <a:r>
                        <a:rPr lang="zh-CN" altLang="en-US"/>
                        <a:t>波形渲染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识别文字加载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时空漫游联动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按时间漫游控制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航迹语音时间对齐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标注编辑与保存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识别文本编辑保存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378"/>
  <p:tag name="TABLE_ENDDRAG_RECT" val="82*96*819*37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711</Words>
  <Application>Microsoft Office PowerPoint</Application>
  <PresentationFormat>自定义</PresentationFormat>
  <Paragraphs>87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义启萌妹体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项目介绍</vt:lpstr>
      <vt:lpstr>PowerPoint 演示文稿</vt:lpstr>
      <vt:lpstr>整体需求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office</cp:lastModifiedBy>
  <cp:revision>1642</cp:revision>
  <dcterms:created xsi:type="dcterms:W3CDTF">2014-10-10T10:55:00Z</dcterms:created>
  <dcterms:modified xsi:type="dcterms:W3CDTF">2026-03-23T14:51:22Z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A85B4485ADBF4E48B12C6EC152EC8E14_13</vt:lpwstr>
  </property>
</Properties>
</file>