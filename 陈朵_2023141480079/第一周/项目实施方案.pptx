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0"/>
  </p:handoutMasterIdLst>
  <p:sldIdLst>
    <p:sldId id="706" r:id="rId3"/>
    <p:sldId id="802" r:id="rId4"/>
    <p:sldId id="768" r:id="rId5"/>
    <p:sldId id="803" r:id="rId6"/>
    <p:sldId id="804" r:id="rId8"/>
    <p:sldId id="798" r:id="rId9"/>
    <p:sldId id="805" r:id="rId10"/>
    <p:sldId id="799" r:id="rId11"/>
    <p:sldId id="800" r:id="rId12"/>
    <p:sldId id="801" r:id="rId13"/>
    <p:sldId id="806" r:id="rId14"/>
    <p:sldId id="807" r:id="rId15"/>
    <p:sldId id="808" r:id="rId16"/>
    <p:sldId id="809" r:id="rId17"/>
    <p:sldId id="810" r:id="rId18"/>
    <p:sldId id="761" r:id="rId19"/>
  </p:sldIdLst>
  <p:sldSz cx="12195175" cy="6859270"/>
  <p:notesSz cx="6858000" cy="9144000"/>
  <p:defaultTextStyle>
    <a:defPPr>
      <a:defRPr lang="zh-CN"/>
    </a:defPPr>
    <a:lvl1pPr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555625" indent="-9842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113155" indent="-198755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670050" indent="-29845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227580" indent="-398780" algn="l" defTabSz="1112520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0000"/>
    <a:srgbClr val="E54E4B"/>
    <a:srgbClr val="FF8490"/>
    <a:srgbClr val="B08D8D"/>
    <a:srgbClr val="AE1600"/>
    <a:srgbClr val="F21D00"/>
    <a:srgbClr val="FF0D0D"/>
    <a:srgbClr val="FF2929"/>
    <a:srgbClr val="FF2305"/>
    <a:srgbClr val="DE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91" autoAdjust="0"/>
    <p:restoredTop sz="86701" autoAdjust="0"/>
  </p:normalViewPr>
  <p:slideViewPr>
    <p:cSldViewPr showGuides="1">
      <p:cViewPr varScale="1">
        <p:scale>
          <a:sx n="80" d="100"/>
          <a:sy n="80" d="100"/>
        </p:scale>
        <p:origin x="1112" y="44"/>
      </p:cViewPr>
      <p:guideLst>
        <p:guide orient="horz" pos="3748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68" y="184"/>
      </p:cViewPr>
      <p:guideLst>
        <p:guide orient="horz" pos="287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92240-AAD8-8A40-B472-4B2BB0E3C869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C3428E-1752-044E-8E84-1206952236C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A96FE60-AC88-4099-828E-6EAB92C99598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174F2B2-5209-471A-A08A-9815279348B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641" y="2130922"/>
            <a:ext cx="10365898" cy="147036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击此处编辑母版标题样式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 userDrawn="1"/>
        </p:nvPicPr>
        <p:blipFill>
          <a:blip r:embed="rId2"/>
          <a:srcRect l="24357" t="22404" r="9236" b="26901"/>
          <a:stretch>
            <a:fillRect/>
          </a:stretch>
        </p:blipFill>
        <p:spPr bwMode="auto">
          <a:xfrm>
            <a:off x="-22989" y="-674662"/>
            <a:ext cx="12241256" cy="5544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370" y="5662042"/>
            <a:ext cx="12159806" cy="108012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en-US" altLang="zh-CN" dirty="0"/>
              <a:t>From KPI to ROI </a:t>
            </a:r>
            <a:endParaRPr lang="en-US" altLang="zh-CN" dirty="0"/>
          </a:p>
          <a:p>
            <a:pPr lvl="3"/>
            <a:endParaRPr lang="zh-CN" altLang="en-US" dirty="0"/>
          </a:p>
        </p:txBody>
      </p:sp>
      <p:pic>
        <p:nvPicPr>
          <p:cNvPr id="38913" name="Picture 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" y="0"/>
            <a:ext cx="12218268" cy="798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 userDrawn="1"/>
        </p:nvSpPr>
        <p:spPr bwMode="auto">
          <a:xfrm>
            <a:off x="2065139" y="119167"/>
            <a:ext cx="7560840" cy="646331"/>
          </a:xfrm>
          <a:prstGeom prst="rect">
            <a:avLst/>
          </a:prstGeom>
          <a:noFill/>
          <a:ln w="9525">
            <a:noFill/>
            <a:prstDash val="lgDash"/>
            <a:miter lim="800000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pAutoFit/>
          </a:bodyPr>
          <a:lstStyle/>
          <a:p>
            <a:pPr algn="ctr">
              <a:defRPr/>
            </a:pPr>
            <a:endParaRPr lang="zh-CN" altLang="en-US" sz="3600" b="1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336948" y="802071"/>
            <a:ext cx="7056784" cy="611034"/>
          </a:xfrm>
        </p:spPr>
        <p:txBody>
          <a:bodyPr>
            <a:noAutofit/>
          </a:bodyPr>
          <a:lstStyle>
            <a:lvl1pPr algn="l">
              <a:defRPr sz="3600" b="1" u="none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336949" y="1557586"/>
            <a:ext cx="11593286" cy="471447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71320" marR="0" indent="0" algn="l" defTabSz="111252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en-US" altLang="zh-CN" dirty="0"/>
              <a:t>From KPI to ROI </a:t>
            </a:r>
            <a:endParaRPr lang="en-US" altLang="zh-CN" dirty="0"/>
          </a:p>
          <a:p>
            <a:pPr lvl="3"/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6"/>
          <p:cNvSpPr txBox="1">
            <a:spLocks noChangeArrowheads="1"/>
          </p:cNvSpPr>
          <p:nvPr userDrawn="1"/>
        </p:nvSpPr>
        <p:spPr bwMode="auto">
          <a:xfrm>
            <a:off x="10650538" y="6540500"/>
            <a:ext cx="1558925" cy="33813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11252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1600">
                <a:solidFill>
                  <a:schemeClr val="bg1"/>
                </a:solidFill>
              </a:rPr>
              <a:t>From KPI To ROI </a:t>
            </a:r>
            <a:endParaRPr lang="en-US" altLang="zh-CN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302B5DB-DC4A-471D-8BB5-DE1AA9BABD40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0F5791-85C4-45CA-BC8F-4EAC80EBF0A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4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5975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5975" cy="4527550"/>
          </a:xfrm>
          <a:prstGeom prst="rect">
            <a:avLst/>
          </a:prstGeom>
          <a:noFill/>
          <a:ln>
            <a:noFill/>
          </a:ln>
        </p:spPr>
        <p:txBody>
          <a:bodyPr vert="horz" wrap="square" lIns="111420" tIns="55710" rIns="111420" bIns="5571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7938"/>
            <a:ext cx="2846388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l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302B5DB-DC4A-471D-8BB5-DE1AA9BABD40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7188" y="6357938"/>
            <a:ext cx="3860800" cy="365125"/>
          </a:xfrm>
          <a:prstGeom prst="rect">
            <a:avLst/>
          </a:prstGeom>
        </p:spPr>
        <p:txBody>
          <a:bodyPr vert="horz" lIns="111420" tIns="55710" rIns="111420" bIns="55710" rtlCol="0" anchor="ctr"/>
          <a:lstStyle>
            <a:lvl1pPr algn="ctr" defTabSz="1113790" eaLnBrk="1" fontAlgn="auto" hangingPunct="1"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9188" y="6357938"/>
            <a:ext cx="2846387" cy="365125"/>
          </a:xfrm>
          <a:prstGeom prst="rect">
            <a:avLst/>
          </a:prstGeom>
        </p:spPr>
        <p:txBody>
          <a:bodyPr vert="horz" wrap="square" lIns="111420" tIns="55710" rIns="111420" bIns="55710" numCol="1" anchor="ctr" anchorCtr="0" compatLnSpc="1"/>
          <a:lstStyle>
            <a:lvl1pPr algn="r" eaLnBrk="1" hangingPunct="1">
              <a:defRPr sz="1500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70F5791-85C4-45CA-BC8F-4EAC80EBF0A6}" type="slidenum">
              <a:rPr lang="zh-CN" altLang="en-US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0654" y="5749374"/>
            <a:ext cx="841004" cy="11102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slow">
    <p:push dir="u"/>
  </p:transition>
  <p:txStyles>
    <p:titleStyle>
      <a:lvl1pPr algn="ctr" defTabSz="1112520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defTabSz="1112520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defTabSz="1112520" rtl="0" fontAlgn="base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17830" indent="-4178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04875" indent="-34798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92555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4945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506980" indent="-278130" algn="l" defTabSz="111252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6387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2140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78300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35195" indent="-278765" algn="l" defTabSz="111379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1442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7132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821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8574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640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9953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457065" algn="l" defTabSz="1113790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16967" y="1557586"/>
            <a:ext cx="11161240" cy="14287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V-ATC</a:t>
            </a:r>
            <a:r>
              <a:rPr lang="zh-CN" altLang="en-US" sz="5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项目实施方案</a:t>
            </a:r>
            <a:endParaRPr lang="zh-CN" altLang="en-US" sz="5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590312" y="5662042"/>
            <a:ext cx="2569196" cy="1152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1266" y="5662042"/>
            <a:ext cx="907159" cy="119754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 bwMode="auto">
          <a:xfrm>
            <a:off x="2101143" y="3410630"/>
            <a:ext cx="7992888" cy="52322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可视化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地空通话语音标注系统前端预研与开发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 bwMode="auto">
          <a:xfrm>
            <a:off x="1525079" y="5477956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汇报团队：第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冷亚航、陈朵、刘泽萍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 bwMode="auto">
          <a:xfrm>
            <a:off x="1525079" y="5923652"/>
            <a:ext cx="9145016" cy="40011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 eaLnBrk="1" hangingPunct="1"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日期：</a:t>
            </a:r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1109" y="161152"/>
            <a:ext cx="600250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5"/>
          <p:cNvSpPr txBox="1"/>
          <p:nvPr>
            <p:custDataLst>
              <p:tags r:id="rId1"/>
            </p:custDataLst>
          </p:nvPr>
        </p:nvSpPr>
        <p:spPr>
          <a:xfrm rot="16200000">
            <a:off x="914740" y="3282003"/>
            <a:ext cx="4176726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义启萌妹体" panose="02010601030101010101" charset="-122"/>
                <a:ea typeface="义启萌妹体" panose="02010601030101010101" charset="-122"/>
                <a:cs typeface="+mn-cs"/>
              </a:rPr>
              <a:t>CONTENT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义启萌妹体" panose="02010601030101010101" charset="-122"/>
              <a:ea typeface="义启萌妹体" panose="02010601030101010101" charset="-122"/>
              <a:cs typeface="+mn-cs"/>
            </a:endParaRPr>
          </a:p>
        </p:txBody>
      </p:sp>
      <p:sp>
        <p:nvSpPr>
          <p:cNvPr id="4" name="MH_Number_1"/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4880917" y="1658374"/>
            <a:ext cx="503919" cy="503919"/>
          </a:xfrm>
          <a:prstGeom prst="ellipse">
            <a:avLst/>
          </a:prstGeom>
          <a:solidFill>
            <a:srgbClr val="FF2305"/>
          </a:solidFill>
          <a:ln w="57150">
            <a:solidFill>
              <a:srgbClr val="E54E4B"/>
            </a:solidFill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1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3"/>
            </p:custDataLst>
          </p:nvPr>
        </p:nvSpPr>
        <p:spPr>
          <a:xfrm>
            <a:off x="5745150" y="1612136"/>
            <a:ext cx="4168861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项目背景、目标与范围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MH_Number_2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4881054" y="2605110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2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" name="MH_Entry_2"/>
          <p:cNvSpPr/>
          <p:nvPr>
            <p:custDataLst>
              <p:tags r:id="rId5"/>
            </p:custDataLst>
          </p:nvPr>
        </p:nvSpPr>
        <p:spPr>
          <a:xfrm>
            <a:off x="5745150" y="2564937"/>
            <a:ext cx="2806564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项目总体计划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MH_Number_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4881054" y="3552079"/>
            <a:ext cx="504056" cy="504152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3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9" name="MH_Entry_3"/>
          <p:cNvSpPr/>
          <p:nvPr>
            <p:custDataLst>
              <p:tags r:id="rId7"/>
            </p:custDataLst>
          </p:nvPr>
        </p:nvSpPr>
        <p:spPr>
          <a:xfrm>
            <a:off x="5754362" y="3465513"/>
            <a:ext cx="2928071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项目组织架构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MH_Number_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4880917" y="4499048"/>
            <a:ext cx="504056" cy="504152"/>
          </a:xfrm>
          <a:prstGeom prst="ellipse">
            <a:avLst/>
          </a:prstGeom>
          <a:solidFill>
            <a:srgbClr val="C00000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4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9"/>
            </p:custDataLst>
          </p:nvPr>
        </p:nvSpPr>
        <p:spPr>
          <a:xfrm>
            <a:off x="5745286" y="4418314"/>
            <a:ext cx="3649980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项目风险点和对策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01043" y="2274769"/>
            <a:ext cx="1368152" cy="3030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9600" dirty="0">
                <a:solidFill>
                  <a:srgbClr val="C00000"/>
                </a:solidFill>
              </a:rPr>
              <a:t>目</a:t>
            </a:r>
            <a:endParaRPr lang="zh-CN" altLang="en-US" sz="9600" dirty="0">
              <a:solidFill>
                <a:srgbClr val="C00000"/>
              </a:solidFill>
            </a:endParaRPr>
          </a:p>
          <a:p>
            <a:r>
              <a:rPr lang="zh-CN" altLang="en-US" sz="9600" dirty="0">
                <a:solidFill>
                  <a:srgbClr val="C00000"/>
                </a:solidFill>
              </a:rPr>
              <a:t>录</a:t>
            </a:r>
            <a:endParaRPr lang="zh-CN" altLang="en-US" sz="9600" dirty="0">
              <a:solidFill>
                <a:srgbClr val="C00000"/>
              </a:solidFill>
            </a:endParaRPr>
          </a:p>
        </p:txBody>
      </p:sp>
      <p:sp>
        <p:nvSpPr>
          <p:cNvPr id="35" name="MH_Number_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880917" y="5446018"/>
            <a:ext cx="503919" cy="503919"/>
          </a:xfrm>
          <a:prstGeom prst="ellipse">
            <a:avLst/>
          </a:prstGeom>
          <a:solidFill>
            <a:srgbClr val="FF2305"/>
          </a:solidFill>
          <a:ln w="3175">
            <a:noFill/>
          </a:ln>
          <a:effectLst>
            <a:glow rad="63500">
              <a:schemeClr val="accent3">
                <a:lumMod val="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5</a:t>
            </a:r>
            <a:endParaRPr lang="zh-CN" altLang="en-US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36" name="MH_Entry_4"/>
          <p:cNvSpPr/>
          <p:nvPr>
            <p:custDataLst>
              <p:tags r:id="rId11"/>
            </p:custDataLst>
          </p:nvPr>
        </p:nvSpPr>
        <p:spPr>
          <a:xfrm>
            <a:off x="5745150" y="5371114"/>
            <a:ext cx="3304765" cy="57695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项目沟通机制</a:t>
            </a:r>
            <a:endParaRPr lang="zh-CN" altLang="en-US" sz="32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721323" y="1413570"/>
            <a:ext cx="0" cy="475252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2" name="矩形 25"/>
          <p:cNvSpPr/>
          <p:nvPr/>
        </p:nvSpPr>
        <p:spPr>
          <a:xfrm>
            <a:off x="1489075" y="1753533"/>
            <a:ext cx="1512000" cy="61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764" name="矩形 24"/>
          <p:cNvSpPr/>
          <p:nvPr/>
        </p:nvSpPr>
        <p:spPr>
          <a:xfrm>
            <a:off x="1764015" y="1757635"/>
            <a:ext cx="9621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项目背景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AutoShape 3"/>
          <p:cNvSpPr/>
          <p:nvPr/>
        </p:nvSpPr>
        <p:spPr>
          <a:xfrm>
            <a:off x="1489075" y="2133650"/>
            <a:ext cx="9405950" cy="3161088"/>
          </a:xfrm>
          <a:prstGeom prst="roundRect">
            <a:avLst>
              <a:gd name="adj" fmla="val 11764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just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传统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ATC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语音标注依赖人工听写，效率低下。本系统旨在构建自动化流水线，将“人工创作模式”升级为高生产率的“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辅助验证模式”。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0" y="7867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项目现状痛点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4"/>
          <p:cNvSpPr/>
          <p:nvPr/>
        </p:nvSpPr>
        <p:spPr>
          <a:xfrm>
            <a:off x="418731" y="1513410"/>
            <a:ext cx="3661167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418731" y="1160488"/>
            <a:ext cx="3661167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痛点一：多模态整合度低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 bwMode="auto">
          <a:xfrm>
            <a:off x="453270" y="2105774"/>
            <a:ext cx="3592089" cy="1107996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现存工具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界面割裂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，无法实现音频波形与空间航迹的同屏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高效协同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4"/>
          <p:cNvSpPr/>
          <p:nvPr/>
        </p:nvSpPr>
        <p:spPr>
          <a:xfrm>
            <a:off x="4593729" y="1513410"/>
            <a:ext cx="3376066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3" name="矩形 12"/>
          <p:cNvSpPr/>
          <p:nvPr/>
        </p:nvSpPr>
        <p:spPr>
          <a:xfrm>
            <a:off x="4593729" y="1160488"/>
            <a:ext cx="3376066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痛点二：时空对齐困难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 bwMode="auto">
          <a:xfrm>
            <a:off x="4625579" y="1793890"/>
            <a:ext cx="3312367" cy="144655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标注人员视觉焦点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频繁切换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，缺乏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统一的时空调度引擎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，导致音频时间戳与航迹对齐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误差率极高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8413130" y="1513410"/>
            <a:ext cx="3376066" cy="2105739"/>
          </a:xfrm>
          <a:prstGeom prst="roundRect">
            <a:avLst/>
          </a:prstGeom>
          <a:solidFill>
            <a:srgbClr val="8B0000">
              <a:alpha val="5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16" name="矩形 15"/>
          <p:cNvSpPr/>
          <p:nvPr/>
        </p:nvSpPr>
        <p:spPr>
          <a:xfrm>
            <a:off x="8413130" y="1160488"/>
            <a:ext cx="3376066" cy="658645"/>
          </a:xfrm>
          <a:prstGeom prst="rect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痛点三：前端渲染瓶颈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 bwMode="auto">
          <a:xfrm>
            <a:off x="8444980" y="1793890"/>
            <a:ext cx="3312367" cy="144655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传统工具缺乏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高性能状态容器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，难以承接后端下发的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密集分布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的结构化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时空数据渲染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14"/>
          <p:cNvSpPr/>
          <p:nvPr/>
        </p:nvSpPr>
        <p:spPr>
          <a:xfrm>
            <a:off x="561281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 bwMode="auto">
          <a:xfrm>
            <a:off x="593131" y="4732090"/>
            <a:ext cx="3312367" cy="1200329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B/S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，打造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高度集成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的沉浸式综合标注工作台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14"/>
          <p:cNvSpPr/>
          <p:nvPr/>
        </p:nvSpPr>
        <p:spPr>
          <a:xfrm>
            <a:off x="4593729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 bwMode="auto">
          <a:xfrm>
            <a:off x="4625579" y="4616519"/>
            <a:ext cx="3312367" cy="156966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建立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“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全局主时钟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”，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实现听觉、视觉、空间的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三维高精度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同频映射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 panose="020B0200000000000000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4"/>
          <p:cNvSpPr/>
          <p:nvPr/>
        </p:nvSpPr>
        <p:spPr>
          <a:xfrm>
            <a:off x="8413130" y="4445323"/>
            <a:ext cx="3376066" cy="1792783"/>
          </a:xfrm>
          <a:prstGeom prst="roundRect">
            <a:avLst/>
          </a:prstGeom>
          <a:solidFill>
            <a:srgbClr val="FF849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9" name="文本框 18"/>
          <p:cNvSpPr txBox="1"/>
          <p:nvPr/>
        </p:nvSpPr>
        <p:spPr bwMode="auto">
          <a:xfrm>
            <a:off x="8444980" y="4603615"/>
            <a:ext cx="3312367" cy="1569660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React Context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集中式状态管理，集成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高效渲染机制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管控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DOM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箭头: 下 19"/>
          <p:cNvSpPr/>
          <p:nvPr/>
        </p:nvSpPr>
        <p:spPr>
          <a:xfrm>
            <a:off x="1817266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下 20"/>
          <p:cNvSpPr/>
          <p:nvPr/>
        </p:nvSpPr>
        <p:spPr>
          <a:xfrm>
            <a:off x="5849714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下 21"/>
          <p:cNvSpPr/>
          <p:nvPr/>
        </p:nvSpPr>
        <p:spPr>
          <a:xfrm>
            <a:off x="9669115" y="3395019"/>
            <a:ext cx="864096" cy="1200329"/>
          </a:xfrm>
          <a:prstGeom prst="downArrow">
            <a:avLst/>
          </a:prstGeom>
          <a:solidFill>
            <a:srgbClr val="E54E4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/>
      <p:bldP spid="11" grpId="0" animBg="1"/>
      <p:bldP spid="19" grpId="0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项目范围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Rectangle 4"/>
          <p:cNvSpPr/>
          <p:nvPr/>
        </p:nvSpPr>
        <p:spPr>
          <a:xfrm>
            <a:off x="1273051" y="1341562"/>
            <a:ext cx="5184577" cy="4763235"/>
          </a:xfrm>
          <a:prstGeom prst="rect">
            <a:avLst/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 dirty="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Group 11"/>
          <p:cNvGrpSpPr/>
          <p:nvPr/>
        </p:nvGrpSpPr>
        <p:grpSpPr>
          <a:xfrm>
            <a:off x="3993231" y="1764816"/>
            <a:ext cx="2408515" cy="1999723"/>
            <a:chOff x="783563" y="1249478"/>
            <a:chExt cx="1841127" cy="1562683"/>
          </a:xfrm>
        </p:grpSpPr>
        <p:sp>
          <p:nvSpPr>
            <p:cNvPr id="36" name="Rectangle 12"/>
            <p:cNvSpPr/>
            <p:nvPr/>
          </p:nvSpPr>
          <p:spPr>
            <a:xfrm>
              <a:off x="783563" y="1630479"/>
              <a:ext cx="1841126" cy="118168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ADS-B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海量飞行航迹打点渲染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当前时刻飞机动态高亮显示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Rectangle 13"/>
            <p:cNvSpPr/>
            <p:nvPr/>
          </p:nvSpPr>
          <p:spPr>
            <a:xfrm>
              <a:off x="783563" y="1249478"/>
              <a:ext cx="1841127" cy="381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时空航迹地图漫游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Group 14"/>
          <p:cNvGrpSpPr/>
          <p:nvPr/>
        </p:nvGrpSpPr>
        <p:grpSpPr>
          <a:xfrm>
            <a:off x="2193031" y="3846724"/>
            <a:ext cx="3600399" cy="2085027"/>
            <a:chOff x="-1143000" y="4385890"/>
            <a:chExt cx="1778001" cy="1446439"/>
          </a:xfrm>
        </p:grpSpPr>
        <p:sp>
          <p:nvSpPr>
            <p:cNvPr id="34" name="Rectangle 15"/>
            <p:cNvSpPr/>
            <p:nvPr/>
          </p:nvSpPr>
          <p:spPr>
            <a:xfrm>
              <a:off x="-1143000" y="4696101"/>
              <a:ext cx="1778000" cy="113622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全局时钟进度条控制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音轨、文本、航迹毫秒级同步联动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标注结果的确认与提交动作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16"/>
            <p:cNvSpPr/>
            <p:nvPr/>
          </p:nvSpPr>
          <p:spPr>
            <a:xfrm>
              <a:off x="-1143000" y="4385890"/>
              <a:ext cx="1778001" cy="351181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核心联动交互工作台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Isosceles Triangle 17"/>
          <p:cNvSpPr/>
          <p:nvPr/>
        </p:nvSpPr>
        <p:spPr>
          <a:xfrm rot="5400000">
            <a:off x="5975004" y="3342541"/>
            <a:ext cx="1164899" cy="199652"/>
          </a:xfrm>
          <a:prstGeom prst="triangle">
            <a:avLst/>
          </a:prstGeom>
          <a:solidFill>
            <a:srgbClr val="C00000">
              <a:alpha val="90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2000">
              <a:solidFill>
                <a:schemeClr val="tx1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6" name="Rectangle 18"/>
          <p:cNvSpPr/>
          <p:nvPr/>
        </p:nvSpPr>
        <p:spPr>
          <a:xfrm>
            <a:off x="6657281" y="1341562"/>
            <a:ext cx="4048818" cy="4727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系统功能</a:t>
            </a:r>
            <a:endParaRPr lang="en-US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20"/>
          <p:cNvSpPr/>
          <p:nvPr/>
        </p:nvSpPr>
        <p:spPr>
          <a:xfrm>
            <a:off x="6745659" y="3846724"/>
            <a:ext cx="3789640" cy="493878"/>
          </a:xfrm>
          <a:prstGeom prst="rect">
            <a:avLst/>
          </a:prstGeom>
          <a:solidFill>
            <a:srgbClr val="99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数据流转与状态管理</a:t>
            </a:r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Rectangle 21"/>
          <p:cNvSpPr/>
          <p:nvPr/>
        </p:nvSpPr>
        <p:spPr>
          <a:xfrm>
            <a:off x="6745659" y="1820322"/>
            <a:ext cx="3789640" cy="43204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系统基建与交互环境</a:t>
            </a:r>
            <a:endParaRPr 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2"/>
          <p:cNvSpPr/>
          <p:nvPr/>
        </p:nvSpPr>
        <p:spPr>
          <a:xfrm>
            <a:off x="6745659" y="2266725"/>
            <a:ext cx="3789640" cy="149781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Next.js 15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页面路由与生命周期管理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Tailwind &amp; Radix UI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响应式组件库集成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沉浸式深色模式全局适配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4"/>
          <p:cNvSpPr/>
          <p:nvPr/>
        </p:nvSpPr>
        <p:spPr>
          <a:xfrm>
            <a:off x="6745659" y="4358927"/>
            <a:ext cx="3789641" cy="1637861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React Context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全局统一状态源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对接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A-5 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后端模块 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RESTful API (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前端松散异构数据（媒体流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/JSON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）的解析与格式化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Group 25"/>
          <p:cNvGrpSpPr/>
          <p:nvPr/>
        </p:nvGrpSpPr>
        <p:grpSpPr>
          <a:xfrm>
            <a:off x="1345060" y="1779170"/>
            <a:ext cx="2520281" cy="1985367"/>
            <a:chOff x="795687" y="1250283"/>
            <a:chExt cx="1926564" cy="1551465"/>
          </a:xfrm>
        </p:grpSpPr>
        <p:sp>
          <p:nvSpPr>
            <p:cNvPr id="32" name="Rectangle 26"/>
            <p:cNvSpPr/>
            <p:nvPr/>
          </p:nvSpPr>
          <p:spPr>
            <a:xfrm>
              <a:off x="795687" y="1620065"/>
              <a:ext cx="1926564" cy="118168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VAD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时标展示与定位</a:t>
              </a:r>
              <a:endPara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ASR</a:t>
              </a:r>
              <a:r>
                <a:rPr lang="zh-CN" altLang="en-US" sz="16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预识别文本校对与编辑</a:t>
              </a:r>
              <a:endPara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27"/>
            <p:cNvSpPr/>
            <p:nvPr/>
          </p:nvSpPr>
          <p:spPr>
            <a:xfrm>
              <a:off x="805545" y="1250283"/>
              <a:ext cx="1916706" cy="3810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多模态音频可视化</a:t>
              </a:r>
              <a:endParaRPr 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文本框 39"/>
          <p:cNvSpPr txBox="1"/>
          <p:nvPr/>
        </p:nvSpPr>
        <p:spPr bwMode="auto">
          <a:xfrm>
            <a:off x="2749070" y="1322826"/>
            <a:ext cx="2298672" cy="461665"/>
          </a:xfrm>
          <a:prstGeom prst="rect">
            <a:avLst/>
          </a:prstGeom>
          <a:noFill/>
          <a:ln w="9525">
            <a:noFill/>
            <a:prstDash val="lgDash"/>
            <a:miter lim="800000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主体业务模块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en-US" altLang="zh-CN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设计与交互规范 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03250" y="1044177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8" name="AutoShape 5"/>
          <p:cNvSpPr/>
          <p:nvPr/>
        </p:nvSpPr>
        <p:spPr>
          <a:xfrm>
            <a:off x="637147" y="1125538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技术基建</a:t>
            </a:r>
            <a:endParaRPr lang="en-US" sz="1100" dirty="0"/>
          </a:p>
        </p:txBody>
      </p:sp>
      <p:sp>
        <p:nvSpPr>
          <p:cNvPr id="12" name="AutoShape 6"/>
          <p:cNvSpPr/>
          <p:nvPr/>
        </p:nvSpPr>
        <p:spPr>
          <a:xfrm>
            <a:off x="637147" y="1629594"/>
            <a:ext cx="4590602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Tailwind CSS + Radix UI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现代化、响应式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前端组件库，确保开发效率与一致性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3" name="AutoShape 7"/>
          <p:cNvSpPr/>
          <p:nvPr/>
        </p:nvSpPr>
        <p:spPr>
          <a:xfrm>
            <a:off x="408955" y="2967548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5" name="AutoShape 9"/>
          <p:cNvSpPr/>
          <p:nvPr/>
        </p:nvSpPr>
        <p:spPr>
          <a:xfrm>
            <a:off x="609118" y="3069754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视觉风格</a:t>
            </a:r>
            <a:endParaRPr lang="en-US" sz="1100" dirty="0"/>
          </a:p>
        </p:txBody>
      </p:sp>
      <p:sp>
        <p:nvSpPr>
          <p:cNvPr id="16" name="AutoShape 10"/>
          <p:cNvSpPr/>
          <p:nvPr/>
        </p:nvSpPr>
        <p:spPr>
          <a:xfrm>
            <a:off x="609118" y="3645818"/>
            <a:ext cx="4418558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深色模式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（Dark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Mode）为主基调，减轻长时间工作的视觉疲劳，打造沉浸式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“纯净工作台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7" name="AutoShape 11"/>
          <p:cNvSpPr/>
          <p:nvPr/>
        </p:nvSpPr>
        <p:spPr>
          <a:xfrm>
            <a:off x="475221" y="5013970"/>
            <a:ext cx="4796507" cy="1505074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9" name="AutoShape 13"/>
          <p:cNvSpPr/>
          <p:nvPr/>
        </p:nvSpPr>
        <p:spPr>
          <a:xfrm>
            <a:off x="609118" y="5138512"/>
            <a:ext cx="4418558" cy="45152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核心交互</a:t>
            </a:r>
            <a:endParaRPr lang="en-US" sz="1100" dirty="0"/>
          </a:p>
        </p:txBody>
      </p:sp>
      <p:sp>
        <p:nvSpPr>
          <p:cNvPr id="20" name="AutoShape 14"/>
          <p:cNvSpPr/>
          <p:nvPr/>
        </p:nvSpPr>
        <p:spPr>
          <a:xfrm>
            <a:off x="609118" y="5629585"/>
            <a:ext cx="4418558" cy="7525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摒弃繁琐的多视窗切换，实现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一屏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内听觉、视觉、空间信息的</a:t>
            </a:r>
            <a:r>
              <a:rPr lang="en-US" sz="18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高度聚合与联动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646" y="1819351"/>
            <a:ext cx="6788592" cy="365293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99317"/>
            <a:ext cx="12195175" cy="5960271"/>
          </a:xfrm>
          <a:prstGeom prst="rect">
            <a:avLst/>
          </a:prstGeom>
        </p:spPr>
      </p:pic>
      <p:sp>
        <p:nvSpPr>
          <p:cNvPr id="29" name="AutoShape 5"/>
          <p:cNvSpPr/>
          <p:nvPr/>
        </p:nvSpPr>
        <p:spPr>
          <a:xfrm>
            <a:off x="762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7200" y="2413000"/>
            <a:ext cx="609600" cy="609600"/>
          </a:xfrm>
          <a:prstGeom prst="rect">
            <a:avLst/>
          </a:prstGeom>
        </p:spPr>
      </p:pic>
      <p:sp>
        <p:nvSpPr>
          <p:cNvPr id="31" name="AutoShape 7"/>
          <p:cNvSpPr/>
          <p:nvPr/>
        </p:nvSpPr>
        <p:spPr>
          <a:xfrm>
            <a:off x="889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W1-W3 需求与基建</a:t>
            </a:r>
            <a:endParaRPr lang="en-US" sz="1100"/>
          </a:p>
        </p:txBody>
      </p:sp>
      <p:sp>
        <p:nvSpPr>
          <p:cNvPr id="32" name="AutoShape 8"/>
          <p:cNvSpPr/>
          <p:nvPr/>
        </p:nvSpPr>
        <p:spPr>
          <a:xfrm>
            <a:off x="889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界面原型图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，搭建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Next.js 15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目录结构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，配置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Tailwind 及 TypeScript 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全局环境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4" name="AutoShape 10"/>
          <p:cNvSpPr/>
          <p:nvPr/>
        </p:nvSpPr>
        <p:spPr>
          <a:xfrm>
            <a:off x="3556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1200" y="2413000"/>
            <a:ext cx="609600" cy="609600"/>
          </a:xfrm>
          <a:prstGeom prst="rect">
            <a:avLst/>
          </a:prstGeom>
        </p:spPr>
      </p:pic>
      <p:sp>
        <p:nvSpPr>
          <p:cNvPr id="36" name="AutoShape 12"/>
          <p:cNvSpPr/>
          <p:nvPr/>
        </p:nvSpPr>
        <p:spPr>
          <a:xfrm>
            <a:off x="3683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W4-W8 核心开发</a:t>
            </a:r>
            <a:endParaRPr lang="en-US" sz="1100"/>
          </a:p>
        </p:txBody>
      </p:sp>
      <p:sp>
        <p:nvSpPr>
          <p:cNvPr id="37" name="AutoShape 13"/>
          <p:cNvSpPr/>
          <p:nvPr/>
        </p:nvSpPr>
        <p:spPr>
          <a:xfrm>
            <a:off x="3683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独立完成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音频波形可视化、地图航迹渲染、时间戳列表及文本编辑器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9" name="AutoShape 15"/>
          <p:cNvSpPr/>
          <p:nvPr/>
        </p:nvSpPr>
        <p:spPr>
          <a:xfrm>
            <a:off x="6350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15200" y="2413000"/>
            <a:ext cx="609600" cy="609600"/>
          </a:xfrm>
          <a:prstGeom prst="rect">
            <a:avLst/>
          </a:prstGeom>
        </p:spPr>
      </p:pic>
      <p:sp>
        <p:nvSpPr>
          <p:cNvPr id="41" name="AutoShape 17"/>
          <p:cNvSpPr/>
          <p:nvPr/>
        </p:nvSpPr>
        <p:spPr>
          <a:xfrm>
            <a:off x="6477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W9-W12 整合联调</a:t>
            </a:r>
            <a:endParaRPr lang="en-US" sz="1100"/>
          </a:p>
        </p:txBody>
      </p:sp>
      <p:sp>
        <p:nvSpPr>
          <p:cNvPr id="42" name="AutoShape 18"/>
          <p:cNvSpPr/>
          <p:nvPr/>
        </p:nvSpPr>
        <p:spPr>
          <a:xfrm>
            <a:off x="6477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annotation-page 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主页面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，实现进度条联动音频与航迹，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对接后端接口并修复Bug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44" name="AutoShape 20"/>
          <p:cNvSpPr/>
          <p:nvPr/>
        </p:nvSpPr>
        <p:spPr>
          <a:xfrm>
            <a:off x="9144000" y="2159000"/>
            <a:ext cx="2540000" cy="3048000"/>
          </a:xfrm>
          <a:prstGeom prst="roundRect">
            <a:avLst>
              <a:gd name="adj" fmla="val 500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5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09200" y="2413000"/>
            <a:ext cx="609600" cy="609600"/>
          </a:xfrm>
          <a:prstGeom prst="rect">
            <a:avLst/>
          </a:prstGeom>
        </p:spPr>
      </p:pic>
      <p:sp>
        <p:nvSpPr>
          <p:cNvPr id="46" name="AutoShape 22"/>
          <p:cNvSpPr/>
          <p:nvPr/>
        </p:nvSpPr>
        <p:spPr>
          <a:xfrm>
            <a:off x="9271000" y="3111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W13 结题与交付</a:t>
            </a:r>
            <a:endParaRPr lang="en-US" sz="1100"/>
          </a:p>
        </p:txBody>
      </p:sp>
      <p:sp>
        <p:nvSpPr>
          <p:cNvPr id="47" name="AutoShape 23"/>
          <p:cNvSpPr/>
          <p:nvPr/>
        </p:nvSpPr>
        <p:spPr>
          <a:xfrm>
            <a:off x="9271000" y="3556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项目打包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Build，撰写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课程实践报告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并准备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</a:t>
            </a:r>
            <a:r>
              <a:rPr lang="en-US" sz="16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48" name="TextBox 11"/>
          <p:cNvSpPr txBox="1"/>
          <p:nvPr/>
        </p:nvSpPr>
        <p:spPr>
          <a:xfrm>
            <a:off x="91958" y="79263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项目总体计划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/>
      <p:bldP spid="32" grpId="0"/>
      <p:bldP spid="34" grpId="0" animBg="1"/>
      <p:bldP spid="36" grpId="0"/>
      <p:bldP spid="37" grpId="0"/>
      <p:bldP spid="39" grpId="0" animBg="1"/>
      <p:bldP spid="41" grpId="0"/>
      <p:bldP spid="42" grpId="0"/>
      <p:bldP spid="44" grpId="0" animBg="1"/>
      <p:bldP spid="46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项目的组织结构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352486" y="895405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86395" y="1651794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2595" y="1905794"/>
            <a:ext cx="609600" cy="609600"/>
          </a:xfrm>
          <a:prstGeom prst="rect">
            <a:avLst/>
          </a:prstGeom>
        </p:spPr>
      </p:pic>
      <p:sp>
        <p:nvSpPr>
          <p:cNvPr id="7" name="AutoShape 6"/>
          <p:cNvSpPr/>
          <p:nvPr/>
        </p:nvSpPr>
        <p:spPr>
          <a:xfrm>
            <a:off x="813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冷亚航</a:t>
            </a:r>
            <a:endParaRPr lang="en-US" sz="1100"/>
          </a:p>
        </p:txBody>
      </p:sp>
      <p:sp>
        <p:nvSpPr>
          <p:cNvPr id="9" name="AutoShape 7"/>
          <p:cNvSpPr/>
          <p:nvPr/>
        </p:nvSpPr>
        <p:spPr>
          <a:xfrm>
            <a:off x="813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UI统筹与交付</a:t>
            </a:r>
            <a:endParaRPr lang="en-US" sz="1100"/>
          </a:p>
        </p:txBody>
      </p:sp>
      <p:sp>
        <p:nvSpPr>
          <p:cNvPr id="10" name="AutoShape 8"/>
          <p:cNvSpPr/>
          <p:nvPr/>
        </p:nvSpPr>
        <p:spPr>
          <a:xfrm>
            <a:off x="876895" y="3556794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负责前期需求分析、UI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UX原型设计与排版确认，及后期文档编写与结题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1" name="AutoShape 9"/>
          <p:cNvSpPr/>
          <p:nvPr/>
        </p:nvSpPr>
        <p:spPr>
          <a:xfrm>
            <a:off x="4369395" y="1651794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15595" y="1905794"/>
            <a:ext cx="609600" cy="609600"/>
          </a:xfrm>
          <a:prstGeom prst="rect">
            <a:avLst/>
          </a:prstGeom>
        </p:spPr>
      </p:pic>
      <p:sp>
        <p:nvSpPr>
          <p:cNvPr id="22" name="AutoShape 11"/>
          <p:cNvSpPr/>
          <p:nvPr/>
        </p:nvSpPr>
        <p:spPr>
          <a:xfrm>
            <a:off x="4496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陈朵</a:t>
            </a:r>
            <a:endParaRPr lang="en-US" sz="1100"/>
          </a:p>
        </p:txBody>
      </p:sp>
      <p:sp>
        <p:nvSpPr>
          <p:cNvPr id="23" name="AutoShape 12"/>
          <p:cNvSpPr/>
          <p:nvPr/>
        </p:nvSpPr>
        <p:spPr>
          <a:xfrm>
            <a:off x="4496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架构基建与主页整合</a:t>
            </a:r>
            <a:endParaRPr lang="en-US" sz="1100"/>
          </a:p>
        </p:txBody>
      </p:sp>
      <p:sp>
        <p:nvSpPr>
          <p:cNvPr id="24" name="AutoShape 13"/>
          <p:cNvSpPr/>
          <p:nvPr/>
        </p:nvSpPr>
        <p:spPr>
          <a:xfrm>
            <a:off x="4559895" y="3556794"/>
            <a:ext cx="2921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负责前端项目初始化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TypeScript环境配置，及核心主页面的状态同步与API联调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25" name="AutoShape 14"/>
          <p:cNvSpPr/>
          <p:nvPr/>
        </p:nvSpPr>
        <p:spPr>
          <a:xfrm>
            <a:off x="8052394" y="1651794"/>
            <a:ext cx="3329385" cy="3556000"/>
          </a:xfrm>
          <a:prstGeom prst="roundRect">
            <a:avLst>
              <a:gd name="adj" fmla="val 3846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8595" y="1905794"/>
            <a:ext cx="609600" cy="609600"/>
          </a:xfrm>
          <a:prstGeom prst="rect">
            <a:avLst/>
          </a:prstGeom>
        </p:spPr>
      </p:pic>
      <p:sp>
        <p:nvSpPr>
          <p:cNvPr id="27" name="AutoShape 16"/>
          <p:cNvSpPr/>
          <p:nvPr/>
        </p:nvSpPr>
        <p:spPr>
          <a:xfrm>
            <a:off x="8179395" y="2667794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刘泽萍</a:t>
            </a:r>
            <a:endParaRPr lang="en-US" sz="1100"/>
          </a:p>
        </p:txBody>
      </p:sp>
      <p:sp>
        <p:nvSpPr>
          <p:cNvPr id="28" name="AutoShape 17"/>
          <p:cNvSpPr/>
          <p:nvPr/>
        </p:nvSpPr>
        <p:spPr>
          <a:xfrm>
            <a:off x="8179395" y="3112294"/>
            <a:ext cx="304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可视化组件攻坚</a:t>
            </a:r>
            <a:endParaRPr lang="en-US" sz="1100"/>
          </a:p>
        </p:txBody>
      </p:sp>
      <p:sp>
        <p:nvSpPr>
          <p:cNvPr id="29" name="AutoShape 18"/>
          <p:cNvSpPr/>
          <p:nvPr/>
        </p:nvSpPr>
        <p:spPr>
          <a:xfrm>
            <a:off x="8160407" y="3556794"/>
            <a:ext cx="3157873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zh-CN" altLang="en-US" sz="1600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</a:t>
            </a:r>
            <a:r>
              <a:rPr lang="zh-CN" alt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高难度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独立组件，WaveSurfe</a:t>
            </a:r>
            <a:r>
              <a:rPr lang="en-US" altLang="zh-CN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音频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文本编辑器开发，及Leaflet地图与飞机打点高亮处理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30" name="AutoShape 19"/>
          <p:cNvSpPr/>
          <p:nvPr/>
        </p:nvSpPr>
        <p:spPr>
          <a:xfrm>
            <a:off x="686395" y="5842794"/>
            <a:ext cx="10668000" cy="254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风险点和对策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项目组织架构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4"/>
          <p:cNvSpPr/>
          <p:nvPr/>
        </p:nvSpPr>
        <p:spPr>
          <a:xfrm>
            <a:off x="830187" y="1424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667" y="1830586"/>
            <a:ext cx="406400" cy="406400"/>
          </a:xfrm>
          <a:prstGeom prst="rect">
            <a:avLst/>
          </a:prstGeom>
        </p:spPr>
      </p:pic>
      <p:sp>
        <p:nvSpPr>
          <p:cNvPr id="8" name="AutoShape 6"/>
          <p:cNvSpPr/>
          <p:nvPr/>
        </p:nvSpPr>
        <p:spPr>
          <a:xfrm>
            <a:off x="1528687" y="1551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风险一：海量密集航迹导致前端内存溢出</a:t>
            </a:r>
            <a:endParaRPr lang="en-US" sz="1200"/>
          </a:p>
        </p:txBody>
      </p:sp>
      <p:pic>
        <p:nvPicPr>
          <p:cNvPr id="12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4787" y="1856482"/>
            <a:ext cx="304800" cy="304800"/>
          </a:xfrm>
          <a:prstGeom prst="rect">
            <a:avLst/>
          </a:prstGeom>
        </p:spPr>
      </p:pic>
      <p:sp>
        <p:nvSpPr>
          <p:cNvPr id="13" name="AutoShape 8"/>
          <p:cNvSpPr/>
          <p:nvPr/>
        </p:nvSpPr>
        <p:spPr>
          <a:xfrm>
            <a:off x="6418187" y="1424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8687" y="1830586"/>
            <a:ext cx="406400" cy="406400"/>
          </a:xfrm>
          <a:prstGeom prst="rect">
            <a:avLst/>
          </a:prstGeom>
        </p:spPr>
      </p:pic>
      <p:sp>
        <p:nvSpPr>
          <p:cNvPr id="15" name="AutoShape 10"/>
          <p:cNvSpPr/>
          <p:nvPr/>
        </p:nvSpPr>
        <p:spPr>
          <a:xfrm>
            <a:off x="7116687" y="1551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早期介入预研数据聚合或 Web Worker 机制，管控前端 DOM 树规模。</a:t>
            </a:r>
            <a:endParaRPr lang="en-US" sz="1100"/>
          </a:p>
        </p:txBody>
      </p:sp>
      <p:sp>
        <p:nvSpPr>
          <p:cNvPr id="16" name="AutoShape 11"/>
          <p:cNvSpPr/>
          <p:nvPr/>
        </p:nvSpPr>
        <p:spPr>
          <a:xfrm>
            <a:off x="830187" y="28851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17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667" y="3291086"/>
            <a:ext cx="406400" cy="406400"/>
          </a:xfrm>
          <a:prstGeom prst="rect">
            <a:avLst/>
          </a:prstGeom>
        </p:spPr>
      </p:pic>
      <p:sp>
        <p:nvSpPr>
          <p:cNvPr id="18" name="AutoShape 13"/>
          <p:cNvSpPr/>
          <p:nvPr/>
        </p:nvSpPr>
        <p:spPr>
          <a:xfrm>
            <a:off x="1528687" y="30121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风险二：跨模块时空数据强绑定易异常</a:t>
            </a:r>
            <a:endParaRPr lang="en-US" sz="1200"/>
          </a:p>
        </p:txBody>
      </p:sp>
      <p:pic>
        <p:nvPicPr>
          <p:cNvPr id="19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4787" y="3316982"/>
            <a:ext cx="304800" cy="304800"/>
          </a:xfrm>
          <a:prstGeom prst="rect">
            <a:avLst/>
          </a:prstGeom>
        </p:spPr>
      </p:pic>
      <p:sp>
        <p:nvSpPr>
          <p:cNvPr id="20" name="AutoShape 15"/>
          <p:cNvSpPr/>
          <p:nvPr/>
        </p:nvSpPr>
        <p:spPr>
          <a:xfrm>
            <a:off x="6418187" y="28851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8687" y="3291086"/>
            <a:ext cx="406400" cy="406400"/>
          </a:xfrm>
          <a:prstGeom prst="rect">
            <a:avLst/>
          </a:prstGeom>
        </p:spPr>
      </p:pic>
      <p:sp>
        <p:nvSpPr>
          <p:cNvPr id="32" name="AutoShape 17"/>
          <p:cNvSpPr/>
          <p:nvPr/>
        </p:nvSpPr>
        <p:spPr>
          <a:xfrm>
            <a:off x="7116687" y="30121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全面引入 TypeScript 进行严格静态类型约束，利用 React Context 构建全局唯一数据源。</a:t>
            </a:r>
            <a:endParaRPr lang="en-US" sz="1100"/>
          </a:p>
        </p:txBody>
      </p:sp>
      <p:sp>
        <p:nvSpPr>
          <p:cNvPr id="33" name="AutoShape 18"/>
          <p:cNvSpPr/>
          <p:nvPr/>
        </p:nvSpPr>
        <p:spPr>
          <a:xfrm>
            <a:off x="830187" y="4345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pic>
        <p:nvPicPr>
          <p:cNvPr id="34" name="Picture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667" y="4751586"/>
            <a:ext cx="406400" cy="406400"/>
          </a:xfrm>
          <a:prstGeom prst="rect">
            <a:avLst/>
          </a:prstGeom>
        </p:spPr>
      </p:pic>
      <p:sp>
        <p:nvSpPr>
          <p:cNvPr id="35" name="AutoShape 20"/>
          <p:cNvSpPr/>
          <p:nvPr/>
        </p:nvSpPr>
        <p:spPr>
          <a:xfrm>
            <a:off x="1528687" y="4472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风险三：前后端分离导致数据契约不一致</a:t>
            </a:r>
            <a:endParaRPr lang="en-US" sz="1200" dirty="0"/>
          </a:p>
        </p:txBody>
      </p:sp>
      <p:pic>
        <p:nvPicPr>
          <p:cNvPr id="36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4787" y="4777482"/>
            <a:ext cx="304800" cy="304800"/>
          </a:xfrm>
          <a:prstGeom prst="rect">
            <a:avLst/>
          </a:prstGeom>
        </p:spPr>
      </p:pic>
      <p:sp>
        <p:nvSpPr>
          <p:cNvPr id="37" name="AutoShape 22"/>
          <p:cNvSpPr/>
          <p:nvPr/>
        </p:nvSpPr>
        <p:spPr>
          <a:xfrm>
            <a:off x="6418187" y="4345682"/>
            <a:ext cx="4826000" cy="1270000"/>
          </a:xfrm>
          <a:prstGeom prst="roundRect">
            <a:avLst>
              <a:gd name="adj" fmla="val 10000"/>
            </a:avLst>
          </a:prstGeom>
          <a:solidFill>
            <a:srgbClr val="228B22">
              <a:alpha val="5000"/>
            </a:srgbClr>
          </a:solidFill>
          <a:ln cap="flat" cmpd="sng">
            <a:solidFill>
              <a:srgbClr val="10721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8687" y="4751586"/>
            <a:ext cx="406400" cy="406400"/>
          </a:xfrm>
          <a:prstGeom prst="rect">
            <a:avLst/>
          </a:prstGeom>
        </p:spPr>
      </p:pic>
      <p:sp>
        <p:nvSpPr>
          <p:cNvPr id="39" name="AutoShape 24"/>
          <p:cNvSpPr/>
          <p:nvPr/>
        </p:nvSpPr>
        <p:spPr>
          <a:xfrm>
            <a:off x="7116687" y="4472682"/>
            <a:ext cx="400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对策：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在W4阶段提前与后端对齐 Swagger API 格式，并建立 Mock 数据独立测试。</a:t>
            </a:r>
            <a:endParaRPr lang="en-US" sz="1100"/>
          </a:p>
        </p:txBody>
      </p:sp>
      <p:sp>
        <p:nvSpPr>
          <p:cNvPr id="40" name="AutoShape 25"/>
          <p:cNvSpPr/>
          <p:nvPr/>
        </p:nvSpPr>
        <p:spPr>
          <a:xfrm>
            <a:off x="830187" y="5996682"/>
            <a:ext cx="10668000" cy="25400"/>
          </a:xfrm>
          <a:prstGeom prst="roundRect">
            <a:avLst>
              <a:gd name="adj" fmla="val 0"/>
            </a:avLst>
          </a:prstGeom>
          <a:solidFill>
            <a:srgbClr val="8B00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20" grpId="0" animBg="1"/>
      <p:bldP spid="32" grpId="0"/>
      <p:bldP spid="37" grpId="0" animBg="1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  <a:lum contrast="36000"/>
          </a:blip>
          <a:srcRect/>
          <a:stretch>
            <a:fillRect/>
          </a:stretch>
        </p:blipFill>
        <p:spPr bwMode="auto">
          <a:xfrm>
            <a:off x="-20638" y="-28575"/>
            <a:ext cx="12233276" cy="696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811307" y="2006734"/>
            <a:ext cx="8572560" cy="214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en-US" sz="5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sz="5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沟通机制</a:t>
            </a:r>
            <a:endParaRPr lang="zh-CN" altLang="en-US" sz="5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1"/>
          <p:cNvSpPr txBox="1"/>
          <p:nvPr/>
        </p:nvSpPr>
        <p:spPr>
          <a:xfrm>
            <a:off x="335447" y="152331"/>
            <a:ext cx="8858484" cy="584800"/>
          </a:xfrm>
          <a:prstGeom prst="rect">
            <a:avLst/>
          </a:prstGeom>
          <a:noFill/>
        </p:spPr>
        <p:txBody>
          <a:bodyPr wrap="square" lIns="121944" tIns="60972" rIns="121944" bIns="60972" rtlCol="0">
            <a:spAutoFit/>
          </a:bodyPr>
          <a:lstStyle/>
          <a:p>
            <a:r>
              <a:rPr lang="zh-CN" altLang="en-US" sz="3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项目沟通机制</a:t>
            </a:r>
            <a:endParaRPr lang="zh-CN" altLang="en-US" sz="3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32"/>
          <p:cNvSpPr>
            <a:spLocks noChangeArrowheads="1"/>
          </p:cNvSpPr>
          <p:nvPr/>
        </p:nvSpPr>
        <p:spPr bwMode="auto">
          <a:xfrm>
            <a:off x="552971" y="1053530"/>
            <a:ext cx="3456384" cy="302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7005" indent="-167005"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周会</a:t>
            </a:r>
            <a:endParaRPr lang="en-US" altLang="zh-CN" sz="1600" b="1" dirty="0"/>
          </a:p>
          <a:p>
            <a:pPr lvl="1">
              <a:spcBef>
                <a:spcPct val="50000"/>
              </a:spcBef>
            </a:pPr>
            <a:r>
              <a:rPr lang="zh-CN" altLang="en-US" sz="1600" kern="0" dirty="0">
                <a:latin typeface="+mn-lt"/>
              </a:rPr>
              <a:t>每周三上午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周会内容主要包括：</a:t>
            </a:r>
            <a:endParaRPr lang="en-US" altLang="zh-CN" sz="1600" kern="0" dirty="0">
              <a:latin typeface="+mn-lt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通报进度，下周计划</a:t>
            </a:r>
            <a:endParaRPr lang="zh-CN" altLang="en-US" sz="1600" kern="0" dirty="0">
              <a:latin typeface="+mn-lt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讨论问题 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风险以及变更</a:t>
            </a:r>
            <a:endParaRPr lang="zh-CN" altLang="en-US" sz="1600" kern="0" dirty="0">
              <a:latin typeface="+mn-lt"/>
            </a:endParaRPr>
          </a:p>
          <a:p>
            <a:pPr marL="167005" indent="-167005"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周报 </a:t>
            </a:r>
            <a:endParaRPr lang="zh-CN" altLang="en-US" sz="1600" b="1" dirty="0"/>
          </a:p>
          <a:p>
            <a:pPr lvl="1">
              <a:spcBef>
                <a:spcPct val="50000"/>
              </a:spcBef>
            </a:pPr>
            <a:r>
              <a:rPr lang="zh-CN" altLang="en-US" sz="1600" kern="0" dirty="0">
                <a:latin typeface="+mn-lt"/>
              </a:rPr>
              <a:t>每周三提交周报，周报内容包括：</a:t>
            </a:r>
            <a:endParaRPr lang="zh-CN" altLang="en-US" sz="1600" kern="0" dirty="0">
              <a:latin typeface="+mn-lt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本周进度</a:t>
            </a:r>
            <a:r>
              <a:rPr lang="en-US" altLang="zh-CN" sz="1600" kern="0" dirty="0">
                <a:latin typeface="+mn-lt"/>
              </a:rPr>
              <a:t>,</a:t>
            </a:r>
            <a:r>
              <a:rPr lang="zh-CN" altLang="en-US" sz="1600" kern="0" dirty="0">
                <a:latin typeface="+mn-lt"/>
              </a:rPr>
              <a:t>下周计划</a:t>
            </a:r>
            <a:endParaRPr lang="zh-CN" altLang="en-US" sz="1600" kern="0" dirty="0">
              <a:latin typeface="+mn-lt"/>
            </a:endParaRPr>
          </a:p>
          <a:p>
            <a:pPr marL="742950" lvl="1" indent="-285750">
              <a:spcBef>
                <a:spcPct val="50000"/>
              </a:spcBef>
              <a:buFontTx/>
              <a:buChar char="–"/>
            </a:pPr>
            <a:r>
              <a:rPr lang="zh-CN" altLang="en-US" sz="1600" kern="0" dirty="0">
                <a:latin typeface="+mn-lt"/>
              </a:rPr>
              <a:t>主要问题、风险和变更</a:t>
            </a:r>
            <a:endParaRPr lang="en-US" altLang="zh-CN" sz="1600" kern="0" dirty="0">
              <a:latin typeface="+mn-lt"/>
            </a:endParaRPr>
          </a:p>
          <a:p>
            <a:pPr>
              <a:spcBef>
                <a:spcPct val="50000"/>
              </a:spcBef>
            </a:pPr>
            <a:endParaRPr lang="en-US" altLang="zh-CN" sz="1600" kern="0" dirty="0">
              <a:latin typeface="+mn-lt"/>
            </a:endParaRPr>
          </a:p>
        </p:txBody>
      </p: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4369397" y="2169753"/>
            <a:ext cx="7632848" cy="1980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20" rIns="4572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67005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项目汇报会</a:t>
            </a:r>
            <a:endParaRPr lang="en-US" altLang="zh-CN" sz="1600" b="1" dirty="0"/>
          </a:p>
          <a:p>
            <a:pPr marL="624205" lvl="1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kern="0" dirty="0">
                <a:latin typeface="+mn-lt"/>
              </a:rPr>
              <a:t>在完成需要分析、设计、上线准备时召开项目汇报向</a:t>
            </a:r>
            <a:r>
              <a:rPr lang="zh-CN" altLang="en-US" sz="1600" kern="0" dirty="0"/>
              <a:t>老师</a:t>
            </a:r>
            <a:r>
              <a:rPr lang="zh-CN" altLang="en-US" sz="1600" kern="0" dirty="0">
                <a:latin typeface="+mn-lt"/>
              </a:rPr>
              <a:t>汇报项目情况</a:t>
            </a:r>
            <a:endParaRPr lang="en-US" altLang="zh-CN" sz="1600" kern="0" dirty="0">
              <a:latin typeface="+mn-lt"/>
            </a:endParaRPr>
          </a:p>
          <a:p>
            <a:pPr marL="167005" indent="-167005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1600" b="1" dirty="0"/>
              <a:t>项目沟通会</a:t>
            </a:r>
            <a:endParaRPr lang="en-US" altLang="zh-CN" sz="1600" b="1" dirty="0"/>
          </a:p>
          <a:p>
            <a:pPr lvl="1">
              <a:lnSpc>
                <a:spcPct val="150000"/>
              </a:lnSpc>
              <a:spcBef>
                <a:spcPct val="50000"/>
              </a:spcBef>
            </a:pPr>
            <a:r>
              <a:rPr lang="zh-CN" altLang="en-US" sz="1600" kern="0" dirty="0"/>
              <a:t>遇有变更或重大分歧，则根据情况召开沟通会，参与人员根据讨论内容决定</a:t>
            </a:r>
            <a:endParaRPr lang="en-US" altLang="zh-CN" sz="1600" kern="0" dirty="0"/>
          </a:p>
        </p:txBody>
      </p:sp>
      <p:sp>
        <p:nvSpPr>
          <p:cNvPr id="42" name="TextBox 1"/>
          <p:cNvSpPr txBox="1"/>
          <p:nvPr/>
        </p:nvSpPr>
        <p:spPr>
          <a:xfrm>
            <a:off x="4369397" y="1053530"/>
            <a:ext cx="69127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sz="1600" b="1" dirty="0"/>
              <a:t>业务沟通</a:t>
            </a:r>
            <a:endParaRPr lang="en-US" altLang="zh-CN" sz="1600" b="1" dirty="0"/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600" kern="0" dirty="0"/>
              <a:t>安排两到三次管理业务沟通会</a:t>
            </a:r>
            <a:endParaRPr lang="en-US" altLang="zh-CN" sz="1600" kern="0" dirty="0"/>
          </a:p>
          <a:p>
            <a:pPr marL="742950" lvl="1" indent="-285750">
              <a:spcBef>
                <a:spcPct val="50000"/>
              </a:spcBef>
              <a:buFont typeface="Wingdings" panose="05000000000000000000" pitchFamily="2" charset="2"/>
              <a:buChar char="ü"/>
            </a:pPr>
            <a:r>
              <a:rPr lang="zh-CN" altLang="en-US" sz="1600" kern="0" dirty="0"/>
              <a:t>计划一系列的用户宣传活动，逐步宣传介绍系统</a:t>
            </a:r>
            <a:endParaRPr lang="en-US" altLang="zh-CN" sz="1600" kern="0" dirty="0"/>
          </a:p>
          <a:p>
            <a:endParaRPr lang="zh-CN" altLang="en-US" dirty="0"/>
          </a:p>
        </p:txBody>
      </p:sp>
      <p:sp>
        <p:nvSpPr>
          <p:cNvPr id="43" name="AutoShape 3"/>
          <p:cNvSpPr/>
          <p:nvPr/>
        </p:nvSpPr>
        <p:spPr>
          <a:xfrm>
            <a:off x="547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5"/>
          <p:cNvSpPr/>
          <p:nvPr/>
        </p:nvSpPr>
        <p:spPr>
          <a:xfrm>
            <a:off x="-23093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组内代码同步</a:t>
            </a:r>
            <a:endParaRPr lang="en-US" sz="1100" dirty="0"/>
          </a:p>
        </p:txBody>
      </p:sp>
      <p:sp>
        <p:nvSpPr>
          <p:cNvPr id="46" name="AutoShape 6"/>
          <p:cNvSpPr/>
          <p:nvPr/>
        </p:nvSpPr>
        <p:spPr>
          <a:xfrm>
            <a:off x="737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主干合并前进行Code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0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Review，确保独立开发的可视化组件能顺利整合</a:t>
            </a:r>
            <a:r>
              <a:rPr lang="en-US" sz="18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47" name="AutoShape 7"/>
          <p:cNvSpPr/>
          <p:nvPr/>
        </p:nvSpPr>
        <p:spPr>
          <a:xfrm>
            <a:off x="4230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AutoShape 9"/>
          <p:cNvSpPr/>
          <p:nvPr/>
        </p:nvSpPr>
        <p:spPr>
          <a:xfrm>
            <a:off x="3659907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跨组接口联调</a:t>
            </a:r>
            <a:endParaRPr lang="en-US" sz="1100"/>
          </a:p>
        </p:txBody>
      </p:sp>
      <p:sp>
        <p:nvSpPr>
          <p:cNvPr id="50" name="AutoShape 10"/>
          <p:cNvSpPr/>
          <p:nvPr/>
        </p:nvSpPr>
        <p:spPr>
          <a:xfrm>
            <a:off x="4420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A-5 后端模块建立标准 API 对接文档，遇数据结构或跨域问题即刻沟通。</a:t>
            </a:r>
            <a:endParaRPr lang="en-US" sz="1100"/>
          </a:p>
        </p:txBody>
      </p:sp>
      <p:sp>
        <p:nvSpPr>
          <p:cNvPr id="51" name="AutoShape 11"/>
          <p:cNvSpPr/>
          <p:nvPr/>
        </p:nvSpPr>
        <p:spPr>
          <a:xfrm>
            <a:off x="7913334" y="4437906"/>
            <a:ext cx="3302000" cy="1888352"/>
          </a:xfrm>
          <a:prstGeom prst="roundRect">
            <a:avLst>
              <a:gd name="adj" fmla="val 3846"/>
            </a:avLst>
          </a:prstGeom>
          <a:solidFill>
            <a:srgbClr val="8B0000">
              <a:alpha val="5000"/>
            </a:srgbClr>
          </a:solidFill>
          <a:ln cap="flat" cmpd="sng">
            <a:solidFill>
              <a:srgbClr val="720000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AutoShape 13"/>
          <p:cNvSpPr/>
          <p:nvPr/>
        </p:nvSpPr>
        <p:spPr>
          <a:xfrm>
            <a:off x="7249715" y="4581922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8B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UI需求冻结</a:t>
            </a:r>
            <a:endParaRPr lang="en-US" sz="1100" dirty="0"/>
          </a:p>
        </p:txBody>
      </p:sp>
      <p:sp>
        <p:nvSpPr>
          <p:cNvPr id="54" name="AutoShape 14"/>
          <p:cNvSpPr/>
          <p:nvPr/>
        </p:nvSpPr>
        <p:spPr>
          <a:xfrm>
            <a:off x="8103834" y="4802257"/>
            <a:ext cx="2921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界面排版需在前期固化，进入 W9 联调期后冻结大型样式变更，确保交付进度。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6005255" y="3269982"/>
            <a:ext cx="184666" cy="3180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aseline="30000"/>
              <a:t> </a:t>
            </a:r>
            <a:endParaRPr lang="zh-CN" altLang="en-US" dirty="0"/>
          </a:p>
        </p:txBody>
      </p:sp>
      <p:pic>
        <p:nvPicPr>
          <p:cNvPr id="3" name="图片 2" descr="未命名 2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83097"/>
            <a:ext cx="12218268" cy="542513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</p:tagLst>
</file>

<file path=ppt/tags/tag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  <p:tag name="KSO_WM_BEAUTIFY_FLAG" val=""/>
</p:tagLst>
</file>

<file path=ppt/tags/tag4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2"/>
  <p:tag name="KSO_WM_BEAUTIFY_FLAG" val=""/>
</p:tagLst>
</file>

<file path=ppt/tags/tag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  <p:tag name="KSO_WM_BEAUTIFY_FLAG" val=""/>
</p:tagLst>
</file>

<file path=ppt/tags/tag6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3"/>
  <p:tag name="KSO_WM_BEAUTIFY_FLAG" val=""/>
</p:tagLst>
</file>

<file path=ppt/tags/tag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  <p:tag name="KSO_WM_BEAUTIFY_FLAG" val="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4"/>
  <p:tag name="KSO_WM_BEAUTIFY_FLAG" val=""/>
</p:tagLst>
</file>

<file path=ppt/tags/tag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BEAUTIFY_FLAG" val=""/>
</p:tagLst>
</file>

<file path=ppt/tags/tag10.xml><?xml version="1.0" encoding="utf-8"?>
<p:tagLst xmlns:p="http://schemas.openxmlformats.org/presentationml/2006/main">
  <p:tag name="MH" val="20160830110146"/>
  <p:tag name="MH_LIBRARY" val="CONTENTS"/>
  <p:tag name="MH_TYPE" val="NUMBER"/>
  <p:tag name="ID" val="553512"/>
  <p:tag name="MH_ORDER" val="1"/>
  <p:tag name="KSO_WM_BEAUTIFY_FLAG" val=""/>
</p:tagLst>
</file>

<file path=ppt/tags/tag11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solidFill>
            <a:srgbClr val="00B0F0"/>
          </a:solidFill>
          <a:prstDash val="lgDash"/>
          <a:miter lim="800000"/>
        </a:ln>
      </a:spPr>
      <a:bodyPr wrap="square">
        <a:spAutoFit/>
      </a:bodyPr>
      <a:lstStyle>
        <a:defPPr eaLnBrk="1" hangingPunct="1">
          <a:defRPr sz="2800" b="1" dirty="0">
            <a:solidFill>
              <a:srgbClr val="00B0F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1830</Words>
  <Application>WPS 演示</Application>
  <PresentationFormat>自定义</PresentationFormat>
  <Paragraphs>212</Paragraphs>
  <Slides>16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微软雅黑</vt:lpstr>
      <vt:lpstr>义启萌妹体</vt:lpstr>
      <vt:lpstr>Times New Roman</vt:lpstr>
      <vt:lpstr>Noto Sans SC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迅联数字化生态解决模式</dc:title>
  <dc:creator>sunyiwen</dc:creator>
  <cp:lastModifiedBy>cd</cp:lastModifiedBy>
  <cp:revision>1637</cp:revision>
  <dcterms:created xsi:type="dcterms:W3CDTF">2014-10-10T10:55:00Z</dcterms:created>
  <dcterms:modified xsi:type="dcterms:W3CDTF">2026-03-17T12:13:55Z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2052-12.1.0.23539</vt:lpwstr>
  </property>
  <property fmtid="{D5CDD505-2E9C-101B-9397-08002B2CF9AE}" pid="3" name="ICV">
    <vt:lpwstr>C478AD65A60C419FBB15807F30E903CE_13</vt:lpwstr>
  </property>
</Properties>
</file>