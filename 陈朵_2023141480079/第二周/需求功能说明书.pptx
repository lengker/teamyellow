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5"/>
  </p:handoutMasterIdLst>
  <p:sldIdLst>
    <p:sldId id="706" r:id="rId3"/>
    <p:sldId id="802" r:id="rId4"/>
    <p:sldId id="814" r:id="rId5"/>
    <p:sldId id="811" r:id="rId6"/>
    <p:sldId id="799" r:id="rId7"/>
    <p:sldId id="815" r:id="rId8"/>
    <p:sldId id="812" r:id="rId9"/>
    <p:sldId id="798" r:id="rId10"/>
    <p:sldId id="816" r:id="rId12"/>
    <p:sldId id="805" r:id="rId13"/>
    <p:sldId id="761" r:id="rId14"/>
  </p:sldIdLst>
  <p:sldSz cx="12195175" cy="6859270"/>
  <p:notesSz cx="6858000" cy="9144000"/>
  <p:defaultTextStyle>
    <a:defPPr>
      <a:defRPr lang="zh-CN"/>
    </a:defPPr>
    <a:lvl1pPr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55625" indent="-98425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13155" indent="-198755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670050" indent="-298450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27580" indent="-398780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96" userDrawn="1">
          <p15:clr>
            <a:srgbClr val="A4A3A4"/>
          </p15:clr>
        </p15:guide>
        <p15:guide id="2" pos="3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00"/>
    <a:srgbClr val="E54E4B"/>
    <a:srgbClr val="FF8490"/>
    <a:srgbClr val="B08D8D"/>
    <a:srgbClr val="AE1600"/>
    <a:srgbClr val="F21D00"/>
    <a:srgbClr val="FF0D0D"/>
    <a:srgbClr val="FF2929"/>
    <a:srgbClr val="FF2305"/>
    <a:srgbClr val="DE1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1" autoAdjust="0"/>
    <p:restoredTop sz="86701" autoAdjust="0"/>
  </p:normalViewPr>
  <p:slideViewPr>
    <p:cSldViewPr showGuides="1">
      <p:cViewPr varScale="1">
        <p:scale>
          <a:sx n="51" d="100"/>
          <a:sy n="51" d="100"/>
        </p:scale>
        <p:origin x="68" y="668"/>
      </p:cViewPr>
      <p:guideLst>
        <p:guide orient="horz" pos="3796"/>
        <p:guide pos="3804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4" d="100"/>
          <a:sy n="94" d="100"/>
        </p:scale>
        <p:origin x="3568" y="184"/>
      </p:cViewPr>
      <p:guideLst>
        <p:guide orient="horz" pos="2910"/>
        <p:guide pos="21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92240-AAD8-8A40-B472-4B2BB0E3C86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3428E-1752-044E-8E84-1206952236C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A96FE60-AC88-4099-828E-6EAB92C99598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174F2B2-5209-471A-A08A-9815279348B7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641" y="2130922"/>
            <a:ext cx="10365898" cy="147036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击此处编辑母版标题样式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 l="24357" t="22404" r="9236" b="26901"/>
          <a:stretch>
            <a:fillRect/>
          </a:stretch>
        </p:blipFill>
        <p:spPr bwMode="auto">
          <a:xfrm>
            <a:off x="-22989" y="-674662"/>
            <a:ext cx="12241256" cy="55446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370" y="5662042"/>
            <a:ext cx="12159806" cy="108012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948" y="802071"/>
            <a:ext cx="7056784" cy="611034"/>
          </a:xfrm>
        </p:spPr>
        <p:txBody>
          <a:bodyPr>
            <a:noAutofit/>
          </a:bodyPr>
          <a:lstStyle>
            <a:lvl1pPr algn="l">
              <a:defRPr sz="3600" b="1" u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6949" y="1557586"/>
            <a:ext cx="11593286" cy="471447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71320" marR="0" indent="0" algn="l" defTabSz="11125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en-US" altLang="zh-CN" dirty="0"/>
              <a:t>From KPI to ROI </a:t>
            </a:r>
            <a:endParaRPr lang="en-US" altLang="zh-CN" dirty="0"/>
          </a:p>
          <a:p>
            <a:pPr lvl="3"/>
            <a:endParaRPr lang="zh-CN" altLang="en-US" dirty="0"/>
          </a:p>
        </p:txBody>
      </p:sp>
      <p:pic>
        <p:nvPicPr>
          <p:cNvPr id="38913" name="Picture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0"/>
            <a:ext cx="12218268" cy="798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 userDrawn="1"/>
        </p:nvSpPr>
        <p:spPr bwMode="auto">
          <a:xfrm>
            <a:off x="2065139" y="119167"/>
            <a:ext cx="7560840" cy="646331"/>
          </a:xfrm>
          <a:prstGeom prst="rect">
            <a:avLst/>
          </a:prstGeom>
          <a:noFill/>
          <a:ln w="9525">
            <a:noFill/>
            <a:prstDash val="lgDash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sz="36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336948" y="802071"/>
            <a:ext cx="7056784" cy="611034"/>
          </a:xfrm>
        </p:spPr>
        <p:txBody>
          <a:bodyPr>
            <a:noAutofit/>
          </a:bodyPr>
          <a:lstStyle>
            <a:lvl1pPr algn="l">
              <a:defRPr sz="3600" b="1" u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336949" y="1557586"/>
            <a:ext cx="11593286" cy="471447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71320" marR="0" indent="0" algn="l" defTabSz="11125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en-US" altLang="zh-CN" dirty="0"/>
              <a:t>From KPI to ROI </a:t>
            </a:r>
            <a:endParaRPr lang="en-US" altLang="zh-CN" dirty="0"/>
          </a:p>
          <a:p>
            <a:pPr lvl="3"/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6"/>
          <p:cNvSpPr txBox="1">
            <a:spLocks noChangeArrowheads="1"/>
          </p:cNvSpPr>
          <p:nvPr userDrawn="1"/>
        </p:nvSpPr>
        <p:spPr bwMode="auto">
          <a:xfrm>
            <a:off x="10650538" y="6540500"/>
            <a:ext cx="1558925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600">
                <a:solidFill>
                  <a:schemeClr val="bg1"/>
                </a:solidFill>
              </a:rPr>
              <a:t>From KPI To ROI </a:t>
            </a:r>
            <a:endParaRPr lang="en-US" altLang="zh-CN" sz="1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02B5DB-DC4A-471D-8BB5-DE1AA9BABD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F5791-85C4-45CA-BC8F-4EAC80EB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02B5DB-DC4A-471D-8BB5-DE1AA9BABD40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F5791-85C4-45CA-BC8F-4EAC80EBF0A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4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5975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111420" tIns="55710" rIns="111420" bIns="5571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5975" cy="4527550"/>
          </a:xfrm>
          <a:prstGeom prst="rect">
            <a:avLst/>
          </a:prstGeom>
          <a:noFill/>
          <a:ln>
            <a:noFill/>
          </a:ln>
        </p:spPr>
        <p:txBody>
          <a:bodyPr vert="horz" wrap="square" lIns="111420" tIns="55710" rIns="111420" bIns="5571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7938"/>
            <a:ext cx="2846388" cy="365125"/>
          </a:xfrm>
          <a:prstGeom prst="rect">
            <a:avLst/>
          </a:prstGeom>
        </p:spPr>
        <p:txBody>
          <a:bodyPr vert="horz" lIns="111420" tIns="55710" rIns="111420" bIns="55710" rtlCol="0" anchor="ctr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302B5DB-DC4A-471D-8BB5-DE1AA9BABD40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7188" y="6357938"/>
            <a:ext cx="3860800" cy="365125"/>
          </a:xfrm>
          <a:prstGeom prst="rect">
            <a:avLst/>
          </a:prstGeom>
        </p:spPr>
        <p:txBody>
          <a:bodyPr vert="horz" lIns="111420" tIns="55710" rIns="111420" bIns="55710" rtlCol="0" anchor="ctr"/>
          <a:lstStyle>
            <a:lvl1pPr algn="ctr" defTabSz="111379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9188" y="6357938"/>
            <a:ext cx="2846387" cy="365125"/>
          </a:xfrm>
          <a:prstGeom prst="rect">
            <a:avLst/>
          </a:prstGeom>
        </p:spPr>
        <p:txBody>
          <a:bodyPr vert="horz" wrap="square" lIns="111420" tIns="55710" rIns="111420" bIns="55710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70F5791-85C4-45CA-BC8F-4EAC80EBF0A6}" type="slidenum">
              <a:rPr lang="zh-CN" altLang="en-US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0654" y="5749374"/>
            <a:ext cx="841004" cy="11102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slow">
    <p:push dir="u"/>
  </p:transition>
  <p:txStyles>
    <p:titleStyle>
      <a:lvl1pPr algn="ctr" defTabSz="1112520" rtl="0" eaLnBrk="0" fontAlgn="base" hangingPunct="0">
        <a:spcBef>
          <a:spcPct val="0"/>
        </a:spcBef>
        <a:spcAft>
          <a:spcPct val="0"/>
        </a:spcAft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17830" indent="-4178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04875" indent="-34798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92555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49450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506980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6387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2140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78300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3519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442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7132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821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574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4264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953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706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16967" y="1557586"/>
            <a:ext cx="11161240" cy="14287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V-ATC</a:t>
            </a:r>
            <a:r>
              <a:rPr lang="zh-CN" alt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项目（</a:t>
            </a:r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A-4)</a:t>
            </a:r>
            <a:endParaRPr lang="en-US" altLang="zh-CN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590312" y="5662042"/>
            <a:ext cx="2569196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66" y="5662042"/>
            <a:ext cx="907159" cy="119754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 bwMode="auto">
          <a:xfrm>
            <a:off x="1921510" y="3410585"/>
            <a:ext cx="8905875" cy="52197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ATC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地空通话语音标注系统需求规格说明书汇报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>
            <a:off x="1525079" y="5477956"/>
            <a:ext cx="9145016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汇报团队：第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冷亚航、陈朵、刘泽萍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1525079" y="5923652"/>
            <a:ext cx="9145016" cy="39878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 eaLnBrk="1" hangingPunct="1"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109" y="161152"/>
            <a:ext cx="60025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5"/>
          <p:cNvSpPr txBox="1"/>
          <p:nvPr>
            <p:custDataLst>
              <p:tags r:id="rId1"/>
            </p:custDataLst>
          </p:nvPr>
        </p:nvSpPr>
        <p:spPr>
          <a:xfrm rot="16200000">
            <a:off x="914740" y="3282003"/>
            <a:ext cx="4176726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义启萌妹体" panose="02010601030101010101" charset="-122"/>
                <a:ea typeface="义启萌妹体" panose="02010601030101010101" charset="-122"/>
                <a:cs typeface="+mn-cs"/>
              </a:rPr>
              <a:t>CONTENT</a:t>
            </a:r>
            <a:endParaRPr kumimoji="0" lang="en-US" altLang="zh-CN" sz="60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义启萌妹体" panose="02010601030101010101" charset="-122"/>
              <a:ea typeface="义启萌妹体" panose="02010601030101010101" charset="-122"/>
              <a:cs typeface="+mn-cs"/>
            </a:endParaRPr>
          </a:p>
        </p:txBody>
      </p:sp>
      <p:sp>
        <p:nvSpPr>
          <p:cNvPr id="4" name="MH_Number_1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4873297" y="2061599"/>
            <a:ext cx="503919" cy="503919"/>
          </a:xfrm>
          <a:prstGeom prst="ellipse">
            <a:avLst/>
          </a:prstGeom>
          <a:solidFill>
            <a:srgbClr val="FF2305"/>
          </a:solidFill>
          <a:ln w="57150">
            <a:solidFill>
              <a:srgbClr val="E54E4B"/>
            </a:solidFill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3"/>
            </p:custDataLst>
          </p:nvPr>
        </p:nvSpPr>
        <p:spPr>
          <a:xfrm>
            <a:off x="5666410" y="1845368"/>
            <a:ext cx="4168861" cy="80010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项目介绍</a:t>
            </a:r>
            <a:endParaRPr lang="zh-CN" altLang="en-US" sz="40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MH_Number_2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4872799" y="3357585"/>
            <a:ext cx="504056" cy="504152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" name="MH_Entry_2"/>
          <p:cNvSpPr/>
          <p:nvPr>
            <p:custDataLst>
              <p:tags r:id="rId5"/>
            </p:custDataLst>
          </p:nvPr>
        </p:nvSpPr>
        <p:spPr>
          <a:xfrm>
            <a:off x="5665775" y="3141703"/>
            <a:ext cx="2806564" cy="80010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整体需求</a:t>
            </a:r>
            <a:endParaRPr lang="zh-CN" altLang="en-US" sz="40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MH_Number_3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4945189" y="4726194"/>
            <a:ext cx="504056" cy="504152"/>
          </a:xfrm>
          <a:prstGeom prst="ellipse">
            <a:avLst/>
          </a:prstGeom>
          <a:solidFill>
            <a:srgbClr val="FF2305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9" name="MH_Entry_3"/>
          <p:cNvSpPr/>
          <p:nvPr>
            <p:custDataLst>
              <p:tags r:id="rId7"/>
            </p:custDataLst>
          </p:nvPr>
        </p:nvSpPr>
        <p:spPr>
          <a:xfrm>
            <a:off x="5604502" y="4542025"/>
            <a:ext cx="2928071" cy="80010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功能需求</a:t>
            </a:r>
            <a:endParaRPr lang="zh-CN" altLang="en-US" sz="40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01043" y="2274769"/>
            <a:ext cx="1368152" cy="3030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600" dirty="0">
                <a:solidFill>
                  <a:srgbClr val="C00000"/>
                </a:solidFill>
              </a:rPr>
              <a:t>目</a:t>
            </a:r>
            <a:endParaRPr lang="zh-CN" altLang="en-US" sz="9600" dirty="0">
              <a:solidFill>
                <a:srgbClr val="C00000"/>
              </a:solidFill>
            </a:endParaRPr>
          </a:p>
          <a:p>
            <a:r>
              <a:rPr lang="zh-CN" altLang="en-US" sz="9600" dirty="0">
                <a:solidFill>
                  <a:srgbClr val="C00000"/>
                </a:solidFill>
              </a:rPr>
              <a:t>录</a:t>
            </a:r>
            <a:endParaRPr lang="zh-CN" altLang="en-US" sz="9600" dirty="0">
              <a:solidFill>
                <a:srgbClr val="C00000"/>
              </a:solidFill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721323" y="1413570"/>
            <a:ext cx="0" cy="4752528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1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lang="zh-CN" altLang="en-US" sz="5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项目介绍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/>
              <a:t>项目目标：实现一个高性能的B/S架构Web前端界面，提供静态机场底图、动态航迹、音频波形的同屏渲染，并实现毫秒级的“时空漫游”交互，最终支撑标注人员对预处理文本的高效编辑与写回。</a:t>
            </a:r>
            <a:endParaRPr lang="zh-CN" altLang="en-US" sz="3200"/>
          </a:p>
          <a:p>
            <a:pPr marL="0" indent="0">
              <a:buNone/>
            </a:pPr>
            <a:endParaRPr lang="zh-CN" altLang="en-US"/>
          </a:p>
          <a:p>
            <a:r>
              <a:rPr lang="zh-CN" altLang="en-US" sz="2800"/>
              <a:t>项目用户：语音数据标注员、数据分析师</a:t>
            </a:r>
            <a:endParaRPr lang="zh-CN" altLang="en-US" sz="280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1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整体需求</a:t>
            </a:r>
            <a:endParaRPr lang="zh-CN" altLang="en-US" sz="5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整体需求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7185" y="1557655"/>
            <a:ext cx="4145280" cy="4714240"/>
          </a:xfrm>
        </p:spPr>
        <p:txBody>
          <a:bodyPr/>
          <a:lstStyle/>
          <a:p>
            <a:r>
              <a:rPr lang="en-US" altLang="zh-CN"/>
              <a:t>A-4 UI</a:t>
            </a:r>
            <a:r>
              <a:rPr lang="zh-CN" altLang="en-US"/>
              <a:t>用户界面模块需要对接后端</a:t>
            </a:r>
            <a:r>
              <a:rPr lang="en-US" altLang="zh-CN"/>
              <a:t>API</a:t>
            </a:r>
            <a:r>
              <a:rPr lang="zh-CN" altLang="en-US"/>
              <a:t>，安全验证用户身份后，在工作台中无缝整合</a:t>
            </a:r>
            <a:r>
              <a:rPr lang="en-US" altLang="zh-CN"/>
              <a:t>VHHH</a:t>
            </a:r>
            <a:r>
              <a:rPr lang="zh-CN" altLang="en-US"/>
              <a:t>机场的静态图层、飞机动态</a:t>
            </a:r>
            <a:r>
              <a:rPr lang="en-US" altLang="zh-CN"/>
              <a:t>ADSB</a:t>
            </a:r>
            <a:r>
              <a:rPr lang="zh-CN" altLang="en-US"/>
              <a:t>航迹、</a:t>
            </a:r>
            <a:r>
              <a:rPr lang="en-US" altLang="zh-CN"/>
              <a:t>ATC</a:t>
            </a:r>
            <a:r>
              <a:rPr lang="zh-CN" altLang="en-US"/>
              <a:t>地空通话录音波形以及</a:t>
            </a:r>
            <a:r>
              <a:rPr lang="en-US" altLang="zh-CN"/>
              <a:t>ASR</a:t>
            </a:r>
            <a:r>
              <a:rPr lang="zh-CN" altLang="en-US"/>
              <a:t>预处理文本，提供标注编辑、数据导出及多模态同步的时间漫游能力。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225" y="1587415"/>
            <a:ext cx="7698590" cy="369035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1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功能需求</a:t>
            </a:r>
            <a:endParaRPr lang="zh-CN" altLang="en-US" sz="5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3565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基础系统功能模块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4"/>
          <p:cNvSpPr/>
          <p:nvPr/>
        </p:nvSpPr>
        <p:spPr>
          <a:xfrm>
            <a:off x="199390" y="1341755"/>
            <a:ext cx="12005945" cy="5196840"/>
          </a:xfrm>
          <a:prstGeom prst="rect">
            <a:avLst/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23" name="Group 11"/>
          <p:cNvGrpSpPr/>
          <p:nvPr/>
        </p:nvGrpSpPr>
        <p:grpSpPr>
          <a:xfrm>
            <a:off x="5882005" y="1485265"/>
            <a:ext cx="5628640" cy="4705985"/>
            <a:chOff x="783563" y="1249478"/>
            <a:chExt cx="1841127" cy="1562683"/>
          </a:xfrm>
        </p:grpSpPr>
        <p:sp>
          <p:nvSpPr>
            <p:cNvPr id="36" name="Rectangle 12"/>
            <p:cNvSpPr/>
            <p:nvPr/>
          </p:nvSpPr>
          <p:spPr>
            <a:xfrm>
              <a:off x="783563" y="1630479"/>
              <a:ext cx="1841126" cy="118168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28800" lvl="4"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菜单导航展示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顶部导航支持一键折展，最大化释放工作台视区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配备高辨识度图标，动态高亮当前激活路由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基于用户角色（如标注员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管理员）动态生成并展示对应菜单项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828800" lvl="4"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数据导出功能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多维靶向检索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：支持按时间跨度或特定航班号精准筛选目标数据集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多源数据聚合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：底层接口整合对齐后的语音时标（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VAD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）、修正文本（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ASR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）及动态航迹（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ADSB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标准化序列化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：支持将聚合数据一键导出为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JSON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CSV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标准格式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Rectangle 13"/>
            <p:cNvSpPr/>
            <p:nvPr/>
          </p:nvSpPr>
          <p:spPr>
            <a:xfrm>
              <a:off x="783563" y="1249478"/>
              <a:ext cx="1841127" cy="29355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后台功能调用菜单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Group 25"/>
          <p:cNvGrpSpPr/>
          <p:nvPr/>
        </p:nvGrpSpPr>
        <p:grpSpPr>
          <a:xfrm>
            <a:off x="408940" y="1485900"/>
            <a:ext cx="4949825" cy="4630420"/>
            <a:chOff x="795687" y="1197028"/>
            <a:chExt cx="1926564" cy="1555707"/>
          </a:xfrm>
        </p:grpSpPr>
        <p:sp>
          <p:nvSpPr>
            <p:cNvPr id="32" name="Rectangle 26"/>
            <p:cNvSpPr/>
            <p:nvPr/>
          </p:nvSpPr>
          <p:spPr>
            <a:xfrm>
              <a:off x="795687" y="1571052"/>
              <a:ext cx="1926564" cy="118168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界面布局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：独立页面，包含 Log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、系统名称、账号输入（带清除键）、密码输入（明暗文切换）及登录按钮。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前端校验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：提交前执行非空、超长等防呆校验，拦截无效请求。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状态反馈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：点击后按钮变更为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Loading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状态防重提；失败时全局轻提示具体原因（如密码错误、网络超时）。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鉴权与跳转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：密码加密传输；验证成功后本地安全存储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JWT Token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，开启路由守卫，平滑重定向至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A-4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标注工作台。</a:t>
              </a:r>
              <a:endPara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Rectangle 27"/>
            <p:cNvSpPr/>
            <p:nvPr/>
          </p:nvSpPr>
          <p:spPr>
            <a:xfrm>
              <a:off x="805616" y="1197028"/>
              <a:ext cx="1916635" cy="29738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用户登录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3565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地图航迹展示模块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4"/>
          <p:cNvSpPr/>
          <p:nvPr/>
        </p:nvSpPr>
        <p:spPr>
          <a:xfrm>
            <a:off x="-22860" y="909320"/>
            <a:ext cx="12123420" cy="5633720"/>
          </a:xfrm>
          <a:prstGeom prst="rect">
            <a:avLst/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24" name="Group 14"/>
          <p:cNvGrpSpPr/>
          <p:nvPr>
            <p:custDataLst>
              <p:tags r:id="rId1"/>
            </p:custDataLst>
          </p:nvPr>
        </p:nvGrpSpPr>
        <p:grpSpPr>
          <a:xfrm>
            <a:off x="121285" y="1053465"/>
            <a:ext cx="3672205" cy="5077460"/>
            <a:chOff x="-1143000" y="4385890"/>
            <a:chExt cx="1778001" cy="1651303"/>
          </a:xfrm>
        </p:grpSpPr>
        <p:sp>
          <p:nvSpPr>
            <p:cNvPr id="34" name="Rectangle 15"/>
            <p:cNvSpPr/>
            <p:nvPr>
              <p:custDataLst>
                <p:tags r:id="rId2"/>
              </p:custDataLst>
            </p:nvPr>
          </p:nvSpPr>
          <p:spPr>
            <a:xfrm>
              <a:off x="-1143000" y="4598808"/>
              <a:ext cx="1778001" cy="143838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lvl="1"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VHHH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跑道与滑行道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高精度底图解析：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精准渲染</a:t>
              </a: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VHHH 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机场跑道、滑行网络、停机坪及核心物理航路点</a:t>
              </a: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视距自适应渲染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：依据地图缩放级平滑呈现细节 。宏观视图聚焦主干轮廓，逐级放大则动态展示滑行道与停机位编号，有效规避信息过载与标签拥挤 。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16"/>
            <p:cNvSpPr/>
            <p:nvPr>
              <p:custDataLst>
                <p:tags r:id="rId3"/>
              </p:custDataLst>
            </p:nvPr>
          </p:nvSpPr>
          <p:spPr>
            <a:xfrm>
              <a:off x="-1143000" y="4385890"/>
              <a:ext cx="1778001" cy="21539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静态信息显示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Group 14"/>
          <p:cNvGrpSpPr/>
          <p:nvPr>
            <p:custDataLst>
              <p:tags r:id="rId4"/>
            </p:custDataLst>
          </p:nvPr>
        </p:nvGrpSpPr>
        <p:grpSpPr>
          <a:xfrm>
            <a:off x="4009390" y="1053465"/>
            <a:ext cx="3695065" cy="5068570"/>
            <a:chOff x="-1143000" y="4385890"/>
            <a:chExt cx="1778001" cy="1577577"/>
          </a:xfrm>
        </p:grpSpPr>
        <p:sp>
          <p:nvSpPr>
            <p:cNvPr id="5" name="Rectangle 15"/>
            <p:cNvSpPr/>
            <p:nvPr>
              <p:custDataLst>
                <p:tags r:id="rId5"/>
              </p:custDataLst>
            </p:nvPr>
          </p:nvSpPr>
          <p:spPr>
            <a:xfrm>
              <a:off x="-1143000" y="4598808"/>
              <a:ext cx="1778001" cy="136465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lvl="1" indent="45720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航班位置与轨迹</a:t>
              </a:r>
              <a:endPara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依据 ADSB 数据实时更新飞机坐标，并精准同步机头偏转角度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绘制带有“渐变淡出”效果的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飞行尾迹线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，直观呈现航班运动趋势 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支持悬停/点击触发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，轻量弹窗实时展示航班号、高度、速度等核心字段 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采用 Canvas/WebGL 技术进行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批量渲染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，确保 VHHH 高密度空域下百架飞机同屏丝滑不卡顿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Rectangle 16"/>
            <p:cNvSpPr/>
            <p:nvPr>
              <p:custDataLst>
                <p:tags r:id="rId6"/>
              </p:custDataLst>
            </p:nvPr>
          </p:nvSpPr>
          <p:spPr>
            <a:xfrm>
              <a:off x="-1143000" y="4385890"/>
              <a:ext cx="1778001" cy="21539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动态航迹显示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Group 14"/>
          <p:cNvGrpSpPr/>
          <p:nvPr>
            <p:custDataLst>
              <p:tags r:id="rId7"/>
            </p:custDataLst>
          </p:nvPr>
        </p:nvGrpSpPr>
        <p:grpSpPr>
          <a:xfrm>
            <a:off x="7920355" y="1083310"/>
            <a:ext cx="3683635" cy="5039360"/>
            <a:chOff x="-1143000" y="4385890"/>
            <a:chExt cx="1778001" cy="1577577"/>
          </a:xfrm>
        </p:grpSpPr>
        <p:sp>
          <p:nvSpPr>
            <p:cNvPr id="8" name="Rectangle 15"/>
            <p:cNvSpPr/>
            <p:nvPr>
              <p:custDataLst>
                <p:tags r:id="rId8"/>
              </p:custDataLst>
            </p:nvPr>
          </p:nvSpPr>
          <p:spPr>
            <a:xfrm>
              <a:off x="-1143000" y="4598808"/>
              <a:ext cx="1778001" cy="13646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常用地标与航线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：自定义图层控制。集成图层管理器，支持按需叠加</a:t>
              </a: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SID/STAR 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等标准进离场辅助航线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智能防碰撞渲染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：前端内置文本防重叠逻辑，保障密集区域航路与地标标签的清晰可读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Rectangle 16"/>
            <p:cNvSpPr/>
            <p:nvPr>
              <p:custDataLst>
                <p:tags r:id="rId9"/>
              </p:custDataLst>
            </p:nvPr>
          </p:nvSpPr>
          <p:spPr>
            <a:xfrm>
              <a:off x="-1143000" y="4385890"/>
              <a:ext cx="1778001" cy="2153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辅助信息显示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3565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音频标注与漫游模块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053465" y="1089025"/>
          <a:ext cx="10412095" cy="4937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25500"/>
                <a:gridCol w="2186305"/>
                <a:gridCol w="2108835"/>
                <a:gridCol w="2713355"/>
                <a:gridCol w="2578100"/>
              </a:tblGrid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模块名称</a:t>
                      </a:r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音频标注与漫游模块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模块简介</a:t>
                      </a:r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音频波形渲染、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预处理文本展示、人工编辑修改及核心的时空同步联动功能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26720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模块功能列表</a:t>
                      </a:r>
                      <a:endParaRPr lang="zh-CN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26720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序号</a:t>
                      </a:r>
                      <a:endParaRPr lang="zh-CN" altLang="en-US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一级功能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二级功能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</a:tr>
              <a:tr h="426720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功能名称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功能编号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功能名称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功能编号</a:t>
                      </a:r>
                      <a:endParaRPr lang="zh-CN" altLang="en-US"/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音视频流展示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RQ-A-4-40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Waveform</a:t>
                      </a:r>
                      <a:r>
                        <a:rPr lang="zh-CN" altLang="en-US"/>
                        <a:t>波形渲染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a4biz001</a:t>
                      </a:r>
                      <a:endParaRPr lang="en-US" altLang="zh-CN"/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识别文字加载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a4biz002</a:t>
                      </a:r>
                      <a:endParaRPr lang="en-US" altLang="zh-CN"/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时空漫游联动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RQ-A-4-60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按时间漫游控制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a4biz003</a:t>
                      </a:r>
                      <a:endParaRPr lang="en-US" altLang="zh-CN"/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航迹语音时间对齐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RQ-A-4-50</a:t>
                      </a:r>
                      <a:endParaRPr lang="en-US" altLang="zh-CN"/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标注编辑与保存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RQ-A-4-70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识别文本编辑保存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a4biz005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05255" y="3269982"/>
            <a:ext cx="184666" cy="3180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aseline="30000"/>
              <a:t> </a:t>
            </a:r>
            <a:endParaRPr lang="zh-CN" altLang="en-US" dirty="0"/>
          </a:p>
        </p:txBody>
      </p:sp>
      <p:pic>
        <p:nvPicPr>
          <p:cNvPr id="3" name="图片 2" descr="未命名 2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83097"/>
            <a:ext cx="12218268" cy="54251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1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3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4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2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5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2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6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3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7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8.xml><?xml version="1.0" encoding="utf-8"?>
<p:tagLst xmlns:p="http://schemas.openxmlformats.org/presentationml/2006/main">
  <p:tag name="KSO_WM_DIAGRAM_VIRTUALLY_FRAME" val="{&quot;height&quot;:400.4,&quot;left&quot;:9.55,&quot;top&quot;:82.35,&quot;width&quot;:949.15}"/>
</p:tagLst>
</file>

<file path=ppt/tags/tag9.xml><?xml version="1.0" encoding="utf-8"?>
<p:tagLst xmlns:p="http://schemas.openxmlformats.org/presentationml/2006/main">
  <p:tag name="KSO_WM_DIAGRAM_VIRTUALLY_FRAME" val="{&quot;height&quot;:400.4,&quot;left&quot;:9.55,&quot;top&quot;:82.35,&quot;width&quot;:949.15}"/>
</p:tagLst>
</file>

<file path=ppt/tags/tag10.xml><?xml version="1.0" encoding="utf-8"?>
<p:tagLst xmlns:p="http://schemas.openxmlformats.org/presentationml/2006/main">
  <p:tag name="KSO_WM_DIAGRAM_VIRTUALLY_FRAME" val="{&quot;height&quot;:400.4,&quot;left&quot;:9.55,&quot;top&quot;:82.35,&quot;width&quot;:949.15}"/>
</p:tagLst>
</file>

<file path=ppt/tags/tag11.xml><?xml version="1.0" encoding="utf-8"?>
<p:tagLst xmlns:p="http://schemas.openxmlformats.org/presentationml/2006/main">
  <p:tag name="KSO_WM_DIAGRAM_VIRTUALLY_FRAME" val="{&quot;height&quot;:400.4,&quot;left&quot;:9.55,&quot;top&quot;:82.35,&quot;width&quot;:949.15}"/>
</p:tagLst>
</file>

<file path=ppt/tags/tag12.xml><?xml version="1.0" encoding="utf-8"?>
<p:tagLst xmlns:p="http://schemas.openxmlformats.org/presentationml/2006/main">
  <p:tag name="KSO_WM_DIAGRAM_VIRTUALLY_FRAME" val="{&quot;height&quot;:400.4,&quot;left&quot;:9.55,&quot;top&quot;:82.35,&quot;width&quot;:949.15}"/>
</p:tagLst>
</file>

<file path=ppt/tags/tag13.xml><?xml version="1.0" encoding="utf-8"?>
<p:tagLst xmlns:p="http://schemas.openxmlformats.org/presentationml/2006/main">
  <p:tag name="KSO_WM_DIAGRAM_VIRTUALLY_FRAME" val="{&quot;height&quot;:400.4,&quot;left&quot;:9.55,&quot;top&quot;:82.35,&quot;width&quot;:949.15}"/>
</p:tagLst>
</file>

<file path=ppt/tags/tag14.xml><?xml version="1.0" encoding="utf-8"?>
<p:tagLst xmlns:p="http://schemas.openxmlformats.org/presentationml/2006/main">
  <p:tag name="KSO_WM_DIAGRAM_VIRTUALLY_FRAME" val="{&quot;height&quot;:400.4,&quot;left&quot;:9.55,&quot;top&quot;:82.35,&quot;width&quot;:949.15}"/>
</p:tagLst>
</file>

<file path=ppt/tags/tag15.xml><?xml version="1.0" encoding="utf-8"?>
<p:tagLst xmlns:p="http://schemas.openxmlformats.org/presentationml/2006/main">
  <p:tag name="KSO_WM_DIAGRAM_VIRTUALLY_FRAME" val="{&quot;height&quot;:400.4,&quot;left&quot;:9.55,&quot;top&quot;:82.35,&quot;width&quot;:949.15}"/>
</p:tagLst>
</file>

<file path=ppt/tags/tag16.xml><?xml version="1.0" encoding="utf-8"?>
<p:tagLst xmlns:p="http://schemas.openxmlformats.org/presentationml/2006/main">
  <p:tag name="KSO_WM_DIAGRAM_VIRTUALLY_FRAME" val="{&quot;height&quot;:400.4,&quot;left&quot;:9.55,&quot;top&quot;:82.35,&quot;width&quot;:949.15}"/>
</p:tagLst>
</file>

<file path=ppt/tags/tag17.xml><?xml version="1.0" encoding="utf-8"?>
<p:tagLst xmlns:p="http://schemas.openxmlformats.org/presentationml/2006/main">
  <p:tag name="TABLE_ENDDRAG_ORIGIN_RECT" val="819*378"/>
  <p:tag name="TABLE_ENDDRAG_RECT" val="82*96*819*378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solidFill>
            <a:srgbClr val="00B0F0"/>
          </a:solidFill>
          <a:prstDash val="lgDash"/>
          <a:miter lim="800000"/>
        </a:ln>
      </a:spPr>
      <a:bodyPr wrap="square">
        <a:spAutoFit/>
      </a:bodyPr>
      <a:lstStyle>
        <a:defPPr eaLnBrk="1" hangingPunct="1">
          <a:defRPr sz="2800" b="1" dirty="0">
            <a:solidFill>
              <a:srgbClr val="00B0F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1526</Words>
  <Application>WPS 演示</Application>
  <PresentationFormat>自定义</PresentationFormat>
  <Paragraphs>183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微软雅黑</vt:lpstr>
      <vt:lpstr>义启萌妹体</vt:lpstr>
      <vt:lpstr>Times New Roman</vt:lpstr>
      <vt:lpstr>Arial Unicode MS</vt:lpstr>
      <vt:lpstr>Office 主题</vt:lpstr>
      <vt:lpstr>PowerPoint 演示文稿</vt:lpstr>
      <vt:lpstr>PowerPoint 演示文稿</vt:lpstr>
      <vt:lpstr>PowerPoint 演示文稿</vt:lpstr>
      <vt:lpstr>项目介绍</vt:lpstr>
      <vt:lpstr>PowerPoint 演示文稿</vt:lpstr>
      <vt:lpstr>整体需求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迅联数字化生态解决模式</dc:title>
  <dc:creator>sunyiwen</dc:creator>
  <cp:lastModifiedBy>cd</cp:lastModifiedBy>
  <cp:revision>1643</cp:revision>
  <dcterms:created xsi:type="dcterms:W3CDTF">2014-10-10T10:55:00Z</dcterms:created>
  <dcterms:modified xsi:type="dcterms:W3CDTF">2026-03-24T00:55:15Z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2052-12.1.0.23539</vt:lpwstr>
  </property>
  <property fmtid="{D5CDD505-2E9C-101B-9397-08002B2CF9AE}" pid="3" name="ICV">
    <vt:lpwstr>9493BE32FF6F49B8AA6FFE18185EE4E1_13</vt:lpwstr>
  </property>
</Properties>
</file>