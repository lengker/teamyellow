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706" r:id="rId2"/>
    <p:sldId id="802" r:id="rId3"/>
    <p:sldId id="768" r:id="rId4"/>
    <p:sldId id="803" r:id="rId5"/>
    <p:sldId id="804" r:id="rId6"/>
    <p:sldId id="797" r:id="rId7"/>
    <p:sldId id="798" r:id="rId8"/>
    <p:sldId id="805" r:id="rId9"/>
    <p:sldId id="799" r:id="rId10"/>
    <p:sldId id="800" r:id="rId11"/>
    <p:sldId id="801" r:id="rId12"/>
    <p:sldId id="806" r:id="rId13"/>
    <p:sldId id="807" r:id="rId14"/>
    <p:sldId id="808" r:id="rId15"/>
    <p:sldId id="809" r:id="rId16"/>
    <p:sldId id="810" r:id="rId17"/>
    <p:sldId id="761" r:id="rId18"/>
  </p:sldIdLst>
  <p:sldSz cx="12195175" cy="6859588"/>
  <p:notesSz cx="6858000" cy="9144000"/>
  <p:defaultTextStyle>
    <a:defPPr>
      <a:defRPr lang="zh-CN"/>
    </a:defPPr>
    <a:lvl1pPr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55625" indent="-98425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113155" indent="-198755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670050" indent="-298450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227580" indent="-398780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9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00"/>
    <a:srgbClr val="E54E4B"/>
    <a:srgbClr val="FF8490"/>
    <a:srgbClr val="B08D8D"/>
    <a:srgbClr val="AE1600"/>
    <a:srgbClr val="F21D00"/>
    <a:srgbClr val="FF0D0D"/>
    <a:srgbClr val="FF2929"/>
    <a:srgbClr val="FF2305"/>
    <a:srgbClr val="DE1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91" autoAdjust="0"/>
    <p:restoredTop sz="86701" autoAdjust="0"/>
  </p:normalViewPr>
  <p:slideViewPr>
    <p:cSldViewPr>
      <p:cViewPr varScale="1">
        <p:scale>
          <a:sx n="80" d="100"/>
          <a:sy n="80" d="100"/>
        </p:scale>
        <p:origin x="1112" y="44"/>
      </p:cViewPr>
      <p:guideLst>
        <p:guide orient="horz" pos="3748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4" d="100"/>
          <a:sy n="94" d="100"/>
        </p:scale>
        <p:origin x="3568" y="184"/>
      </p:cViewPr>
      <p:guideLst>
        <p:guide orient="horz" pos="2879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F92240-AAD8-8A40-B472-4B2BB0E3C869}" type="datetimeFigureOut">
              <a:rPr kumimoji="1" lang="zh-CN" altLang="en-US" smtClean="0"/>
              <a:t>2026/3/21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3428E-1752-044E-8E84-1206952236C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5965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11379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11379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A96FE60-AC88-4099-828E-6EAB92C99598}" type="datetimeFigureOut">
              <a:rPr lang="zh-CN" altLang="en-US"/>
              <a:t>2026/3/21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11379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174F2B2-5209-471A-A08A-9815279348B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9120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804EE-5BFE-B996-AF77-8D70F4A90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863BBD-25A7-1833-A95D-3393421B2F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80B13C-F4BB-8C9E-BB8D-D7F4B7B7E60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8040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7DE07-8218-0825-0B96-F5DADA0E5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C657291-A93A-50E4-3EA0-0F8E6683AC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428A6B-77E9-8333-2FF8-5FFB123791A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9483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A9A03-5B7F-F480-6547-5184A07D4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577828-0EA9-61BC-7ED3-37602F1573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16300A-87CD-E70C-AE24-48B2433341A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5312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CADEF-5B8A-F84D-2743-BAC074E6C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CF4562-10BD-11DC-74EF-BDB51EC35D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8FE2E5-8C26-C069-AF65-657B221F2C0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5705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52894-307F-146C-6C7C-A1B564F05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C87947-70A4-6A6A-C3E9-19C8A89620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3864A5-A093-4462-0F1D-DAADC3D2D4B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04091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4AB5B-6236-C073-FED6-DA7876D5B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2C90BF-C9F9-E573-7813-9FC7B01DC4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108C46-0E3B-051B-F6AD-3DF4E8FC113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5615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14641" y="2130922"/>
            <a:ext cx="10365898" cy="147036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击此处编辑母版标题样式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/>
          <a:srcRect l="24357" t="22404" r="9236" b="26901"/>
          <a:stretch>
            <a:fillRect/>
          </a:stretch>
        </p:blipFill>
        <p:spPr bwMode="auto">
          <a:xfrm>
            <a:off x="-22989" y="-674662"/>
            <a:ext cx="12241256" cy="55446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370" y="5662042"/>
            <a:ext cx="12159806" cy="108012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6948" y="802071"/>
            <a:ext cx="7056784" cy="611034"/>
          </a:xfrm>
        </p:spPr>
        <p:txBody>
          <a:bodyPr>
            <a:noAutofit/>
          </a:bodyPr>
          <a:lstStyle>
            <a:lvl1pPr algn="l">
              <a:defRPr sz="3600" b="1" u="none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6949" y="1557586"/>
            <a:ext cx="11593286" cy="471447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71320" marR="0" indent="0" algn="l" defTabSz="11125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en-US" altLang="zh-CN" dirty="0"/>
              <a:t>From KPI to ROI </a:t>
            </a:r>
          </a:p>
          <a:p>
            <a:pPr lvl="3"/>
            <a:endParaRPr lang="zh-CN" altLang="en-US" dirty="0"/>
          </a:p>
        </p:txBody>
      </p:sp>
      <p:pic>
        <p:nvPicPr>
          <p:cNvPr id="38913" name="Picture 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" y="0"/>
            <a:ext cx="12218268" cy="798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 userDrawn="1"/>
        </p:nvSpPr>
        <p:spPr bwMode="auto">
          <a:xfrm>
            <a:off x="2065139" y="119167"/>
            <a:ext cx="7560840" cy="646331"/>
          </a:xfrm>
          <a:prstGeom prst="rect">
            <a:avLst/>
          </a:prstGeom>
          <a:noFill/>
          <a:ln w="9525">
            <a:noFill/>
            <a:prstDash val="lgDash"/>
            <a:miter lim="800000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spAutoFit/>
          </a:bodyPr>
          <a:lstStyle/>
          <a:p>
            <a:pPr algn="ctr">
              <a:defRPr/>
            </a:pPr>
            <a:endParaRPr lang="zh-CN" altLang="en-US" sz="36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标题 1"/>
          <p:cNvSpPr>
            <a:spLocks noGrp="1"/>
          </p:cNvSpPr>
          <p:nvPr>
            <p:ph type="title"/>
          </p:nvPr>
        </p:nvSpPr>
        <p:spPr>
          <a:xfrm>
            <a:off x="336948" y="802071"/>
            <a:ext cx="7056784" cy="611034"/>
          </a:xfrm>
        </p:spPr>
        <p:txBody>
          <a:bodyPr>
            <a:noAutofit/>
          </a:bodyPr>
          <a:lstStyle>
            <a:lvl1pPr algn="l">
              <a:defRPr sz="3600" b="1" u="none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336949" y="1557586"/>
            <a:ext cx="11593286" cy="471447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71320" marR="0" indent="0" algn="l" defTabSz="11125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en-US" altLang="zh-CN" dirty="0"/>
              <a:t>From KPI to ROI </a:t>
            </a:r>
          </a:p>
          <a:p>
            <a:pPr lvl="3"/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6"/>
          <p:cNvSpPr txBox="1">
            <a:spLocks noChangeArrowheads="1"/>
          </p:cNvSpPr>
          <p:nvPr userDrawn="1"/>
        </p:nvSpPr>
        <p:spPr bwMode="auto">
          <a:xfrm>
            <a:off x="10650538" y="6540500"/>
            <a:ext cx="1558925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1600">
                <a:solidFill>
                  <a:schemeClr val="bg1"/>
                </a:solidFill>
              </a:rPr>
              <a:t>From KPI To ROI </a:t>
            </a:r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02B5DB-DC4A-471D-8BB5-DE1AA9BABD40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0F5791-85C4-45CA-BC8F-4EAC80EBF0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02B5DB-DC4A-471D-8BB5-DE1AA9BABD40}" type="datetimeFigureOut">
              <a:rPr lang="zh-CN" altLang="en-US"/>
              <a:t>2026/3/21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0F5791-85C4-45CA-BC8F-4EAC80EBF0A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5975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111420" tIns="55710" rIns="111420" bIns="5571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5975" cy="4527550"/>
          </a:xfrm>
          <a:prstGeom prst="rect">
            <a:avLst/>
          </a:prstGeom>
          <a:noFill/>
          <a:ln>
            <a:noFill/>
          </a:ln>
        </p:spPr>
        <p:txBody>
          <a:bodyPr vert="horz" wrap="square" lIns="111420" tIns="55710" rIns="111420" bIns="5571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7938"/>
            <a:ext cx="2846388" cy="365125"/>
          </a:xfrm>
          <a:prstGeom prst="rect">
            <a:avLst/>
          </a:prstGeom>
        </p:spPr>
        <p:txBody>
          <a:bodyPr vert="horz" lIns="111420" tIns="55710" rIns="111420" bIns="55710" rtlCol="0" anchor="ctr"/>
          <a:lstStyle>
            <a:lvl1pPr algn="l" defTabSz="111379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302B5DB-DC4A-471D-8BB5-DE1AA9BABD40}" type="datetimeFigureOut">
              <a:rPr lang="zh-CN" altLang="en-US"/>
              <a:t>2026/3/21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7188" y="6357938"/>
            <a:ext cx="3860800" cy="365125"/>
          </a:xfrm>
          <a:prstGeom prst="rect">
            <a:avLst/>
          </a:prstGeom>
        </p:spPr>
        <p:txBody>
          <a:bodyPr vert="horz" lIns="111420" tIns="55710" rIns="111420" bIns="55710" rtlCol="0" anchor="ctr"/>
          <a:lstStyle>
            <a:lvl1pPr algn="ctr" defTabSz="111379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9188" y="6357938"/>
            <a:ext cx="2846387" cy="365125"/>
          </a:xfrm>
          <a:prstGeom prst="rect">
            <a:avLst/>
          </a:prstGeom>
        </p:spPr>
        <p:txBody>
          <a:bodyPr vert="horz" wrap="square" lIns="111420" tIns="55710" rIns="111420" bIns="55710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70F5791-85C4-45CA-BC8F-4EAC80EBF0A6}" type="slidenum">
              <a:rPr lang="zh-CN" altLang="en-US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21D5878-E349-44B7-6F08-98CF28BC033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0654" y="5749374"/>
            <a:ext cx="841004" cy="11102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slow">
    <p:push dir="u"/>
  </p:transition>
  <p:txStyles>
    <p:titleStyle>
      <a:lvl1pPr algn="ctr" defTabSz="1112520" rtl="0" eaLnBrk="0" fontAlgn="base" hangingPunct="0">
        <a:spcBef>
          <a:spcPct val="0"/>
        </a:spcBef>
        <a:spcAft>
          <a:spcPct val="0"/>
        </a:spcAft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17830" indent="-4178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04875" indent="-34798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92555" indent="-2781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49450" indent="-2781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506980" indent="-2781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63875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21405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78300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35195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689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442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71320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821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8574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42640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9953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5706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16967" y="1557586"/>
            <a:ext cx="11161240" cy="142876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V-ATC</a:t>
            </a:r>
            <a:r>
              <a:rPr lang="zh-CN" alt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项目实施方案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97A77D-2651-8EB7-81F5-0939234018E2}"/>
              </a:ext>
            </a:extLst>
          </p:cNvPr>
          <p:cNvSpPr/>
          <p:nvPr/>
        </p:nvSpPr>
        <p:spPr>
          <a:xfrm>
            <a:off x="9590312" y="5662042"/>
            <a:ext cx="2569196" cy="1152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F6D3BCD-C6F0-CFF7-0391-351C6E8B95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266" y="5662042"/>
            <a:ext cx="907159" cy="119754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1FE17F5-66DA-FA3A-7E2D-55288F0B86B7}"/>
              </a:ext>
            </a:extLst>
          </p:cNvPr>
          <p:cNvSpPr txBox="1"/>
          <p:nvPr/>
        </p:nvSpPr>
        <p:spPr bwMode="auto">
          <a:xfrm>
            <a:off x="2101143" y="3410630"/>
            <a:ext cx="7992888" cy="52322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可视化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ATC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地空通话语音标注系统前端预研与开发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E490CEF-166D-15B6-0FA9-F50B0081649D}"/>
              </a:ext>
            </a:extLst>
          </p:cNvPr>
          <p:cNvSpPr txBox="1"/>
          <p:nvPr/>
        </p:nvSpPr>
        <p:spPr bwMode="auto">
          <a:xfrm>
            <a:off x="1525079" y="5477956"/>
            <a:ext cx="9145016" cy="40011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汇报团队：第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冷亚航、陈朵、刘泽萍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490DB32-EB0A-5CBE-23E6-19D8CDE984C3}"/>
              </a:ext>
            </a:extLst>
          </p:cNvPr>
          <p:cNvSpPr txBox="1"/>
          <p:nvPr/>
        </p:nvSpPr>
        <p:spPr bwMode="auto">
          <a:xfrm>
            <a:off x="1525079" y="5923652"/>
            <a:ext cx="9145016" cy="40011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 eaLnBrk="1" hangingPunct="1"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日期：</a:t>
            </a:r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3</a:t>
            </a:r>
            <a:r>
              <a:rPr lang="zh-CN" altLang="en-US" dirty="0"/>
              <a:t>月</a:t>
            </a:r>
            <a:r>
              <a:rPr lang="en-US" altLang="zh-CN" dirty="0"/>
              <a:t>18</a:t>
            </a:r>
            <a:r>
              <a:rPr lang="zh-CN" altLang="en-US" dirty="0"/>
              <a:t>日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E68B1-BAFB-6221-FDA1-A3C5D9672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432690-BC9C-BD29-6063-88AB0AA1DBD0}"/>
              </a:ext>
            </a:extLst>
          </p:cNvPr>
          <p:cNvSpPr txBox="1"/>
          <p:nvPr/>
        </p:nvSpPr>
        <p:spPr>
          <a:xfrm>
            <a:off x="311109" y="161152"/>
            <a:ext cx="60025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5">
            <a:extLst>
              <a:ext uri="{FF2B5EF4-FFF2-40B4-BE49-F238E27FC236}">
                <a16:creationId xmlns:a16="http://schemas.microsoft.com/office/drawing/2014/main" id="{FA99F212-29F9-E2CE-6C8A-19626D4B4D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 rot="16200000">
            <a:off x="914740" y="3282003"/>
            <a:ext cx="4176726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义启萌妹体" panose="02010601030101010101" charset="-122"/>
                <a:ea typeface="义启萌妹体" panose="02010601030101010101" charset="-122"/>
                <a:cs typeface="+mn-cs"/>
              </a:rPr>
              <a:t>CONTENT</a:t>
            </a:r>
          </a:p>
        </p:txBody>
      </p:sp>
      <p:sp>
        <p:nvSpPr>
          <p:cNvPr id="4" name="MH_Number_1">
            <a:extLst>
              <a:ext uri="{FF2B5EF4-FFF2-40B4-BE49-F238E27FC236}">
                <a16:creationId xmlns:a16="http://schemas.microsoft.com/office/drawing/2014/main" id="{4C579CEA-4CE2-AD30-28A8-0C0A1EE3DB06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4880917" y="1658374"/>
            <a:ext cx="503919" cy="503919"/>
          </a:xfrm>
          <a:prstGeom prst="ellipse">
            <a:avLst/>
          </a:prstGeom>
          <a:solidFill>
            <a:srgbClr val="FF2305"/>
          </a:solidFill>
          <a:ln w="57150">
            <a:solidFill>
              <a:srgbClr val="E54E4B"/>
            </a:solidFill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90204" pitchFamily="34" charset="0"/>
              </a:rPr>
              <a:t>1</a:t>
            </a:r>
            <a:endParaRPr lang="zh-CN" altLang="en-US" b="1" dirty="0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90204" pitchFamily="34" charset="0"/>
            </a:endParaRPr>
          </a:p>
        </p:txBody>
      </p:sp>
      <p:sp>
        <p:nvSpPr>
          <p:cNvPr id="5" name="MH_Entry_1">
            <a:extLst>
              <a:ext uri="{FF2B5EF4-FFF2-40B4-BE49-F238E27FC236}">
                <a16:creationId xmlns:a16="http://schemas.microsoft.com/office/drawing/2014/main" id="{9EDA9924-4F90-8533-21FB-A2B4A40ECA2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745150" y="1612136"/>
            <a:ext cx="4168861" cy="57695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项目背景、目标与范围</a:t>
            </a:r>
          </a:p>
        </p:txBody>
      </p:sp>
      <p:sp>
        <p:nvSpPr>
          <p:cNvPr id="6" name="MH_Number_2">
            <a:extLst>
              <a:ext uri="{FF2B5EF4-FFF2-40B4-BE49-F238E27FC236}">
                <a16:creationId xmlns:a16="http://schemas.microsoft.com/office/drawing/2014/main" id="{16A6ADD6-601B-9F0C-85A8-5B614859A846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4881054" y="2605110"/>
            <a:ext cx="504056" cy="504152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90204" pitchFamily="34" charset="0"/>
              </a:rPr>
              <a:t>2</a:t>
            </a:r>
            <a:endParaRPr lang="zh-CN" altLang="en-US" b="1" dirty="0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90204" pitchFamily="34" charset="0"/>
            </a:endParaRPr>
          </a:p>
        </p:txBody>
      </p:sp>
      <p:sp>
        <p:nvSpPr>
          <p:cNvPr id="7" name="MH_Entry_2">
            <a:extLst>
              <a:ext uri="{FF2B5EF4-FFF2-40B4-BE49-F238E27FC236}">
                <a16:creationId xmlns:a16="http://schemas.microsoft.com/office/drawing/2014/main" id="{C5BE492B-A61D-0EB0-C092-ABD40812435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745150" y="2564937"/>
            <a:ext cx="2806564" cy="57695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项目总体计划</a:t>
            </a:r>
          </a:p>
        </p:txBody>
      </p:sp>
      <p:sp>
        <p:nvSpPr>
          <p:cNvPr id="8" name="MH_Number_3">
            <a:extLst>
              <a:ext uri="{FF2B5EF4-FFF2-40B4-BE49-F238E27FC236}">
                <a16:creationId xmlns:a16="http://schemas.microsoft.com/office/drawing/2014/main" id="{0C176D7D-6F4C-2B75-3F51-08FB44D2354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4881054" y="3552079"/>
            <a:ext cx="504056" cy="504152"/>
          </a:xfrm>
          <a:prstGeom prst="ellipse">
            <a:avLst/>
          </a:prstGeom>
          <a:solidFill>
            <a:srgbClr val="FF2305"/>
          </a:solidFill>
          <a:ln w="3175">
            <a:noFill/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90204" pitchFamily="34" charset="0"/>
              </a:rPr>
              <a:t>3</a:t>
            </a:r>
            <a:endParaRPr lang="zh-CN" altLang="en-US" b="1" dirty="0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90204" pitchFamily="34" charset="0"/>
            </a:endParaRPr>
          </a:p>
        </p:txBody>
      </p:sp>
      <p:sp>
        <p:nvSpPr>
          <p:cNvPr id="9" name="MH_Entry_3">
            <a:extLst>
              <a:ext uri="{FF2B5EF4-FFF2-40B4-BE49-F238E27FC236}">
                <a16:creationId xmlns:a16="http://schemas.microsoft.com/office/drawing/2014/main" id="{BFAFF48D-A793-C985-37A0-EEF03F7F998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754362" y="3465513"/>
            <a:ext cx="2928071" cy="57695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项目组织架构</a:t>
            </a:r>
          </a:p>
        </p:txBody>
      </p:sp>
      <p:sp>
        <p:nvSpPr>
          <p:cNvPr id="10" name="MH_Number_4">
            <a:extLst>
              <a:ext uri="{FF2B5EF4-FFF2-40B4-BE49-F238E27FC236}">
                <a16:creationId xmlns:a16="http://schemas.microsoft.com/office/drawing/2014/main" id="{9D9DEC94-4946-A3C5-8DBA-821236B9359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4880917" y="4499048"/>
            <a:ext cx="504056" cy="504152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90204" pitchFamily="34" charset="0"/>
              </a:rPr>
              <a:t>4</a:t>
            </a:r>
            <a:endParaRPr lang="zh-CN" altLang="en-US" b="1" dirty="0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90204" pitchFamily="34" charset="0"/>
            </a:endParaRPr>
          </a:p>
        </p:txBody>
      </p:sp>
      <p:sp>
        <p:nvSpPr>
          <p:cNvPr id="16" name="MH_Entry_4">
            <a:extLst>
              <a:ext uri="{FF2B5EF4-FFF2-40B4-BE49-F238E27FC236}">
                <a16:creationId xmlns:a16="http://schemas.microsoft.com/office/drawing/2014/main" id="{DE1E799E-6C45-5C0B-7FCD-060FD4437C4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745286" y="4418314"/>
            <a:ext cx="3649980" cy="57695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项目风险点和对策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871E00C-E7A3-AB26-F991-C7FA467F019E}"/>
              </a:ext>
            </a:extLst>
          </p:cNvPr>
          <p:cNvSpPr txBox="1"/>
          <p:nvPr/>
        </p:nvSpPr>
        <p:spPr>
          <a:xfrm>
            <a:off x="1201043" y="2274769"/>
            <a:ext cx="1368152" cy="3030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9600" dirty="0">
                <a:solidFill>
                  <a:srgbClr val="C00000"/>
                </a:solidFill>
              </a:rPr>
              <a:t>目</a:t>
            </a:r>
          </a:p>
          <a:p>
            <a:r>
              <a:rPr lang="zh-CN" altLang="en-US" sz="9600" dirty="0">
                <a:solidFill>
                  <a:srgbClr val="C00000"/>
                </a:solidFill>
              </a:rPr>
              <a:t>录</a:t>
            </a:r>
          </a:p>
        </p:txBody>
      </p:sp>
      <p:sp>
        <p:nvSpPr>
          <p:cNvPr id="35" name="MH_Number_1">
            <a:extLst>
              <a:ext uri="{FF2B5EF4-FFF2-40B4-BE49-F238E27FC236}">
                <a16:creationId xmlns:a16="http://schemas.microsoft.com/office/drawing/2014/main" id="{5010B22F-4547-91EE-9DE0-F23FDADFDB5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4880917" y="5446018"/>
            <a:ext cx="503919" cy="503919"/>
          </a:xfrm>
          <a:prstGeom prst="ellipse">
            <a:avLst/>
          </a:prstGeom>
          <a:solidFill>
            <a:srgbClr val="FF2305"/>
          </a:solidFill>
          <a:ln w="3175">
            <a:noFill/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  <a:cs typeface="Times New Roman" panose="02020603050405020304" pitchFamily="18" charset="0"/>
                <a:sym typeface="Arial" panose="020B0604020202090204" pitchFamily="34" charset="0"/>
              </a:rPr>
              <a:t>5</a:t>
            </a:r>
            <a:endParaRPr lang="zh-CN" altLang="en-US" b="1" dirty="0">
              <a:solidFill>
                <a:srgbClr val="FFFFFF"/>
              </a:solidFill>
              <a:latin typeface="Arial" panose="020B0604020202090204" pitchFamily="34" charset="0"/>
              <a:ea typeface="微软雅黑" panose="020B0503020204020204" charset="-122"/>
              <a:cs typeface="Times New Roman" panose="02020603050405020304" pitchFamily="18" charset="0"/>
              <a:sym typeface="Arial" panose="020B0604020202090204" pitchFamily="34" charset="0"/>
            </a:endParaRPr>
          </a:p>
        </p:txBody>
      </p:sp>
      <p:sp>
        <p:nvSpPr>
          <p:cNvPr id="36" name="MH_Entry_4">
            <a:extLst>
              <a:ext uri="{FF2B5EF4-FFF2-40B4-BE49-F238E27FC236}">
                <a16:creationId xmlns:a16="http://schemas.microsoft.com/office/drawing/2014/main" id="{0607023B-C4CF-7DE5-B937-D99CFF821D2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745150" y="5371114"/>
            <a:ext cx="3304765" cy="57695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项目沟通机制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333A522F-052C-AF46-017D-FFBF053B65FB}"/>
              </a:ext>
            </a:extLst>
          </p:cNvPr>
          <p:cNvCxnSpPr>
            <a:cxnSpLocks/>
          </p:cNvCxnSpPr>
          <p:nvPr/>
        </p:nvCxnSpPr>
        <p:spPr>
          <a:xfrm>
            <a:off x="3721323" y="1413570"/>
            <a:ext cx="0" cy="4752528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00449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en-US" sz="5600" dirty="0">
                <a:latin typeface="微软雅黑" pitchFamily="34" charset="-122"/>
                <a:ea typeface="微软雅黑" pitchFamily="34" charset="-122"/>
              </a:rPr>
              <a:t>项目背景</a:t>
            </a:r>
            <a:endParaRPr lang="zh-CN" altLang="en-US" sz="5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769185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281B3-9115-979D-F6BA-F8D04DD55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2" name="矩形 25">
            <a:extLst>
              <a:ext uri="{FF2B5EF4-FFF2-40B4-BE49-F238E27FC236}">
                <a16:creationId xmlns:a16="http://schemas.microsoft.com/office/drawing/2014/main" id="{A3BB495E-46A0-F166-F214-8170CA19BC7B}"/>
              </a:ext>
            </a:extLst>
          </p:cNvPr>
          <p:cNvSpPr/>
          <p:nvPr/>
        </p:nvSpPr>
        <p:spPr>
          <a:xfrm>
            <a:off x="1489075" y="1753533"/>
            <a:ext cx="1512000" cy="612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764" name="矩形 24">
            <a:extLst>
              <a:ext uri="{FF2B5EF4-FFF2-40B4-BE49-F238E27FC236}">
                <a16:creationId xmlns:a16="http://schemas.microsoft.com/office/drawing/2014/main" id="{29A0BF6F-56EF-D1BC-3563-8E69693A9F97}"/>
              </a:ext>
            </a:extLst>
          </p:cNvPr>
          <p:cNvSpPr/>
          <p:nvPr/>
        </p:nvSpPr>
        <p:spPr>
          <a:xfrm>
            <a:off x="1764015" y="1757635"/>
            <a:ext cx="96212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Info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765" name="TextBox 11">
            <a:extLst>
              <a:ext uri="{FF2B5EF4-FFF2-40B4-BE49-F238E27FC236}">
                <a16:creationId xmlns:a16="http://schemas.microsoft.com/office/drawing/2014/main" id="{4CCEB322-02D1-6A9E-B20D-2F292D26E1DD}"/>
              </a:ext>
            </a:extLst>
          </p:cNvPr>
          <p:cNvSpPr txBox="1"/>
          <p:nvPr/>
        </p:nvSpPr>
        <p:spPr>
          <a:xfrm>
            <a:off x="335447" y="152331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F81FB66B-E7F1-6DE6-45A4-0CF745251E29}"/>
              </a:ext>
            </a:extLst>
          </p:cNvPr>
          <p:cNvSpPr/>
          <p:nvPr/>
        </p:nvSpPr>
        <p:spPr>
          <a:xfrm>
            <a:off x="1489075" y="2133650"/>
            <a:ext cx="9405950" cy="3161088"/>
          </a:xfrm>
          <a:prstGeom prst="roundRect">
            <a:avLst>
              <a:gd name="adj" fmla="val 11764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just"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传统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ATC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语音标注依赖人工听写，效率低下。本系统旨在构建自动化流水线，将“人工创作模式”升级为高生产率的“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辅助验证模式”。</a:t>
            </a:r>
          </a:p>
        </p:txBody>
      </p:sp>
    </p:spTree>
    <p:extLst>
      <p:ext uri="{BB962C8B-B14F-4D97-AF65-F5344CB8AC3E}">
        <p14:creationId xmlns:p14="http://schemas.microsoft.com/office/powerpoint/2010/main" val="184710453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2B6E8-43ED-2309-7DEE-0907EE695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>
            <a:extLst>
              <a:ext uri="{FF2B5EF4-FFF2-40B4-BE49-F238E27FC236}">
                <a16:creationId xmlns:a16="http://schemas.microsoft.com/office/drawing/2014/main" id="{DC53687C-EB7F-F688-33D4-E5871689E793}"/>
              </a:ext>
            </a:extLst>
          </p:cNvPr>
          <p:cNvSpPr txBox="1"/>
          <p:nvPr/>
        </p:nvSpPr>
        <p:spPr>
          <a:xfrm>
            <a:off x="0" y="78671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项目现状痛点</a:t>
            </a:r>
          </a:p>
        </p:txBody>
      </p:sp>
      <p:sp>
        <p:nvSpPr>
          <p:cNvPr id="2" name="圆角矩形 14">
            <a:extLst>
              <a:ext uri="{FF2B5EF4-FFF2-40B4-BE49-F238E27FC236}">
                <a16:creationId xmlns:a16="http://schemas.microsoft.com/office/drawing/2014/main" id="{9B0D384C-6230-72DB-98A7-B9224BCAA5BF}"/>
              </a:ext>
            </a:extLst>
          </p:cNvPr>
          <p:cNvSpPr/>
          <p:nvPr/>
        </p:nvSpPr>
        <p:spPr>
          <a:xfrm>
            <a:off x="418731" y="1513410"/>
            <a:ext cx="3661167" cy="2105739"/>
          </a:xfrm>
          <a:prstGeom prst="roundRect">
            <a:avLst/>
          </a:prstGeom>
          <a:solidFill>
            <a:srgbClr val="8B0000">
              <a:alpha val="5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87105E-DF5B-6527-CB16-FA981CABAFD9}"/>
              </a:ext>
            </a:extLst>
          </p:cNvPr>
          <p:cNvSpPr/>
          <p:nvPr/>
        </p:nvSpPr>
        <p:spPr>
          <a:xfrm>
            <a:off x="418731" y="1160488"/>
            <a:ext cx="3661167" cy="658645"/>
          </a:xfrm>
          <a:prstGeom prst="rect">
            <a:avLst/>
          </a:prstGeom>
          <a:solidFill>
            <a:srgbClr val="E54E4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痛点一：多模态整合度低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384A9F1-9A89-F956-B322-B98C8F678F90}"/>
              </a:ext>
            </a:extLst>
          </p:cNvPr>
          <p:cNvSpPr txBox="1"/>
          <p:nvPr/>
        </p:nvSpPr>
        <p:spPr bwMode="auto">
          <a:xfrm>
            <a:off x="453270" y="2105774"/>
            <a:ext cx="3592089" cy="1107996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现存工具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界面割裂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，无法实现音频波形与空间航迹的同屏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高效协同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2" name="圆角矩形 14">
            <a:extLst>
              <a:ext uri="{FF2B5EF4-FFF2-40B4-BE49-F238E27FC236}">
                <a16:creationId xmlns:a16="http://schemas.microsoft.com/office/drawing/2014/main" id="{D89F44C7-C745-F514-8D74-C8E34FBC8B07}"/>
              </a:ext>
            </a:extLst>
          </p:cNvPr>
          <p:cNvSpPr/>
          <p:nvPr/>
        </p:nvSpPr>
        <p:spPr>
          <a:xfrm>
            <a:off x="4593729" y="1513410"/>
            <a:ext cx="3376066" cy="2105739"/>
          </a:xfrm>
          <a:prstGeom prst="roundRect">
            <a:avLst/>
          </a:prstGeom>
          <a:solidFill>
            <a:srgbClr val="8B0000">
              <a:alpha val="5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D0B7ECE-2B63-2208-1BC1-64459F88BC36}"/>
              </a:ext>
            </a:extLst>
          </p:cNvPr>
          <p:cNvSpPr/>
          <p:nvPr/>
        </p:nvSpPr>
        <p:spPr>
          <a:xfrm>
            <a:off x="4593729" y="1160488"/>
            <a:ext cx="3376066" cy="658645"/>
          </a:xfrm>
          <a:prstGeom prst="rect">
            <a:avLst/>
          </a:prstGeom>
          <a:solidFill>
            <a:srgbClr val="E54E4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痛点二：时空对齐困难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E053BF1-3BDB-F5CF-D0E2-E573B866A83D}"/>
              </a:ext>
            </a:extLst>
          </p:cNvPr>
          <p:cNvSpPr txBox="1"/>
          <p:nvPr/>
        </p:nvSpPr>
        <p:spPr bwMode="auto">
          <a:xfrm>
            <a:off x="4625579" y="1793890"/>
            <a:ext cx="3312367" cy="144655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标注人员视觉焦点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频繁切换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，缺乏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统一的时空调度引擎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，导致音频时间戳与航迹对齐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误差率极高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EA4138F0-3CFF-04B9-4083-40F907F68A88}"/>
              </a:ext>
            </a:extLst>
          </p:cNvPr>
          <p:cNvSpPr/>
          <p:nvPr/>
        </p:nvSpPr>
        <p:spPr>
          <a:xfrm>
            <a:off x="8413130" y="1513410"/>
            <a:ext cx="3376066" cy="2105739"/>
          </a:xfrm>
          <a:prstGeom prst="roundRect">
            <a:avLst/>
          </a:prstGeom>
          <a:solidFill>
            <a:srgbClr val="8B0000">
              <a:alpha val="5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600CFFF-B6B1-5E93-E08D-D0CC55916869}"/>
              </a:ext>
            </a:extLst>
          </p:cNvPr>
          <p:cNvSpPr/>
          <p:nvPr/>
        </p:nvSpPr>
        <p:spPr>
          <a:xfrm>
            <a:off x="8413130" y="1160488"/>
            <a:ext cx="3376066" cy="658645"/>
          </a:xfrm>
          <a:prstGeom prst="rect">
            <a:avLst/>
          </a:prstGeom>
          <a:solidFill>
            <a:srgbClr val="E54E4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痛点三：前端渲染瓶颈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616D82-D12A-D477-8C68-C77908A5E035}"/>
              </a:ext>
            </a:extLst>
          </p:cNvPr>
          <p:cNvSpPr txBox="1"/>
          <p:nvPr/>
        </p:nvSpPr>
        <p:spPr bwMode="auto">
          <a:xfrm>
            <a:off x="8444980" y="1793890"/>
            <a:ext cx="3312367" cy="144655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传统工具缺乏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高性能状态容器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，难以承接后端下发的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密集分布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的结构化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时空数据渲染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圆角矩形 14">
            <a:extLst>
              <a:ext uri="{FF2B5EF4-FFF2-40B4-BE49-F238E27FC236}">
                <a16:creationId xmlns:a16="http://schemas.microsoft.com/office/drawing/2014/main" id="{C58BAADE-DD51-00A0-76EE-11E25D5657FC}"/>
              </a:ext>
            </a:extLst>
          </p:cNvPr>
          <p:cNvSpPr/>
          <p:nvPr/>
        </p:nvSpPr>
        <p:spPr>
          <a:xfrm>
            <a:off x="561281" y="4445323"/>
            <a:ext cx="3376066" cy="1792783"/>
          </a:xfrm>
          <a:prstGeom prst="roundRect">
            <a:avLst/>
          </a:prstGeom>
          <a:solidFill>
            <a:srgbClr val="FF849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6CDD21-8D35-2239-4463-3034608C2C48}"/>
              </a:ext>
            </a:extLst>
          </p:cNvPr>
          <p:cNvSpPr txBox="1"/>
          <p:nvPr/>
        </p:nvSpPr>
        <p:spPr bwMode="auto">
          <a:xfrm>
            <a:off x="593131" y="4732090"/>
            <a:ext cx="3312367" cy="1200329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B/S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，打造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高度集成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的沉浸式综合标注工作台</a:t>
            </a:r>
          </a:p>
        </p:txBody>
      </p:sp>
      <p:sp>
        <p:nvSpPr>
          <p:cNvPr id="9" name="圆角矩形 14">
            <a:extLst>
              <a:ext uri="{FF2B5EF4-FFF2-40B4-BE49-F238E27FC236}">
                <a16:creationId xmlns:a16="http://schemas.microsoft.com/office/drawing/2014/main" id="{576BE8B7-CDEC-C750-58D9-762AB8A721B9}"/>
              </a:ext>
            </a:extLst>
          </p:cNvPr>
          <p:cNvSpPr/>
          <p:nvPr/>
        </p:nvSpPr>
        <p:spPr>
          <a:xfrm>
            <a:off x="4593729" y="4445323"/>
            <a:ext cx="3376066" cy="1792783"/>
          </a:xfrm>
          <a:prstGeom prst="roundRect">
            <a:avLst/>
          </a:prstGeom>
          <a:solidFill>
            <a:srgbClr val="FF849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2017F81-CD7B-DD40-621F-B22AD57919B6}"/>
              </a:ext>
            </a:extLst>
          </p:cNvPr>
          <p:cNvSpPr txBox="1"/>
          <p:nvPr/>
        </p:nvSpPr>
        <p:spPr bwMode="auto">
          <a:xfrm>
            <a:off x="4625579" y="4616519"/>
            <a:ext cx="3312367" cy="156966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建立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“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全局主时钟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”，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实现听觉、视觉、空间的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三维高精度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同频映射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4">
            <a:extLst>
              <a:ext uri="{FF2B5EF4-FFF2-40B4-BE49-F238E27FC236}">
                <a16:creationId xmlns:a16="http://schemas.microsoft.com/office/drawing/2014/main" id="{24AE64FA-8685-5F65-10B5-908C57EDEA25}"/>
              </a:ext>
            </a:extLst>
          </p:cNvPr>
          <p:cNvSpPr/>
          <p:nvPr/>
        </p:nvSpPr>
        <p:spPr>
          <a:xfrm>
            <a:off x="8413130" y="4445323"/>
            <a:ext cx="3376066" cy="1792783"/>
          </a:xfrm>
          <a:prstGeom prst="roundRect">
            <a:avLst/>
          </a:prstGeom>
          <a:solidFill>
            <a:srgbClr val="FF849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590B543-2382-DC0D-F7B8-ADCEDD60B376}"/>
              </a:ext>
            </a:extLst>
          </p:cNvPr>
          <p:cNvSpPr txBox="1"/>
          <p:nvPr/>
        </p:nvSpPr>
        <p:spPr bwMode="auto">
          <a:xfrm>
            <a:off x="8444980" y="4603615"/>
            <a:ext cx="3312367" cy="156966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React Context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集中式状态管理，集成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高效渲染机制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管控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DOM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树。</a:t>
            </a:r>
          </a:p>
        </p:txBody>
      </p:sp>
      <p:sp>
        <p:nvSpPr>
          <p:cNvPr id="20" name="箭头: 下 19">
            <a:extLst>
              <a:ext uri="{FF2B5EF4-FFF2-40B4-BE49-F238E27FC236}">
                <a16:creationId xmlns:a16="http://schemas.microsoft.com/office/drawing/2014/main" id="{400FBC1F-C1FB-D2D3-A2FE-9E7000897C65}"/>
              </a:ext>
            </a:extLst>
          </p:cNvPr>
          <p:cNvSpPr/>
          <p:nvPr/>
        </p:nvSpPr>
        <p:spPr>
          <a:xfrm>
            <a:off x="1817266" y="3395019"/>
            <a:ext cx="864096" cy="1200329"/>
          </a:xfrm>
          <a:prstGeom prst="downArrow">
            <a:avLst/>
          </a:prstGeom>
          <a:solidFill>
            <a:srgbClr val="E54E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下 20">
            <a:extLst>
              <a:ext uri="{FF2B5EF4-FFF2-40B4-BE49-F238E27FC236}">
                <a16:creationId xmlns:a16="http://schemas.microsoft.com/office/drawing/2014/main" id="{DCCE3BBE-C7E7-13C6-56A5-4F4A05A42B74}"/>
              </a:ext>
            </a:extLst>
          </p:cNvPr>
          <p:cNvSpPr/>
          <p:nvPr/>
        </p:nvSpPr>
        <p:spPr>
          <a:xfrm>
            <a:off x="5849714" y="3395019"/>
            <a:ext cx="864096" cy="1200329"/>
          </a:xfrm>
          <a:prstGeom prst="downArrow">
            <a:avLst/>
          </a:prstGeom>
          <a:solidFill>
            <a:srgbClr val="E54E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下 21">
            <a:extLst>
              <a:ext uri="{FF2B5EF4-FFF2-40B4-BE49-F238E27FC236}">
                <a16:creationId xmlns:a16="http://schemas.microsoft.com/office/drawing/2014/main" id="{8410BDEC-BF11-44B5-F1C1-C88A447BA8BE}"/>
              </a:ext>
            </a:extLst>
          </p:cNvPr>
          <p:cNvSpPr/>
          <p:nvPr/>
        </p:nvSpPr>
        <p:spPr>
          <a:xfrm>
            <a:off x="9669115" y="3395019"/>
            <a:ext cx="864096" cy="1200329"/>
          </a:xfrm>
          <a:prstGeom prst="downArrow">
            <a:avLst/>
          </a:prstGeom>
          <a:solidFill>
            <a:srgbClr val="E54E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3001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9" grpId="0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/>
          <p:cNvSpPr txBox="1"/>
          <p:nvPr/>
        </p:nvSpPr>
        <p:spPr>
          <a:xfrm>
            <a:off x="335447" y="152331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项目目标</a:t>
            </a:r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51B800FD-A925-322B-33C4-F57040AF4954}"/>
              </a:ext>
            </a:extLst>
          </p:cNvPr>
          <p:cNvSpPr/>
          <p:nvPr/>
        </p:nvSpPr>
        <p:spPr>
          <a:xfrm>
            <a:off x="762000" y="1524001"/>
            <a:ext cx="3302000" cy="3804962"/>
          </a:xfrm>
          <a:prstGeom prst="roundRect">
            <a:avLst>
              <a:gd name="adj" fmla="val 3846"/>
            </a:avLst>
          </a:prstGeom>
          <a:solidFill>
            <a:srgbClr val="FAFA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A8B4FDB2-28C7-9535-3EE2-9CA97FEAA4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50000"/>
          <a:stretch>
            <a:fillRect/>
          </a:stretch>
        </p:blipFill>
        <p:spPr>
          <a:xfrm>
            <a:off x="1611907" y="1484908"/>
            <a:ext cx="1309093" cy="141775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5">
            <a:extLst>
              <a:ext uri="{FF2B5EF4-FFF2-40B4-BE49-F238E27FC236}">
                <a16:creationId xmlns:a16="http://schemas.microsoft.com/office/drawing/2014/main" id="{0AB36112-27E7-3DF6-CB2C-1195A5EB50E5}"/>
              </a:ext>
            </a:extLst>
          </p:cNvPr>
          <p:cNvSpPr/>
          <p:nvPr/>
        </p:nvSpPr>
        <p:spPr>
          <a:xfrm>
            <a:off x="889000" y="2920999"/>
            <a:ext cx="3048000" cy="4126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打造沉浸式工作台</a:t>
            </a:r>
            <a:endParaRPr lang="en-US" sz="1200"/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EC653E0F-1474-23BA-4181-EA0BCFC5EB1E}"/>
              </a:ext>
            </a:extLst>
          </p:cNvPr>
          <p:cNvSpPr/>
          <p:nvPr/>
        </p:nvSpPr>
        <p:spPr>
          <a:xfrm>
            <a:off x="889000" y="3428999"/>
            <a:ext cx="3048000" cy="151296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Next.js和Radix</a:t>
            </a:r>
            <a:r>
              <a:rPr lang="en-US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UI</a:t>
            </a:r>
            <a:r>
              <a:rPr lang="en-US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，构建高可用、零干扰的</a:t>
            </a:r>
            <a:r>
              <a:rPr lang="en-US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纯净前端标注界面</a:t>
            </a:r>
            <a:r>
              <a:rPr lang="en-US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dirty="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D79AB2EB-096C-225E-125B-01C21CED55D7}"/>
              </a:ext>
            </a:extLst>
          </p:cNvPr>
          <p:cNvSpPr/>
          <p:nvPr/>
        </p:nvSpPr>
        <p:spPr>
          <a:xfrm>
            <a:off x="4445000" y="1524001"/>
            <a:ext cx="3302000" cy="3804962"/>
          </a:xfrm>
          <a:prstGeom prst="roundRect">
            <a:avLst>
              <a:gd name="adj" fmla="val 3846"/>
            </a:avLst>
          </a:prstGeom>
          <a:solidFill>
            <a:srgbClr val="FAFA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6FB5B57-7624-3C74-B897-AB4ECFC630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b="50000"/>
          <a:stretch>
            <a:fillRect/>
          </a:stretch>
        </p:blipFill>
        <p:spPr>
          <a:xfrm>
            <a:off x="5294907" y="1484908"/>
            <a:ext cx="1309093" cy="141775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>
            <a:extLst>
              <a:ext uri="{FF2B5EF4-FFF2-40B4-BE49-F238E27FC236}">
                <a16:creationId xmlns:a16="http://schemas.microsoft.com/office/drawing/2014/main" id="{401F2FEE-8B29-585A-AE5F-45B6EE6FC45D}"/>
              </a:ext>
            </a:extLst>
          </p:cNvPr>
          <p:cNvSpPr/>
          <p:nvPr/>
        </p:nvSpPr>
        <p:spPr>
          <a:xfrm>
            <a:off x="4572000" y="2920999"/>
            <a:ext cx="3048000" cy="4126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实现“时空漫游”交互</a:t>
            </a:r>
            <a:endParaRPr lang="en-US" sz="1200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C8CD2A1D-F7EA-4912-650A-9580F5F195C6}"/>
              </a:ext>
            </a:extLst>
          </p:cNvPr>
          <p:cNvSpPr/>
          <p:nvPr/>
        </p:nvSpPr>
        <p:spPr>
          <a:xfrm>
            <a:off x="4572000" y="3428999"/>
            <a:ext cx="3048000" cy="151296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</a:t>
            </a:r>
            <a:r>
              <a:rPr lang="en-US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全局主时钟</a:t>
            </a:r>
            <a:r>
              <a:rPr lang="en-US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，保障音频波形进度与地图打点</a:t>
            </a:r>
            <a:r>
              <a:rPr lang="en-US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毫秒级</a:t>
            </a:r>
            <a:r>
              <a:rPr lang="en-US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严格同步</a:t>
            </a:r>
            <a:r>
              <a:rPr lang="en-US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dirty="0"/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7C193E37-2542-BB66-0697-8CB7DF7266CE}"/>
              </a:ext>
            </a:extLst>
          </p:cNvPr>
          <p:cNvSpPr/>
          <p:nvPr/>
        </p:nvSpPr>
        <p:spPr>
          <a:xfrm>
            <a:off x="8128000" y="1524001"/>
            <a:ext cx="3302000" cy="3804962"/>
          </a:xfrm>
          <a:prstGeom prst="roundRect">
            <a:avLst>
              <a:gd name="adj" fmla="val 3846"/>
            </a:avLst>
          </a:prstGeom>
          <a:solidFill>
            <a:srgbClr val="FAFA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1A4C7A42-7986-F35D-3DAD-60F1159D3B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00" r="50000"/>
          <a:stretch>
            <a:fillRect/>
          </a:stretch>
        </p:blipFill>
        <p:spPr>
          <a:xfrm>
            <a:off x="9124453" y="1760662"/>
            <a:ext cx="1309093" cy="141775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>
            <a:extLst>
              <a:ext uri="{FF2B5EF4-FFF2-40B4-BE49-F238E27FC236}">
                <a16:creationId xmlns:a16="http://schemas.microsoft.com/office/drawing/2014/main" id="{E6EE120B-0ADE-CF0E-47CA-3CE118D22649}"/>
              </a:ext>
            </a:extLst>
          </p:cNvPr>
          <p:cNvSpPr/>
          <p:nvPr/>
        </p:nvSpPr>
        <p:spPr>
          <a:xfrm>
            <a:off x="8255000" y="2920999"/>
            <a:ext cx="3048000" cy="4126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突破前端性能瓶颈</a:t>
            </a:r>
            <a:endParaRPr lang="en-US" sz="120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A5F89529-43F3-56D4-D21D-DF3CC815E021}"/>
              </a:ext>
            </a:extLst>
          </p:cNvPr>
          <p:cNvSpPr/>
          <p:nvPr/>
        </p:nvSpPr>
        <p:spPr>
          <a:xfrm>
            <a:off x="8255000" y="3428999"/>
            <a:ext cx="3048000" cy="151296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优化</a:t>
            </a:r>
            <a:r>
              <a:rPr lang="en-US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重绘机制</a:t>
            </a:r>
            <a:r>
              <a:rPr lang="en-US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，确保大规模航迹数据下，前端首屏加载</a:t>
            </a:r>
            <a:r>
              <a:rPr lang="en-US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响应时间</a:t>
            </a:r>
            <a:r>
              <a:rPr lang="en-US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控制在</a:t>
            </a:r>
            <a:r>
              <a:rPr lang="en-US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&lt;2秒</a:t>
            </a:r>
            <a:r>
              <a:rPr lang="en-US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dirty="0"/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DCBDBE95-079A-466C-4C09-1443D6344B9C}"/>
              </a:ext>
            </a:extLst>
          </p:cNvPr>
          <p:cNvSpPr/>
          <p:nvPr/>
        </p:nvSpPr>
        <p:spPr>
          <a:xfrm flipV="1">
            <a:off x="762000" y="5542280"/>
            <a:ext cx="10668000" cy="45719"/>
          </a:xfrm>
          <a:prstGeom prst="roundRect">
            <a:avLst>
              <a:gd name="adj" fmla="val 0"/>
            </a:avLst>
          </a:prstGeom>
          <a:solidFill>
            <a:srgbClr val="8B00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35495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/>
          <p:cNvSpPr txBox="1"/>
          <p:nvPr/>
        </p:nvSpPr>
        <p:spPr>
          <a:xfrm>
            <a:off x="335447" y="152331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项目范围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9337D713-0F54-FD53-AA0C-1226E6587276}"/>
              </a:ext>
            </a:extLst>
          </p:cNvPr>
          <p:cNvSpPr/>
          <p:nvPr/>
        </p:nvSpPr>
        <p:spPr>
          <a:xfrm>
            <a:off x="1273051" y="1341562"/>
            <a:ext cx="5184577" cy="4763235"/>
          </a:xfrm>
          <a:prstGeom prst="rect">
            <a:avLst/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23" name="Group 11">
            <a:extLst>
              <a:ext uri="{FF2B5EF4-FFF2-40B4-BE49-F238E27FC236}">
                <a16:creationId xmlns:a16="http://schemas.microsoft.com/office/drawing/2014/main" id="{D5F7CB30-BF86-9CB4-EF27-3E1251564896}"/>
              </a:ext>
            </a:extLst>
          </p:cNvPr>
          <p:cNvGrpSpPr/>
          <p:nvPr/>
        </p:nvGrpSpPr>
        <p:grpSpPr>
          <a:xfrm>
            <a:off x="3993231" y="1764816"/>
            <a:ext cx="2408515" cy="1999723"/>
            <a:chOff x="783563" y="1249478"/>
            <a:chExt cx="1841127" cy="1562683"/>
          </a:xfrm>
        </p:grpSpPr>
        <p:sp>
          <p:nvSpPr>
            <p:cNvPr id="36" name="Rectangle 12">
              <a:extLst>
                <a:ext uri="{FF2B5EF4-FFF2-40B4-BE49-F238E27FC236}">
                  <a16:creationId xmlns:a16="http://schemas.microsoft.com/office/drawing/2014/main" id="{E9456FB8-94B6-3F05-F9BF-AF65607832BA}"/>
                </a:ext>
              </a:extLst>
            </p:cNvPr>
            <p:cNvSpPr/>
            <p:nvPr/>
          </p:nvSpPr>
          <p:spPr>
            <a:xfrm>
              <a:off x="783563" y="1630479"/>
              <a:ext cx="1841126" cy="118168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ADSB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海量飞行航迹打点渲染</a:t>
              </a:r>
              <a:endPara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当前时刻飞机动态高亮显示</a:t>
              </a:r>
            </a:p>
          </p:txBody>
        </p:sp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6797B083-589D-40D8-1D75-CC47BD46BF93}"/>
                </a:ext>
              </a:extLst>
            </p:cNvPr>
            <p:cNvSpPr/>
            <p:nvPr/>
          </p:nvSpPr>
          <p:spPr>
            <a:xfrm>
              <a:off x="783563" y="1249478"/>
              <a:ext cx="1841127" cy="381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时空航迹地图漫游</a:t>
              </a:r>
              <a:endParaRPr 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Group 14">
            <a:extLst>
              <a:ext uri="{FF2B5EF4-FFF2-40B4-BE49-F238E27FC236}">
                <a16:creationId xmlns:a16="http://schemas.microsoft.com/office/drawing/2014/main" id="{3A161998-CE9C-19D7-FDD7-0E4A50ED00B0}"/>
              </a:ext>
            </a:extLst>
          </p:cNvPr>
          <p:cNvGrpSpPr/>
          <p:nvPr/>
        </p:nvGrpSpPr>
        <p:grpSpPr>
          <a:xfrm>
            <a:off x="2193031" y="3846724"/>
            <a:ext cx="3600399" cy="2085027"/>
            <a:chOff x="-1143000" y="4385890"/>
            <a:chExt cx="1778001" cy="1446439"/>
          </a:xfrm>
        </p:grpSpPr>
        <p:sp>
          <p:nvSpPr>
            <p:cNvPr id="34" name="Rectangle 15">
              <a:extLst>
                <a:ext uri="{FF2B5EF4-FFF2-40B4-BE49-F238E27FC236}">
                  <a16:creationId xmlns:a16="http://schemas.microsoft.com/office/drawing/2014/main" id="{8685289E-57F3-DE05-9338-F41EE25FA46F}"/>
                </a:ext>
              </a:extLst>
            </p:cNvPr>
            <p:cNvSpPr/>
            <p:nvPr/>
          </p:nvSpPr>
          <p:spPr>
            <a:xfrm>
              <a:off x="-1143000" y="4696101"/>
              <a:ext cx="1778000" cy="113622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全局时钟进度条控制</a:t>
              </a:r>
              <a:endPara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音轨、文本、航迹毫秒级同步联动</a:t>
              </a:r>
              <a:endPara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标注结果的确认与提交动作</a:t>
              </a:r>
              <a:endPara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Rectangle 16">
              <a:extLst>
                <a:ext uri="{FF2B5EF4-FFF2-40B4-BE49-F238E27FC236}">
                  <a16:creationId xmlns:a16="http://schemas.microsoft.com/office/drawing/2014/main" id="{4C41A491-0093-87E3-DE3C-BB95CED42D78}"/>
                </a:ext>
              </a:extLst>
            </p:cNvPr>
            <p:cNvSpPr/>
            <p:nvPr/>
          </p:nvSpPr>
          <p:spPr>
            <a:xfrm>
              <a:off x="-1143000" y="4385890"/>
              <a:ext cx="1778001" cy="351181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核心联动交互工作台</a:t>
              </a:r>
              <a:endParaRPr 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Isosceles Triangle 17">
            <a:extLst>
              <a:ext uri="{FF2B5EF4-FFF2-40B4-BE49-F238E27FC236}">
                <a16:creationId xmlns:a16="http://schemas.microsoft.com/office/drawing/2014/main" id="{21886906-080C-D4F8-7FB5-7E71D0BB1075}"/>
              </a:ext>
            </a:extLst>
          </p:cNvPr>
          <p:cNvSpPr/>
          <p:nvPr/>
        </p:nvSpPr>
        <p:spPr>
          <a:xfrm rot="5400000">
            <a:off x="5975004" y="3342541"/>
            <a:ext cx="1164899" cy="199652"/>
          </a:xfrm>
          <a:prstGeom prst="triangle">
            <a:avLst/>
          </a:prstGeom>
          <a:solidFill>
            <a:srgbClr val="C00000">
              <a:alpha val="90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F836251F-049C-6CA4-CF34-79BA1701A447}"/>
              </a:ext>
            </a:extLst>
          </p:cNvPr>
          <p:cNvSpPr/>
          <p:nvPr/>
        </p:nvSpPr>
        <p:spPr>
          <a:xfrm>
            <a:off x="6657281" y="1341562"/>
            <a:ext cx="4048818" cy="47272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系统功能</a:t>
            </a:r>
            <a:endParaRPr 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20">
            <a:extLst>
              <a:ext uri="{FF2B5EF4-FFF2-40B4-BE49-F238E27FC236}">
                <a16:creationId xmlns:a16="http://schemas.microsoft.com/office/drawing/2014/main" id="{1D60F765-F5CC-01F5-45D9-84595EA8B288}"/>
              </a:ext>
            </a:extLst>
          </p:cNvPr>
          <p:cNvSpPr/>
          <p:nvPr/>
        </p:nvSpPr>
        <p:spPr>
          <a:xfrm>
            <a:off x="6745659" y="3846724"/>
            <a:ext cx="3789640" cy="493878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数据流转与状态管理</a:t>
            </a:r>
            <a:endParaRPr 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ectangle 21">
            <a:extLst>
              <a:ext uri="{FF2B5EF4-FFF2-40B4-BE49-F238E27FC236}">
                <a16:creationId xmlns:a16="http://schemas.microsoft.com/office/drawing/2014/main" id="{EEC6F9F3-3A5C-599D-3B5F-2E6F8AAF8E8D}"/>
              </a:ext>
            </a:extLst>
          </p:cNvPr>
          <p:cNvSpPr/>
          <p:nvPr/>
        </p:nvSpPr>
        <p:spPr>
          <a:xfrm>
            <a:off x="6745659" y="1820322"/>
            <a:ext cx="3789640" cy="43204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系统基建与交互环境</a:t>
            </a:r>
            <a:endParaRPr 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C18740C9-17DB-1D3E-EFA2-7856318AB87E}"/>
              </a:ext>
            </a:extLst>
          </p:cNvPr>
          <p:cNvSpPr/>
          <p:nvPr/>
        </p:nvSpPr>
        <p:spPr>
          <a:xfrm>
            <a:off x="6745659" y="2266725"/>
            <a:ext cx="3789640" cy="149781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Next.js 15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页面路由与生命周期管理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Tailwind &amp; Radix UI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响应式组件库集成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沉浸式深色模式（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Dark Mode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）全局适配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ectangle 24">
            <a:extLst>
              <a:ext uri="{FF2B5EF4-FFF2-40B4-BE49-F238E27FC236}">
                <a16:creationId xmlns:a16="http://schemas.microsoft.com/office/drawing/2014/main" id="{D961A545-65E3-0683-A2B1-9DA408C4B99C}"/>
              </a:ext>
            </a:extLst>
          </p:cNvPr>
          <p:cNvSpPr/>
          <p:nvPr/>
        </p:nvSpPr>
        <p:spPr>
          <a:xfrm>
            <a:off x="6745659" y="4358927"/>
            <a:ext cx="3789641" cy="1637861"/>
          </a:xfrm>
          <a:prstGeom prst="rect">
            <a:avLst/>
          </a:prstGeom>
          <a:solidFill>
            <a:srgbClr val="CC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React Context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全局统一状态源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对接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A-5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后端模块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RESTful API (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前端松散异构数据（媒体流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/JSON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）的解析与格式化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Group 25">
            <a:extLst>
              <a:ext uri="{FF2B5EF4-FFF2-40B4-BE49-F238E27FC236}">
                <a16:creationId xmlns:a16="http://schemas.microsoft.com/office/drawing/2014/main" id="{309D0727-3E91-DF1E-94B4-540F52AE5687}"/>
              </a:ext>
            </a:extLst>
          </p:cNvPr>
          <p:cNvGrpSpPr/>
          <p:nvPr/>
        </p:nvGrpSpPr>
        <p:grpSpPr>
          <a:xfrm>
            <a:off x="1345060" y="1779170"/>
            <a:ext cx="2520281" cy="1985367"/>
            <a:chOff x="795687" y="1250283"/>
            <a:chExt cx="1926564" cy="1551465"/>
          </a:xfrm>
        </p:grpSpPr>
        <p:sp>
          <p:nvSpPr>
            <p:cNvPr id="32" name="Rectangle 26">
              <a:extLst>
                <a:ext uri="{FF2B5EF4-FFF2-40B4-BE49-F238E27FC236}">
                  <a16:creationId xmlns:a16="http://schemas.microsoft.com/office/drawing/2014/main" id="{0E62E748-7D86-8776-AB79-7278E40B7209}"/>
                </a:ext>
              </a:extLst>
            </p:cNvPr>
            <p:cNvSpPr/>
            <p:nvPr/>
          </p:nvSpPr>
          <p:spPr>
            <a:xfrm>
              <a:off x="795687" y="1620065"/>
              <a:ext cx="1926564" cy="118168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VAD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时标展示与定位</a:t>
              </a:r>
              <a:endPara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ASR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预识别文本校对与编辑</a:t>
              </a:r>
            </a:p>
          </p:txBody>
        </p:sp>
        <p:sp>
          <p:nvSpPr>
            <p:cNvPr id="33" name="Rectangle 27">
              <a:extLst>
                <a:ext uri="{FF2B5EF4-FFF2-40B4-BE49-F238E27FC236}">
                  <a16:creationId xmlns:a16="http://schemas.microsoft.com/office/drawing/2014/main" id="{6674EB8C-6C0D-5575-4C8F-8C8497B16FBB}"/>
                </a:ext>
              </a:extLst>
            </p:cNvPr>
            <p:cNvSpPr/>
            <p:nvPr/>
          </p:nvSpPr>
          <p:spPr>
            <a:xfrm>
              <a:off x="805545" y="1250283"/>
              <a:ext cx="1916706" cy="381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多模态音频可视化</a:t>
              </a:r>
              <a:endParaRPr 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CB8191DF-1D1F-5FCD-50FB-C05AA46899CF}"/>
              </a:ext>
            </a:extLst>
          </p:cNvPr>
          <p:cNvSpPr txBox="1"/>
          <p:nvPr/>
        </p:nvSpPr>
        <p:spPr bwMode="auto">
          <a:xfrm>
            <a:off x="2749070" y="1322826"/>
            <a:ext cx="2298672" cy="461665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主体业务模块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35495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35F46-ECDF-B062-E503-0403F767F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>
            <a:extLst>
              <a:ext uri="{FF2B5EF4-FFF2-40B4-BE49-F238E27FC236}">
                <a16:creationId xmlns:a16="http://schemas.microsoft.com/office/drawing/2014/main" id="{A1EEC79A-51AD-8CFC-EAF1-3431431D35B3}"/>
              </a:ext>
            </a:extLst>
          </p:cNvPr>
          <p:cNvSpPr txBox="1"/>
          <p:nvPr/>
        </p:nvSpPr>
        <p:spPr>
          <a:xfrm>
            <a:off x="335447" y="152331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设计与交互规范 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545D8B2-8CC2-FD86-E28B-815E35A43EC9}"/>
              </a:ext>
            </a:extLst>
          </p:cNvPr>
          <p:cNvSpPr/>
          <p:nvPr/>
        </p:nvSpPr>
        <p:spPr>
          <a:xfrm>
            <a:off x="503250" y="1044177"/>
            <a:ext cx="4796507" cy="1505074"/>
          </a:xfrm>
          <a:prstGeom prst="roundRect">
            <a:avLst>
              <a:gd name="adj" fmla="val 10000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000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9D4AF404-33B7-CF6C-421B-838BB0D6D04C}"/>
              </a:ext>
            </a:extLst>
          </p:cNvPr>
          <p:cNvSpPr/>
          <p:nvPr/>
        </p:nvSpPr>
        <p:spPr>
          <a:xfrm>
            <a:off x="637147" y="1125538"/>
            <a:ext cx="4418558" cy="45152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技术基建</a:t>
            </a:r>
            <a:endParaRPr lang="en-US" sz="1100" dirty="0"/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A7EF2007-B5A8-7F0D-A936-41CBE7216082}"/>
              </a:ext>
            </a:extLst>
          </p:cNvPr>
          <p:cNvSpPr/>
          <p:nvPr/>
        </p:nvSpPr>
        <p:spPr>
          <a:xfrm>
            <a:off x="637147" y="1629594"/>
            <a:ext cx="4590602" cy="7525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Tailwind CSS + Radix UI 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</a:t>
            </a: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现代化、响应式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前端组件库，确保开发效率与一致性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D2D7BAC8-3970-DD80-080F-E6AF04625AB4}"/>
              </a:ext>
            </a:extLst>
          </p:cNvPr>
          <p:cNvSpPr/>
          <p:nvPr/>
        </p:nvSpPr>
        <p:spPr>
          <a:xfrm>
            <a:off x="408955" y="2967548"/>
            <a:ext cx="4796507" cy="1505074"/>
          </a:xfrm>
          <a:prstGeom prst="roundRect">
            <a:avLst>
              <a:gd name="adj" fmla="val 10000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000"/>
          </a:p>
        </p:txBody>
      </p:sp>
      <p:sp>
        <p:nvSpPr>
          <p:cNvPr id="15" name="AutoShape 9">
            <a:extLst>
              <a:ext uri="{FF2B5EF4-FFF2-40B4-BE49-F238E27FC236}">
                <a16:creationId xmlns:a16="http://schemas.microsoft.com/office/drawing/2014/main" id="{9F765B56-67CF-317A-3F91-D2F17C7BFA74}"/>
              </a:ext>
            </a:extLst>
          </p:cNvPr>
          <p:cNvSpPr/>
          <p:nvPr/>
        </p:nvSpPr>
        <p:spPr>
          <a:xfrm>
            <a:off x="609118" y="3069754"/>
            <a:ext cx="4418558" cy="45152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视觉风格</a:t>
            </a:r>
            <a:endParaRPr lang="en-US" sz="1100" dirty="0"/>
          </a:p>
        </p:txBody>
      </p:sp>
      <p:sp>
        <p:nvSpPr>
          <p:cNvPr id="16" name="AutoShape 10">
            <a:extLst>
              <a:ext uri="{FF2B5EF4-FFF2-40B4-BE49-F238E27FC236}">
                <a16:creationId xmlns:a16="http://schemas.microsoft.com/office/drawing/2014/main" id="{1280FE27-265A-925E-7620-FEA06AD86A5B}"/>
              </a:ext>
            </a:extLst>
          </p:cNvPr>
          <p:cNvSpPr/>
          <p:nvPr/>
        </p:nvSpPr>
        <p:spPr>
          <a:xfrm>
            <a:off x="609118" y="3645818"/>
            <a:ext cx="4418558" cy="7525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以</a:t>
            </a: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深色模式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（Dark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Mode）为主基调，减轻长时间工作的视觉疲劳，打造沉浸式</a:t>
            </a: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“纯净工作台</a:t>
            </a:r>
            <a:r>
              <a:rPr 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7" name="AutoShape 11">
            <a:extLst>
              <a:ext uri="{FF2B5EF4-FFF2-40B4-BE49-F238E27FC236}">
                <a16:creationId xmlns:a16="http://schemas.microsoft.com/office/drawing/2014/main" id="{AA14FB39-B188-60D1-49C2-386BC14E0618}"/>
              </a:ext>
            </a:extLst>
          </p:cNvPr>
          <p:cNvSpPr/>
          <p:nvPr/>
        </p:nvSpPr>
        <p:spPr>
          <a:xfrm>
            <a:off x="475221" y="5013970"/>
            <a:ext cx="4796507" cy="1505074"/>
          </a:xfrm>
          <a:prstGeom prst="roundRect">
            <a:avLst>
              <a:gd name="adj" fmla="val 10000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000"/>
          </a:p>
        </p:txBody>
      </p:sp>
      <p:sp>
        <p:nvSpPr>
          <p:cNvPr id="19" name="AutoShape 13">
            <a:extLst>
              <a:ext uri="{FF2B5EF4-FFF2-40B4-BE49-F238E27FC236}">
                <a16:creationId xmlns:a16="http://schemas.microsoft.com/office/drawing/2014/main" id="{934D0D03-44C6-E2DB-F5EA-D95BD6D060D3}"/>
              </a:ext>
            </a:extLst>
          </p:cNvPr>
          <p:cNvSpPr/>
          <p:nvPr/>
        </p:nvSpPr>
        <p:spPr>
          <a:xfrm>
            <a:off x="609118" y="5138512"/>
            <a:ext cx="4418558" cy="45152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核心交互</a:t>
            </a:r>
            <a:endParaRPr lang="en-US" sz="1100" dirty="0"/>
          </a:p>
        </p:txBody>
      </p:sp>
      <p:sp>
        <p:nvSpPr>
          <p:cNvPr id="20" name="AutoShape 14">
            <a:extLst>
              <a:ext uri="{FF2B5EF4-FFF2-40B4-BE49-F238E27FC236}">
                <a16:creationId xmlns:a16="http://schemas.microsoft.com/office/drawing/2014/main" id="{255D2519-5A5B-0FA2-746B-453590372DB4}"/>
              </a:ext>
            </a:extLst>
          </p:cNvPr>
          <p:cNvSpPr/>
          <p:nvPr/>
        </p:nvSpPr>
        <p:spPr>
          <a:xfrm>
            <a:off x="609118" y="5629585"/>
            <a:ext cx="4418558" cy="7525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摒弃繁琐的多视窗切换，实现</a:t>
            </a: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一屏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内听觉、视觉、空间信息的</a:t>
            </a: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高度聚合与联动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操作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DF9EC95-45EA-5E7D-0C74-AEEE0A6D4C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646" y="1819351"/>
            <a:ext cx="6788592" cy="365293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62F1F20-FBE3-F3B2-E94A-D73E96A0317F}"/>
              </a:ext>
            </a:extLst>
          </p:cNvPr>
          <p:cNvSpPr txBox="1"/>
          <p:nvPr/>
        </p:nvSpPr>
        <p:spPr bwMode="auto">
          <a:xfrm>
            <a:off x="6262406" y="5442938"/>
            <a:ext cx="5184576" cy="400110"/>
          </a:xfrm>
          <a:prstGeom prst="rect">
            <a:avLst/>
          </a:prstGeom>
          <a:noFill/>
          <a:ln w="9525">
            <a:solidFill>
              <a:srgbClr val="00B0F0"/>
            </a:solidFill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原型设计前端</a:t>
            </a: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</a:t>
            </a:r>
          </a:p>
        </p:txBody>
      </p:sp>
    </p:spTree>
    <p:extLst>
      <p:ext uri="{BB962C8B-B14F-4D97-AF65-F5344CB8AC3E}">
        <p14:creationId xmlns:p14="http://schemas.microsoft.com/office/powerpoint/2010/main" val="297575230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en-US" sz="5600" dirty="0">
                <a:latin typeface="微软雅黑" pitchFamily="34" charset="-122"/>
                <a:ea typeface="微软雅黑" pitchFamily="34" charset="-122"/>
              </a:rPr>
              <a:t>项目总体计划</a:t>
            </a:r>
            <a:endParaRPr lang="zh-CN" altLang="en-US" sz="5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420973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D4C72F99-F7AB-602E-B39D-ED2F52261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9317"/>
            <a:ext cx="12195175" cy="5960271"/>
          </a:xfrm>
          <a:prstGeom prst="rect">
            <a:avLst/>
          </a:prstGeom>
        </p:spPr>
      </p:pic>
      <p:sp>
        <p:nvSpPr>
          <p:cNvPr id="29" name="AutoShape 5">
            <a:extLst>
              <a:ext uri="{FF2B5EF4-FFF2-40B4-BE49-F238E27FC236}">
                <a16:creationId xmlns:a16="http://schemas.microsoft.com/office/drawing/2014/main" id="{4813D291-3CCE-E7C1-EEFF-D0B121AE5F15}"/>
              </a:ext>
            </a:extLst>
          </p:cNvPr>
          <p:cNvSpPr/>
          <p:nvPr/>
        </p:nvSpPr>
        <p:spPr>
          <a:xfrm>
            <a:off x="762000" y="2159000"/>
            <a:ext cx="2540000" cy="3048000"/>
          </a:xfrm>
          <a:prstGeom prst="roundRect">
            <a:avLst>
              <a:gd name="adj" fmla="val 500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6">
            <a:extLst>
              <a:ext uri="{FF2B5EF4-FFF2-40B4-BE49-F238E27FC236}">
                <a16:creationId xmlns:a16="http://schemas.microsoft.com/office/drawing/2014/main" id="{B6CE94A2-E740-0B51-C83D-7DDC92F38E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27200" y="2413000"/>
            <a:ext cx="609600" cy="609600"/>
          </a:xfrm>
          <a:prstGeom prst="rect">
            <a:avLst/>
          </a:prstGeom>
        </p:spPr>
      </p:pic>
      <p:sp>
        <p:nvSpPr>
          <p:cNvPr id="31" name="AutoShape 7">
            <a:extLst>
              <a:ext uri="{FF2B5EF4-FFF2-40B4-BE49-F238E27FC236}">
                <a16:creationId xmlns:a16="http://schemas.microsoft.com/office/drawing/2014/main" id="{212D3B64-85CC-2999-6EF2-7922B655D164}"/>
              </a:ext>
            </a:extLst>
          </p:cNvPr>
          <p:cNvSpPr/>
          <p:nvPr/>
        </p:nvSpPr>
        <p:spPr>
          <a:xfrm>
            <a:off x="889000" y="3111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W1-W3 需求与基建</a:t>
            </a:r>
            <a:endParaRPr lang="en-US" sz="1100"/>
          </a:p>
        </p:txBody>
      </p:sp>
      <p:sp>
        <p:nvSpPr>
          <p:cNvPr id="32" name="AutoShape 8">
            <a:extLst>
              <a:ext uri="{FF2B5EF4-FFF2-40B4-BE49-F238E27FC236}">
                <a16:creationId xmlns:a16="http://schemas.microsoft.com/office/drawing/2014/main" id="{41DC84F9-D57B-A086-6097-791563B9E2F9}"/>
              </a:ext>
            </a:extLst>
          </p:cNvPr>
          <p:cNvSpPr/>
          <p:nvPr/>
        </p:nvSpPr>
        <p:spPr>
          <a:xfrm>
            <a:off x="889000" y="3556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产出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界面原型图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，搭建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Next.js 15 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目录结构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，配置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Tailwind 及 TypeScript 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全局环境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34" name="AutoShape 10">
            <a:extLst>
              <a:ext uri="{FF2B5EF4-FFF2-40B4-BE49-F238E27FC236}">
                <a16:creationId xmlns:a16="http://schemas.microsoft.com/office/drawing/2014/main" id="{F45713CE-806B-783D-107A-20FAFB2A1739}"/>
              </a:ext>
            </a:extLst>
          </p:cNvPr>
          <p:cNvSpPr/>
          <p:nvPr/>
        </p:nvSpPr>
        <p:spPr>
          <a:xfrm>
            <a:off x="3556000" y="2159000"/>
            <a:ext cx="2540000" cy="3048000"/>
          </a:xfrm>
          <a:prstGeom prst="roundRect">
            <a:avLst>
              <a:gd name="adj" fmla="val 500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5" name="Picture 11">
            <a:extLst>
              <a:ext uri="{FF2B5EF4-FFF2-40B4-BE49-F238E27FC236}">
                <a16:creationId xmlns:a16="http://schemas.microsoft.com/office/drawing/2014/main" id="{69B1BB6A-AD06-77B7-2F7F-8654ED2044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21200" y="2413000"/>
            <a:ext cx="609600" cy="609600"/>
          </a:xfrm>
          <a:prstGeom prst="rect">
            <a:avLst/>
          </a:prstGeom>
        </p:spPr>
      </p:pic>
      <p:sp>
        <p:nvSpPr>
          <p:cNvPr id="36" name="AutoShape 12">
            <a:extLst>
              <a:ext uri="{FF2B5EF4-FFF2-40B4-BE49-F238E27FC236}">
                <a16:creationId xmlns:a16="http://schemas.microsoft.com/office/drawing/2014/main" id="{295E2BCB-EF99-0FD1-1A31-4EEBCFFBB2B4}"/>
              </a:ext>
            </a:extLst>
          </p:cNvPr>
          <p:cNvSpPr/>
          <p:nvPr/>
        </p:nvSpPr>
        <p:spPr>
          <a:xfrm>
            <a:off x="3683000" y="3111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W4-W8 核心开发</a:t>
            </a:r>
            <a:endParaRPr lang="en-US" sz="1100"/>
          </a:p>
        </p:txBody>
      </p:sp>
      <p:sp>
        <p:nvSpPr>
          <p:cNvPr id="37" name="AutoShape 13">
            <a:extLst>
              <a:ext uri="{FF2B5EF4-FFF2-40B4-BE49-F238E27FC236}">
                <a16:creationId xmlns:a16="http://schemas.microsoft.com/office/drawing/2014/main" id="{38084819-0973-C921-5B69-AFCE1AB05A2D}"/>
              </a:ext>
            </a:extLst>
          </p:cNvPr>
          <p:cNvSpPr/>
          <p:nvPr/>
        </p:nvSpPr>
        <p:spPr>
          <a:xfrm>
            <a:off x="3683000" y="3556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独立完成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音频波形可视化、地图航迹渲染、时间戳列表及文本编辑器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39" name="AutoShape 15">
            <a:extLst>
              <a:ext uri="{FF2B5EF4-FFF2-40B4-BE49-F238E27FC236}">
                <a16:creationId xmlns:a16="http://schemas.microsoft.com/office/drawing/2014/main" id="{78F933DD-E88A-71F9-AA21-FBA39F0B2D67}"/>
              </a:ext>
            </a:extLst>
          </p:cNvPr>
          <p:cNvSpPr/>
          <p:nvPr/>
        </p:nvSpPr>
        <p:spPr>
          <a:xfrm>
            <a:off x="6350000" y="2159000"/>
            <a:ext cx="2540000" cy="3048000"/>
          </a:xfrm>
          <a:prstGeom prst="roundRect">
            <a:avLst>
              <a:gd name="adj" fmla="val 500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0" name="Picture 16">
            <a:extLst>
              <a:ext uri="{FF2B5EF4-FFF2-40B4-BE49-F238E27FC236}">
                <a16:creationId xmlns:a16="http://schemas.microsoft.com/office/drawing/2014/main" id="{3987931B-C3B8-02E7-11C9-86160F73C6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15200" y="2413000"/>
            <a:ext cx="609600" cy="609600"/>
          </a:xfrm>
          <a:prstGeom prst="rect">
            <a:avLst/>
          </a:prstGeom>
        </p:spPr>
      </p:pic>
      <p:sp>
        <p:nvSpPr>
          <p:cNvPr id="41" name="AutoShape 17">
            <a:extLst>
              <a:ext uri="{FF2B5EF4-FFF2-40B4-BE49-F238E27FC236}">
                <a16:creationId xmlns:a16="http://schemas.microsoft.com/office/drawing/2014/main" id="{C2AE50B1-FB11-794A-1E99-E5C8933FC8A4}"/>
              </a:ext>
            </a:extLst>
          </p:cNvPr>
          <p:cNvSpPr/>
          <p:nvPr/>
        </p:nvSpPr>
        <p:spPr>
          <a:xfrm>
            <a:off x="6477000" y="3111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W9-W12 整合联调</a:t>
            </a:r>
            <a:endParaRPr lang="en-US" sz="1100"/>
          </a:p>
        </p:txBody>
      </p:sp>
      <p:sp>
        <p:nvSpPr>
          <p:cNvPr id="42" name="AutoShape 18">
            <a:extLst>
              <a:ext uri="{FF2B5EF4-FFF2-40B4-BE49-F238E27FC236}">
                <a16:creationId xmlns:a16="http://schemas.microsoft.com/office/drawing/2014/main" id="{04309E0E-B2DB-5944-3217-71D2D81BA589}"/>
              </a:ext>
            </a:extLst>
          </p:cNvPr>
          <p:cNvSpPr/>
          <p:nvPr/>
        </p:nvSpPr>
        <p:spPr>
          <a:xfrm>
            <a:off x="6477000" y="3556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annotation-page 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主页面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，实现进度条联动音频与航迹，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对接后端接口并修复Bug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44" name="AutoShape 20">
            <a:extLst>
              <a:ext uri="{FF2B5EF4-FFF2-40B4-BE49-F238E27FC236}">
                <a16:creationId xmlns:a16="http://schemas.microsoft.com/office/drawing/2014/main" id="{7D6AEADE-8A7A-69DB-74DB-84A617C1F577}"/>
              </a:ext>
            </a:extLst>
          </p:cNvPr>
          <p:cNvSpPr/>
          <p:nvPr/>
        </p:nvSpPr>
        <p:spPr>
          <a:xfrm>
            <a:off x="9144000" y="2159000"/>
            <a:ext cx="2540000" cy="3048000"/>
          </a:xfrm>
          <a:prstGeom prst="roundRect">
            <a:avLst>
              <a:gd name="adj" fmla="val 500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5" name="Picture 21">
            <a:extLst>
              <a:ext uri="{FF2B5EF4-FFF2-40B4-BE49-F238E27FC236}">
                <a16:creationId xmlns:a16="http://schemas.microsoft.com/office/drawing/2014/main" id="{84FC18AC-6D6B-2813-E47B-0E62E7C67F4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09200" y="2413000"/>
            <a:ext cx="609600" cy="609600"/>
          </a:xfrm>
          <a:prstGeom prst="rect">
            <a:avLst/>
          </a:prstGeom>
        </p:spPr>
      </p:pic>
      <p:sp>
        <p:nvSpPr>
          <p:cNvPr id="46" name="AutoShape 22">
            <a:extLst>
              <a:ext uri="{FF2B5EF4-FFF2-40B4-BE49-F238E27FC236}">
                <a16:creationId xmlns:a16="http://schemas.microsoft.com/office/drawing/2014/main" id="{45323A60-92F2-9AD2-6A59-9F9F1CC61683}"/>
              </a:ext>
            </a:extLst>
          </p:cNvPr>
          <p:cNvSpPr/>
          <p:nvPr/>
        </p:nvSpPr>
        <p:spPr>
          <a:xfrm>
            <a:off x="9271000" y="3111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W13 结题与交付</a:t>
            </a:r>
            <a:endParaRPr lang="en-US" sz="1100"/>
          </a:p>
        </p:txBody>
      </p:sp>
      <p:sp>
        <p:nvSpPr>
          <p:cNvPr id="47" name="AutoShape 23">
            <a:extLst>
              <a:ext uri="{FF2B5EF4-FFF2-40B4-BE49-F238E27FC236}">
                <a16:creationId xmlns:a16="http://schemas.microsoft.com/office/drawing/2014/main" id="{20109C6B-BA74-A782-6E9A-237E2F7736B2}"/>
              </a:ext>
            </a:extLst>
          </p:cNvPr>
          <p:cNvSpPr/>
          <p:nvPr/>
        </p:nvSpPr>
        <p:spPr>
          <a:xfrm>
            <a:off x="9271000" y="3556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前端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项目打包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Build，撰写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课程实践报告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并准备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答辩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48" name="TextBox 11">
            <a:extLst>
              <a:ext uri="{FF2B5EF4-FFF2-40B4-BE49-F238E27FC236}">
                <a16:creationId xmlns:a16="http://schemas.microsoft.com/office/drawing/2014/main" id="{51554F7E-AF2F-ADD6-7C13-8FE5FEA265D5}"/>
              </a:ext>
            </a:extLst>
          </p:cNvPr>
          <p:cNvSpPr txBox="1"/>
          <p:nvPr/>
        </p:nvSpPr>
        <p:spPr>
          <a:xfrm>
            <a:off x="91958" y="79263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项目总体计划</a:t>
            </a:r>
          </a:p>
        </p:txBody>
      </p:sp>
    </p:spTree>
    <p:extLst>
      <p:ext uri="{BB962C8B-B14F-4D97-AF65-F5344CB8AC3E}">
        <p14:creationId xmlns:p14="http://schemas.microsoft.com/office/powerpoint/2010/main" val="13329495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/>
      <p:bldP spid="32" grpId="0"/>
      <p:bldP spid="34" grpId="0" animBg="1"/>
      <p:bldP spid="36" grpId="0"/>
      <p:bldP spid="37" grpId="0"/>
      <p:bldP spid="39" grpId="0" animBg="1"/>
      <p:bldP spid="41" grpId="0"/>
      <p:bldP spid="42" grpId="0"/>
      <p:bldP spid="44" grpId="0" animBg="1"/>
      <p:bldP spid="46" grpId="0"/>
      <p:bldP spid="4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en-US" sz="5600" dirty="0">
                <a:latin typeface="微软雅黑" pitchFamily="34" charset="-122"/>
                <a:ea typeface="微软雅黑" pitchFamily="34" charset="-122"/>
              </a:rPr>
              <a:t>项目的组织结构</a:t>
            </a:r>
            <a:endParaRPr lang="zh-CN" altLang="en-US" sz="56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733826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1B694-3726-DB82-4E6C-BCE7F84F2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>
            <a:extLst>
              <a:ext uri="{FF2B5EF4-FFF2-40B4-BE49-F238E27FC236}">
                <a16:creationId xmlns:a16="http://schemas.microsoft.com/office/drawing/2014/main" id="{3C0F2BD3-881A-A735-ABB2-64119E6032B2}"/>
              </a:ext>
            </a:extLst>
          </p:cNvPr>
          <p:cNvSpPr txBox="1"/>
          <p:nvPr/>
        </p:nvSpPr>
        <p:spPr>
          <a:xfrm>
            <a:off x="335447" y="152331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项目组织架构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1A98E16B-19B6-43B7-E67E-9002A680AA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352486" y="895405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>
            <a:extLst>
              <a:ext uri="{FF2B5EF4-FFF2-40B4-BE49-F238E27FC236}">
                <a16:creationId xmlns:a16="http://schemas.microsoft.com/office/drawing/2014/main" id="{865A7FB1-2857-EC75-390F-2044C9C49790}"/>
              </a:ext>
            </a:extLst>
          </p:cNvPr>
          <p:cNvSpPr/>
          <p:nvPr/>
        </p:nvSpPr>
        <p:spPr>
          <a:xfrm>
            <a:off x="686395" y="1651794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AFA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C20061F5-D92D-665A-4F50-1ADB148E8C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32595" y="1905794"/>
            <a:ext cx="609600" cy="609600"/>
          </a:xfrm>
          <a:prstGeom prst="rect">
            <a:avLst/>
          </a:prstGeom>
        </p:spPr>
      </p:pic>
      <p:sp>
        <p:nvSpPr>
          <p:cNvPr id="7" name="AutoShape 6">
            <a:extLst>
              <a:ext uri="{FF2B5EF4-FFF2-40B4-BE49-F238E27FC236}">
                <a16:creationId xmlns:a16="http://schemas.microsoft.com/office/drawing/2014/main" id="{1E10C524-B98F-6F24-BE64-B7FCD19A52DD}"/>
              </a:ext>
            </a:extLst>
          </p:cNvPr>
          <p:cNvSpPr/>
          <p:nvPr/>
        </p:nvSpPr>
        <p:spPr>
          <a:xfrm>
            <a:off x="813395" y="2667794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冷亚航</a:t>
            </a:r>
            <a:endParaRPr lang="en-US" sz="1100"/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32374906-1085-C31A-64B7-AD47E8D1728E}"/>
              </a:ext>
            </a:extLst>
          </p:cNvPr>
          <p:cNvSpPr/>
          <p:nvPr/>
        </p:nvSpPr>
        <p:spPr>
          <a:xfrm>
            <a:off x="813395" y="3112294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UI统筹与交付</a:t>
            </a:r>
            <a:endParaRPr lang="en-US" sz="1100"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2AA6F08B-C15E-F457-4370-CDCB53F5CF78}"/>
              </a:ext>
            </a:extLst>
          </p:cNvPr>
          <p:cNvSpPr/>
          <p:nvPr/>
        </p:nvSpPr>
        <p:spPr>
          <a:xfrm>
            <a:off x="876895" y="3556794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负责前期需求分析、UI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UX原型设计与排版确认，及后期文档编写与结题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1" name="AutoShape 9">
            <a:extLst>
              <a:ext uri="{FF2B5EF4-FFF2-40B4-BE49-F238E27FC236}">
                <a16:creationId xmlns:a16="http://schemas.microsoft.com/office/drawing/2014/main" id="{EC6C60AE-1779-AE2D-4E01-37556A10ADF3}"/>
              </a:ext>
            </a:extLst>
          </p:cNvPr>
          <p:cNvSpPr/>
          <p:nvPr/>
        </p:nvSpPr>
        <p:spPr>
          <a:xfrm>
            <a:off x="4369395" y="1651794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AFA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10">
            <a:extLst>
              <a:ext uri="{FF2B5EF4-FFF2-40B4-BE49-F238E27FC236}">
                <a16:creationId xmlns:a16="http://schemas.microsoft.com/office/drawing/2014/main" id="{A33EAE5B-C01C-B64D-0871-75DE8C124A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595" y="1905794"/>
            <a:ext cx="609600" cy="609600"/>
          </a:xfrm>
          <a:prstGeom prst="rect">
            <a:avLst/>
          </a:prstGeom>
        </p:spPr>
      </p:pic>
      <p:sp>
        <p:nvSpPr>
          <p:cNvPr id="22" name="AutoShape 11">
            <a:extLst>
              <a:ext uri="{FF2B5EF4-FFF2-40B4-BE49-F238E27FC236}">
                <a16:creationId xmlns:a16="http://schemas.microsoft.com/office/drawing/2014/main" id="{C8A700DB-A49F-1349-BA81-7E24C926EC5F}"/>
              </a:ext>
            </a:extLst>
          </p:cNvPr>
          <p:cNvSpPr/>
          <p:nvPr/>
        </p:nvSpPr>
        <p:spPr>
          <a:xfrm>
            <a:off x="4496395" y="2667794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陈朵</a:t>
            </a:r>
            <a:endParaRPr lang="en-US" sz="1100"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17568246-5A4D-7196-CDBE-A094EFF35688}"/>
              </a:ext>
            </a:extLst>
          </p:cNvPr>
          <p:cNvSpPr/>
          <p:nvPr/>
        </p:nvSpPr>
        <p:spPr>
          <a:xfrm>
            <a:off x="4496395" y="3112294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架构基建与主页整合</a:t>
            </a:r>
            <a:endParaRPr lang="en-US" sz="1100"/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A6851D26-2F55-63BB-7AF8-AC2AFEB99D47}"/>
              </a:ext>
            </a:extLst>
          </p:cNvPr>
          <p:cNvSpPr/>
          <p:nvPr/>
        </p:nvSpPr>
        <p:spPr>
          <a:xfrm>
            <a:off x="4559895" y="3556794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负责前端项目初始化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TypeScript环境配置，及核心主页面的状态同步与API联调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28D55739-37E0-DE82-AD4A-28D9B35FCF7B}"/>
              </a:ext>
            </a:extLst>
          </p:cNvPr>
          <p:cNvSpPr/>
          <p:nvPr/>
        </p:nvSpPr>
        <p:spPr>
          <a:xfrm>
            <a:off x="8052394" y="1651794"/>
            <a:ext cx="3329385" cy="3556000"/>
          </a:xfrm>
          <a:prstGeom prst="roundRect">
            <a:avLst>
              <a:gd name="adj" fmla="val 3846"/>
            </a:avLst>
          </a:prstGeom>
          <a:solidFill>
            <a:srgbClr val="FAFA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15">
            <a:extLst>
              <a:ext uri="{FF2B5EF4-FFF2-40B4-BE49-F238E27FC236}">
                <a16:creationId xmlns:a16="http://schemas.microsoft.com/office/drawing/2014/main" id="{F908D04B-5C1D-3C93-FFB4-D96F56C35C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8595" y="1905794"/>
            <a:ext cx="609600" cy="609600"/>
          </a:xfrm>
          <a:prstGeom prst="rect">
            <a:avLst/>
          </a:prstGeom>
        </p:spPr>
      </p:pic>
      <p:sp>
        <p:nvSpPr>
          <p:cNvPr id="27" name="AutoShape 16">
            <a:extLst>
              <a:ext uri="{FF2B5EF4-FFF2-40B4-BE49-F238E27FC236}">
                <a16:creationId xmlns:a16="http://schemas.microsoft.com/office/drawing/2014/main" id="{4B13E3D1-4249-3081-3433-30F4B63C9D61}"/>
              </a:ext>
            </a:extLst>
          </p:cNvPr>
          <p:cNvSpPr/>
          <p:nvPr/>
        </p:nvSpPr>
        <p:spPr>
          <a:xfrm>
            <a:off x="8179395" y="2667794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刘泽萍</a:t>
            </a:r>
            <a:endParaRPr lang="en-US" sz="1100"/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A1B96CE7-A084-B032-3B63-79BBAE14DCA5}"/>
              </a:ext>
            </a:extLst>
          </p:cNvPr>
          <p:cNvSpPr/>
          <p:nvPr/>
        </p:nvSpPr>
        <p:spPr>
          <a:xfrm>
            <a:off x="8179395" y="3112294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可视化组件攻坚</a:t>
            </a:r>
            <a:endParaRPr lang="en-US" sz="1100"/>
          </a:p>
        </p:txBody>
      </p:sp>
      <p:sp>
        <p:nvSpPr>
          <p:cNvPr id="29" name="AutoShape 18">
            <a:extLst>
              <a:ext uri="{FF2B5EF4-FFF2-40B4-BE49-F238E27FC236}">
                <a16:creationId xmlns:a16="http://schemas.microsoft.com/office/drawing/2014/main" id="{2743AE3E-ED86-52F7-4724-FB31A960CD23}"/>
              </a:ext>
            </a:extLst>
          </p:cNvPr>
          <p:cNvSpPr/>
          <p:nvPr/>
        </p:nvSpPr>
        <p:spPr>
          <a:xfrm>
            <a:off x="8160407" y="3556794"/>
            <a:ext cx="3157873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zh-CN" altLang="en-US" sz="1600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负责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高难度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独立组件，WaveSurfe</a:t>
            </a:r>
            <a:r>
              <a:rPr lang="en-US" altLang="zh-CN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r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音频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文本编辑器开发，及Leaflet地图与飞机打点高亮处理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30" name="AutoShape 19">
            <a:extLst>
              <a:ext uri="{FF2B5EF4-FFF2-40B4-BE49-F238E27FC236}">
                <a16:creationId xmlns:a16="http://schemas.microsoft.com/office/drawing/2014/main" id="{BD6BEA5E-85D5-481B-42FE-5BA429C2A5AD}"/>
              </a:ext>
            </a:extLst>
          </p:cNvPr>
          <p:cNvSpPr/>
          <p:nvPr/>
        </p:nvSpPr>
        <p:spPr>
          <a:xfrm>
            <a:off x="686395" y="5842794"/>
            <a:ext cx="10668000" cy="25400"/>
          </a:xfrm>
          <a:prstGeom prst="roundRect">
            <a:avLst>
              <a:gd name="adj" fmla="val 0"/>
            </a:avLst>
          </a:prstGeom>
          <a:solidFill>
            <a:srgbClr val="8B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55826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FC572-EF43-2EAC-574A-448445AC6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A5E301D-E2B6-8370-EEE0-F96943BC8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519A348-1FE3-1F92-F24E-6CA3181D15DF}"/>
              </a:ext>
            </a:extLst>
          </p:cNvPr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en-US" sz="5600" dirty="0" err="1">
                <a:latin typeface="微软雅黑" pitchFamily="34" charset="-122"/>
                <a:ea typeface="微软雅黑" pitchFamily="34" charset="-122"/>
              </a:rPr>
              <a:t>项目</a:t>
            </a:r>
            <a:r>
              <a:rPr lang="zh-CN" altLang="en-US" sz="5600" dirty="0">
                <a:latin typeface="微软雅黑" pitchFamily="34" charset="-122"/>
                <a:ea typeface="微软雅黑" pitchFamily="34" charset="-122"/>
              </a:rPr>
              <a:t>风险点和对策</a:t>
            </a:r>
          </a:p>
          <a:p>
            <a:pPr>
              <a:lnSpc>
                <a:spcPct val="150000"/>
              </a:lnSpc>
            </a:pP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882689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C15D4-5359-96B5-0678-0795F3308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>
            <a:extLst>
              <a:ext uri="{FF2B5EF4-FFF2-40B4-BE49-F238E27FC236}">
                <a16:creationId xmlns:a16="http://schemas.microsoft.com/office/drawing/2014/main" id="{053B6581-2E38-72E8-AD9E-DDEFAD53CD2C}"/>
              </a:ext>
            </a:extLst>
          </p:cNvPr>
          <p:cNvSpPr txBox="1"/>
          <p:nvPr/>
        </p:nvSpPr>
        <p:spPr>
          <a:xfrm>
            <a:off x="335447" y="152331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项目组织架构</a:t>
            </a: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914E5F3D-0484-0C46-67C7-4EE9866739C1}"/>
              </a:ext>
            </a:extLst>
          </p:cNvPr>
          <p:cNvSpPr/>
          <p:nvPr/>
        </p:nvSpPr>
        <p:spPr>
          <a:xfrm>
            <a:off x="830187" y="1424682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56F9A0-1376-7870-D1D7-281CD893D4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0667" y="1830586"/>
            <a:ext cx="406400" cy="406400"/>
          </a:xfrm>
          <a:prstGeom prst="rect">
            <a:avLst/>
          </a:prstGeom>
        </p:spPr>
      </p:pic>
      <p:sp>
        <p:nvSpPr>
          <p:cNvPr id="8" name="AutoShape 6">
            <a:extLst>
              <a:ext uri="{FF2B5EF4-FFF2-40B4-BE49-F238E27FC236}">
                <a16:creationId xmlns:a16="http://schemas.microsoft.com/office/drawing/2014/main" id="{EA610977-BBE6-4280-FCF5-067216D45959}"/>
              </a:ext>
            </a:extLst>
          </p:cNvPr>
          <p:cNvSpPr/>
          <p:nvPr/>
        </p:nvSpPr>
        <p:spPr>
          <a:xfrm>
            <a:off x="1528687" y="1551682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风险一</a:t>
            </a:r>
            <a:r>
              <a:rPr lang="en-US" sz="2000" b="1" i="0" u="none" strike="noStrike" dirty="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zh-CN" sz="2000" b="1" dirty="0">
                <a:solidFill>
                  <a:srgbClr val="8B0000"/>
                </a:solidFill>
                <a:latin typeface="Noto Sans SC"/>
                <a:ea typeface="Noto Sans SC"/>
              </a:rPr>
              <a:t>跨组</a:t>
            </a:r>
            <a:r>
              <a:rPr lang="en-US" altLang="zh-CN" sz="2000" b="1" dirty="0">
                <a:solidFill>
                  <a:srgbClr val="8B0000"/>
                </a:solidFill>
                <a:latin typeface="Noto Sans SC"/>
                <a:ea typeface="Noto Sans SC"/>
              </a:rPr>
              <a:t>“</a:t>
            </a:r>
            <a:r>
              <a:rPr lang="zh-CN" altLang="zh-CN" sz="2000" b="1" dirty="0">
                <a:solidFill>
                  <a:srgbClr val="8B0000"/>
                </a:solidFill>
                <a:latin typeface="Noto Sans SC"/>
                <a:ea typeface="Noto Sans SC"/>
              </a:rPr>
              <a:t>端口对齐</a:t>
            </a:r>
            <a:r>
              <a:rPr lang="en-US" altLang="zh-CN" sz="2000" b="1" dirty="0">
                <a:solidFill>
                  <a:srgbClr val="8B0000"/>
                </a:solidFill>
                <a:latin typeface="Noto Sans SC"/>
                <a:ea typeface="Noto Sans SC"/>
              </a:rPr>
              <a:t>”</a:t>
            </a:r>
            <a:r>
              <a:rPr lang="zh-CN" altLang="zh-CN" sz="2000" b="1" dirty="0">
                <a:solidFill>
                  <a:srgbClr val="8B0000"/>
                </a:solidFill>
                <a:latin typeface="Noto Sans SC"/>
                <a:ea typeface="Noto Sans SC"/>
              </a:rPr>
              <a:t>与接口契约管理</a:t>
            </a:r>
            <a:r>
              <a:rPr lang="zh-CN" altLang="en-US" sz="2000" b="1" dirty="0">
                <a:solidFill>
                  <a:srgbClr val="8B0000"/>
                </a:solidFill>
                <a:latin typeface="Noto Sans SC"/>
                <a:ea typeface="Noto Sans SC"/>
              </a:rPr>
              <a:t>风险</a:t>
            </a:r>
            <a:endParaRPr lang="en-US" sz="2000" b="1" dirty="0">
              <a:solidFill>
                <a:srgbClr val="8B0000"/>
              </a:solidFill>
              <a:latin typeface="Noto Sans SC"/>
              <a:ea typeface="Noto Sans SC"/>
            </a:endParaRPr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9AF9A2F6-8D43-BEC2-8B5F-5356613806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84787" y="1856482"/>
            <a:ext cx="304800" cy="304800"/>
          </a:xfrm>
          <a:prstGeom prst="rect">
            <a:avLst/>
          </a:prstGeom>
        </p:spPr>
      </p:pic>
      <p:sp>
        <p:nvSpPr>
          <p:cNvPr id="13" name="AutoShape 8">
            <a:extLst>
              <a:ext uri="{FF2B5EF4-FFF2-40B4-BE49-F238E27FC236}">
                <a16:creationId xmlns:a16="http://schemas.microsoft.com/office/drawing/2014/main" id="{45A7A15D-AC55-E94A-02E2-6DADA5BAAD38}"/>
              </a:ext>
            </a:extLst>
          </p:cNvPr>
          <p:cNvSpPr/>
          <p:nvPr/>
        </p:nvSpPr>
        <p:spPr>
          <a:xfrm>
            <a:off x="6418187" y="1424682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228B22">
              <a:alpha val="5000"/>
            </a:srgbClr>
          </a:solidFill>
          <a:ln cap="flat" cmpd="sng">
            <a:solidFill>
              <a:srgbClr val="10721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38E770AA-AC9D-7893-52AF-289C6FEEBB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8687" y="1830586"/>
            <a:ext cx="406400" cy="406400"/>
          </a:xfrm>
          <a:prstGeom prst="rect">
            <a:avLst/>
          </a:prstGeom>
        </p:spPr>
      </p:pic>
      <p:sp>
        <p:nvSpPr>
          <p:cNvPr id="15" name="AutoShape 10">
            <a:extLst>
              <a:ext uri="{FF2B5EF4-FFF2-40B4-BE49-F238E27FC236}">
                <a16:creationId xmlns:a16="http://schemas.microsoft.com/office/drawing/2014/main" id="{9FAD79B2-F76E-542C-EE01-B7FF6284BA70}"/>
              </a:ext>
            </a:extLst>
          </p:cNvPr>
          <p:cNvSpPr/>
          <p:nvPr/>
        </p:nvSpPr>
        <p:spPr>
          <a:xfrm>
            <a:off x="7116687" y="1551682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对策</a:t>
            </a:r>
            <a:r>
              <a:rPr 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zh-CN" sz="18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在第</a:t>
            </a:r>
            <a:r>
              <a:rPr lang="en-US" altLang="zh-CN" sz="18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2-3</a:t>
            </a:r>
            <a:r>
              <a:rPr lang="zh-CN" altLang="zh-CN" sz="18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周，</a:t>
            </a:r>
            <a:r>
              <a:rPr lang="en-US" altLang="zh-CN" sz="18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A-4 </a:t>
            </a:r>
            <a:r>
              <a:rPr lang="zh-CN" altLang="zh-CN" sz="18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组必须主动联合</a:t>
            </a:r>
            <a:r>
              <a:rPr lang="en-US" altLang="zh-CN" sz="18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 A-5 </a:t>
            </a:r>
            <a:r>
              <a:rPr lang="zh-CN" altLang="zh-CN" sz="18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组，使用</a:t>
            </a:r>
            <a:r>
              <a:rPr lang="en-US" altLang="zh-CN" sz="18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 Swagger </a:t>
            </a:r>
            <a:r>
              <a:rPr lang="zh-CN" altLang="zh-CN" sz="18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或</a:t>
            </a:r>
            <a:r>
              <a:rPr lang="en-US" altLang="zh-CN" sz="18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altLang="zh-CN" sz="1800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Apifox</a:t>
            </a:r>
            <a:r>
              <a:rPr lang="en-US" altLang="zh-CN" sz="18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zh-CN" altLang="zh-CN" sz="18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制定严格的</a:t>
            </a:r>
            <a:r>
              <a:rPr lang="en-US" altLang="zh-CN" sz="18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 API </a:t>
            </a:r>
            <a:r>
              <a:rPr lang="zh-CN" altLang="zh-CN" sz="180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接口文档</a:t>
            </a:r>
            <a:endParaRPr lang="en-US" sz="1800" dirty="0">
              <a:solidFill>
                <a:srgbClr val="33333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9EE7285A-4824-FA6F-1D59-8BA258068231}"/>
              </a:ext>
            </a:extLst>
          </p:cNvPr>
          <p:cNvSpPr/>
          <p:nvPr/>
        </p:nvSpPr>
        <p:spPr>
          <a:xfrm>
            <a:off x="830187" y="2885182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  <p:pic>
        <p:nvPicPr>
          <p:cNvPr id="17" name="Picture 12">
            <a:extLst>
              <a:ext uri="{FF2B5EF4-FFF2-40B4-BE49-F238E27FC236}">
                <a16:creationId xmlns:a16="http://schemas.microsoft.com/office/drawing/2014/main" id="{A0ADB840-7C26-B8EA-9894-63F9136CF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0667" y="3291086"/>
            <a:ext cx="406400" cy="406400"/>
          </a:xfrm>
          <a:prstGeom prst="rect">
            <a:avLst/>
          </a:prstGeom>
        </p:spPr>
      </p:pic>
      <p:sp>
        <p:nvSpPr>
          <p:cNvPr id="18" name="AutoShape 13">
            <a:extLst>
              <a:ext uri="{FF2B5EF4-FFF2-40B4-BE49-F238E27FC236}">
                <a16:creationId xmlns:a16="http://schemas.microsoft.com/office/drawing/2014/main" id="{2D76D049-3D9E-4513-626C-631470F33258}"/>
              </a:ext>
            </a:extLst>
          </p:cNvPr>
          <p:cNvSpPr/>
          <p:nvPr/>
        </p:nvSpPr>
        <p:spPr>
          <a:xfrm>
            <a:off x="1528687" y="3012182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风险二：跨模块时空数据强绑定易异常</a:t>
            </a:r>
            <a:endParaRPr lang="en-US" sz="1200" dirty="0"/>
          </a:p>
        </p:txBody>
      </p:sp>
      <p:pic>
        <p:nvPicPr>
          <p:cNvPr id="19" name="Picture 14">
            <a:extLst>
              <a:ext uri="{FF2B5EF4-FFF2-40B4-BE49-F238E27FC236}">
                <a16:creationId xmlns:a16="http://schemas.microsoft.com/office/drawing/2014/main" id="{F640174A-515D-632C-8EA3-747F86F6F2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84787" y="3316982"/>
            <a:ext cx="304800" cy="304800"/>
          </a:xfrm>
          <a:prstGeom prst="rect">
            <a:avLst/>
          </a:prstGeom>
        </p:spPr>
      </p:pic>
      <p:sp>
        <p:nvSpPr>
          <p:cNvPr id="20" name="AutoShape 15">
            <a:extLst>
              <a:ext uri="{FF2B5EF4-FFF2-40B4-BE49-F238E27FC236}">
                <a16:creationId xmlns:a16="http://schemas.microsoft.com/office/drawing/2014/main" id="{F978484C-B2E4-DA3C-5B97-1DC2966E9C45}"/>
              </a:ext>
            </a:extLst>
          </p:cNvPr>
          <p:cNvSpPr/>
          <p:nvPr/>
        </p:nvSpPr>
        <p:spPr>
          <a:xfrm>
            <a:off x="6418187" y="2885182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228B22">
              <a:alpha val="5000"/>
            </a:srgbClr>
          </a:solidFill>
          <a:ln cap="flat" cmpd="sng">
            <a:solidFill>
              <a:srgbClr val="10721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16">
            <a:extLst>
              <a:ext uri="{FF2B5EF4-FFF2-40B4-BE49-F238E27FC236}">
                <a16:creationId xmlns:a16="http://schemas.microsoft.com/office/drawing/2014/main" id="{0CDD6122-1EE6-0983-74AE-7FF1BC495C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8687" y="3291086"/>
            <a:ext cx="406400" cy="406400"/>
          </a:xfrm>
          <a:prstGeom prst="rect">
            <a:avLst/>
          </a:prstGeom>
        </p:spPr>
      </p:pic>
      <p:sp>
        <p:nvSpPr>
          <p:cNvPr id="32" name="AutoShape 17">
            <a:extLst>
              <a:ext uri="{FF2B5EF4-FFF2-40B4-BE49-F238E27FC236}">
                <a16:creationId xmlns:a16="http://schemas.microsoft.com/office/drawing/2014/main" id="{1D0DBE9D-24B7-A68F-A31D-FDA883F0CFEA}"/>
              </a:ext>
            </a:extLst>
          </p:cNvPr>
          <p:cNvSpPr/>
          <p:nvPr/>
        </p:nvSpPr>
        <p:spPr>
          <a:xfrm>
            <a:off x="7116687" y="3012182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对策：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全面引入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TypeScript 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进行严格静态类型约束，利用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React Context 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构建全局唯一数据源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33" name="AutoShape 18">
            <a:extLst>
              <a:ext uri="{FF2B5EF4-FFF2-40B4-BE49-F238E27FC236}">
                <a16:creationId xmlns:a16="http://schemas.microsoft.com/office/drawing/2014/main" id="{AE5B461B-0714-7D90-F741-CC2404DBF3E8}"/>
              </a:ext>
            </a:extLst>
          </p:cNvPr>
          <p:cNvSpPr/>
          <p:nvPr/>
        </p:nvSpPr>
        <p:spPr>
          <a:xfrm>
            <a:off x="830187" y="4345682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  <p:pic>
        <p:nvPicPr>
          <p:cNvPr id="34" name="Picture 19">
            <a:extLst>
              <a:ext uri="{FF2B5EF4-FFF2-40B4-BE49-F238E27FC236}">
                <a16:creationId xmlns:a16="http://schemas.microsoft.com/office/drawing/2014/main" id="{2E24D178-8D47-784A-F69E-16D35D4A9F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0667" y="4751586"/>
            <a:ext cx="406400" cy="406400"/>
          </a:xfrm>
          <a:prstGeom prst="rect">
            <a:avLst/>
          </a:prstGeom>
        </p:spPr>
      </p:pic>
      <p:sp>
        <p:nvSpPr>
          <p:cNvPr id="35" name="AutoShape 20">
            <a:extLst>
              <a:ext uri="{FF2B5EF4-FFF2-40B4-BE49-F238E27FC236}">
                <a16:creationId xmlns:a16="http://schemas.microsoft.com/office/drawing/2014/main" id="{0D2CE570-48D5-B30B-7994-3BF55E57A4B0}"/>
              </a:ext>
            </a:extLst>
          </p:cNvPr>
          <p:cNvSpPr/>
          <p:nvPr/>
        </p:nvSpPr>
        <p:spPr>
          <a:xfrm>
            <a:off x="1528687" y="4472682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风险三：前后端分离导致数据契约不一致</a:t>
            </a:r>
            <a:endParaRPr lang="en-US" sz="1200" dirty="0"/>
          </a:p>
        </p:txBody>
      </p:sp>
      <p:pic>
        <p:nvPicPr>
          <p:cNvPr id="36" name="Picture 21">
            <a:extLst>
              <a:ext uri="{FF2B5EF4-FFF2-40B4-BE49-F238E27FC236}">
                <a16:creationId xmlns:a16="http://schemas.microsoft.com/office/drawing/2014/main" id="{DA7DAAC6-C7C3-AE25-47BA-2440FF73F8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84787" y="4777482"/>
            <a:ext cx="304800" cy="304800"/>
          </a:xfrm>
          <a:prstGeom prst="rect">
            <a:avLst/>
          </a:prstGeom>
        </p:spPr>
      </p:pic>
      <p:sp>
        <p:nvSpPr>
          <p:cNvPr id="37" name="AutoShape 22">
            <a:extLst>
              <a:ext uri="{FF2B5EF4-FFF2-40B4-BE49-F238E27FC236}">
                <a16:creationId xmlns:a16="http://schemas.microsoft.com/office/drawing/2014/main" id="{C527770E-8A21-2F1E-1971-8D462D0B611D}"/>
              </a:ext>
            </a:extLst>
          </p:cNvPr>
          <p:cNvSpPr/>
          <p:nvPr/>
        </p:nvSpPr>
        <p:spPr>
          <a:xfrm>
            <a:off x="6418187" y="4345682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228B22">
              <a:alpha val="5000"/>
            </a:srgbClr>
          </a:solidFill>
          <a:ln cap="flat" cmpd="sng">
            <a:solidFill>
              <a:srgbClr val="10721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8" name="Picture 23">
            <a:extLst>
              <a:ext uri="{FF2B5EF4-FFF2-40B4-BE49-F238E27FC236}">
                <a16:creationId xmlns:a16="http://schemas.microsoft.com/office/drawing/2014/main" id="{1FA33459-85FA-5D1C-5226-252D7953BB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8687" y="4751586"/>
            <a:ext cx="406400" cy="406400"/>
          </a:xfrm>
          <a:prstGeom prst="rect">
            <a:avLst/>
          </a:prstGeom>
        </p:spPr>
      </p:pic>
      <p:sp>
        <p:nvSpPr>
          <p:cNvPr id="39" name="AutoShape 24">
            <a:extLst>
              <a:ext uri="{FF2B5EF4-FFF2-40B4-BE49-F238E27FC236}">
                <a16:creationId xmlns:a16="http://schemas.microsoft.com/office/drawing/2014/main" id="{8E2DEDA0-9D63-49C2-5925-C8E8B02C5F56}"/>
              </a:ext>
            </a:extLst>
          </p:cNvPr>
          <p:cNvSpPr/>
          <p:nvPr/>
        </p:nvSpPr>
        <p:spPr>
          <a:xfrm>
            <a:off x="7116687" y="4472682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对策：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在W4阶段提前与后端对齐 Swagger API 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格式，并建立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Mock 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数据独立测试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40" name="AutoShape 25">
            <a:extLst>
              <a:ext uri="{FF2B5EF4-FFF2-40B4-BE49-F238E27FC236}">
                <a16:creationId xmlns:a16="http://schemas.microsoft.com/office/drawing/2014/main" id="{CE0702F3-9907-C74D-C4C0-41985306B92C}"/>
              </a:ext>
            </a:extLst>
          </p:cNvPr>
          <p:cNvSpPr/>
          <p:nvPr/>
        </p:nvSpPr>
        <p:spPr>
          <a:xfrm>
            <a:off x="830187" y="5996682"/>
            <a:ext cx="10668000" cy="25400"/>
          </a:xfrm>
          <a:prstGeom prst="roundRect">
            <a:avLst>
              <a:gd name="adj" fmla="val 0"/>
            </a:avLst>
          </a:prstGeom>
          <a:solidFill>
            <a:srgbClr val="8B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113921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/>
      <p:bldP spid="20" grpId="0" animBg="1"/>
      <p:bldP spid="32" grpId="0"/>
      <p:bldP spid="37" grpId="0" animBg="1"/>
      <p:bldP spid="3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713F4-1507-45FC-1B19-38692B45A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529ADF2-91D5-A7CF-47DC-23C72617A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851A45A-CD90-4B56-9A58-8E3117C7348F}"/>
              </a:ext>
            </a:extLst>
          </p:cNvPr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en-US" sz="5600" dirty="0" err="1">
                <a:latin typeface="微软雅黑" pitchFamily="34" charset="-122"/>
                <a:ea typeface="微软雅黑" pitchFamily="34" charset="-122"/>
              </a:rPr>
              <a:t>项目</a:t>
            </a:r>
            <a:r>
              <a:rPr lang="zh-CN" altLang="en-US" sz="5600" dirty="0">
                <a:latin typeface="微软雅黑" pitchFamily="34" charset="-122"/>
                <a:ea typeface="微软雅黑" pitchFamily="34" charset="-122"/>
              </a:rPr>
              <a:t>沟通机制</a:t>
            </a:r>
          </a:p>
          <a:p>
            <a:pPr>
              <a:lnSpc>
                <a:spcPct val="150000"/>
              </a:lnSpc>
            </a:pP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7235311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0BA00-AC80-A998-900C-95BC6E9E5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>
            <a:extLst>
              <a:ext uri="{FF2B5EF4-FFF2-40B4-BE49-F238E27FC236}">
                <a16:creationId xmlns:a16="http://schemas.microsoft.com/office/drawing/2014/main" id="{41D4046E-05CC-B5CD-7300-97AEC30A2EAA}"/>
              </a:ext>
            </a:extLst>
          </p:cNvPr>
          <p:cNvSpPr txBox="1"/>
          <p:nvPr/>
        </p:nvSpPr>
        <p:spPr>
          <a:xfrm>
            <a:off x="335447" y="152331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项目沟通机制</a:t>
            </a:r>
          </a:p>
        </p:txBody>
      </p:sp>
      <p:sp>
        <p:nvSpPr>
          <p:cNvPr id="26" name="Rectangle 32">
            <a:extLst>
              <a:ext uri="{FF2B5EF4-FFF2-40B4-BE49-F238E27FC236}">
                <a16:creationId xmlns:a16="http://schemas.microsoft.com/office/drawing/2014/main" id="{0F0CCBD8-F658-214B-C8DF-815FC8AC9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971" y="1053530"/>
            <a:ext cx="3456384" cy="3024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6688" indent="-166688">
              <a:spcBef>
                <a:spcPct val="20000"/>
              </a:spcBef>
              <a:buFontTx/>
              <a:buChar char="•"/>
            </a:pPr>
            <a:r>
              <a:rPr lang="zh-CN" altLang="en-US" sz="1600" b="1" dirty="0"/>
              <a:t>周会</a:t>
            </a:r>
            <a:endParaRPr lang="en-US" altLang="zh-CN" sz="1600" b="1" dirty="0"/>
          </a:p>
          <a:p>
            <a:pPr lvl="1">
              <a:spcBef>
                <a:spcPct val="50000"/>
              </a:spcBef>
            </a:pPr>
            <a:r>
              <a:rPr lang="zh-CN" altLang="en-US" sz="1600" kern="0" dirty="0">
                <a:latin typeface="+mn-lt"/>
              </a:rPr>
              <a:t>每周三上午</a:t>
            </a:r>
            <a:r>
              <a:rPr lang="en-US" altLang="zh-CN" sz="1600" kern="0" dirty="0">
                <a:latin typeface="+mn-lt"/>
              </a:rPr>
              <a:t>,</a:t>
            </a:r>
            <a:r>
              <a:rPr lang="zh-CN" altLang="en-US" sz="1600" kern="0" dirty="0">
                <a:latin typeface="+mn-lt"/>
              </a:rPr>
              <a:t>周会内容主要包括：</a:t>
            </a:r>
            <a:endParaRPr lang="en-US" altLang="zh-CN" sz="1600" kern="0" dirty="0">
              <a:latin typeface="+mn-lt"/>
            </a:endParaRPr>
          </a:p>
          <a:p>
            <a:pPr marL="742950" lvl="1" indent="-285750">
              <a:spcBef>
                <a:spcPct val="50000"/>
              </a:spcBef>
              <a:buFontTx/>
              <a:buChar char="–"/>
            </a:pPr>
            <a:r>
              <a:rPr lang="zh-CN" altLang="en-US" sz="1600" kern="0" dirty="0">
                <a:latin typeface="+mn-lt"/>
              </a:rPr>
              <a:t>通报进度，下周计划</a:t>
            </a:r>
          </a:p>
          <a:p>
            <a:pPr marL="742950" lvl="1" indent="-285750">
              <a:spcBef>
                <a:spcPct val="50000"/>
              </a:spcBef>
              <a:buFontTx/>
              <a:buChar char="–"/>
            </a:pPr>
            <a:r>
              <a:rPr lang="zh-CN" altLang="en-US" sz="1600" kern="0" dirty="0">
                <a:latin typeface="+mn-lt"/>
              </a:rPr>
              <a:t>讨论问题 </a:t>
            </a:r>
            <a:r>
              <a:rPr lang="en-US" altLang="zh-CN" sz="1600" kern="0" dirty="0">
                <a:latin typeface="+mn-lt"/>
              </a:rPr>
              <a:t>,</a:t>
            </a:r>
            <a:r>
              <a:rPr lang="zh-CN" altLang="en-US" sz="1600" kern="0" dirty="0">
                <a:latin typeface="+mn-lt"/>
              </a:rPr>
              <a:t>风险以及变更</a:t>
            </a:r>
          </a:p>
          <a:p>
            <a:pPr marL="166688" indent="-166688">
              <a:spcBef>
                <a:spcPct val="20000"/>
              </a:spcBef>
              <a:buFontTx/>
              <a:buChar char="•"/>
            </a:pPr>
            <a:r>
              <a:rPr lang="zh-CN" altLang="en-US" sz="1600" b="1" dirty="0"/>
              <a:t>周报 </a:t>
            </a:r>
          </a:p>
          <a:p>
            <a:pPr lvl="1">
              <a:spcBef>
                <a:spcPct val="50000"/>
              </a:spcBef>
            </a:pPr>
            <a:r>
              <a:rPr lang="zh-CN" altLang="en-US" sz="1600" kern="0" dirty="0">
                <a:latin typeface="+mn-lt"/>
              </a:rPr>
              <a:t>每周三提交周报，周报内容包括：</a:t>
            </a:r>
          </a:p>
          <a:p>
            <a:pPr marL="742950" lvl="1" indent="-285750">
              <a:spcBef>
                <a:spcPct val="50000"/>
              </a:spcBef>
              <a:buFontTx/>
              <a:buChar char="–"/>
            </a:pPr>
            <a:r>
              <a:rPr lang="zh-CN" altLang="en-US" sz="1600" kern="0" dirty="0">
                <a:latin typeface="+mn-lt"/>
              </a:rPr>
              <a:t>本周进度</a:t>
            </a:r>
            <a:r>
              <a:rPr lang="en-US" altLang="zh-CN" sz="1600" kern="0" dirty="0">
                <a:latin typeface="+mn-lt"/>
              </a:rPr>
              <a:t>,</a:t>
            </a:r>
            <a:r>
              <a:rPr lang="zh-CN" altLang="en-US" sz="1600" kern="0" dirty="0">
                <a:latin typeface="+mn-lt"/>
              </a:rPr>
              <a:t>下周计划</a:t>
            </a:r>
          </a:p>
          <a:p>
            <a:pPr marL="742950" lvl="1" indent="-285750">
              <a:spcBef>
                <a:spcPct val="50000"/>
              </a:spcBef>
              <a:buFontTx/>
              <a:buChar char="–"/>
            </a:pPr>
            <a:r>
              <a:rPr lang="zh-CN" altLang="en-US" sz="1600" kern="0" dirty="0">
                <a:latin typeface="+mn-lt"/>
              </a:rPr>
              <a:t>主要问题、风险和变更</a:t>
            </a:r>
            <a:endParaRPr lang="en-US" altLang="zh-CN" sz="1600" kern="0" dirty="0">
              <a:latin typeface="+mn-lt"/>
            </a:endParaRPr>
          </a:p>
          <a:p>
            <a:pPr>
              <a:spcBef>
                <a:spcPct val="50000"/>
              </a:spcBef>
            </a:pPr>
            <a:endParaRPr lang="en-US" altLang="zh-CN" sz="1600" kern="0" dirty="0">
              <a:latin typeface="+mn-lt"/>
            </a:endParaRPr>
          </a:p>
        </p:txBody>
      </p:sp>
      <p:sp>
        <p:nvSpPr>
          <p:cNvPr id="27" name="Rectangle 32">
            <a:extLst>
              <a:ext uri="{FF2B5EF4-FFF2-40B4-BE49-F238E27FC236}">
                <a16:creationId xmlns:a16="http://schemas.microsoft.com/office/drawing/2014/main" id="{48B5E142-1DE0-A68B-4E29-28C51939D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9397" y="2169753"/>
            <a:ext cx="7632848" cy="1980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6688" indent="-166688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1600" b="1" dirty="0"/>
              <a:t>项目汇报会</a:t>
            </a:r>
            <a:endParaRPr lang="en-US" altLang="zh-CN" sz="1600" b="1" dirty="0"/>
          </a:p>
          <a:p>
            <a:pPr marL="623888" lvl="1" indent="-166688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1600" kern="0" dirty="0">
                <a:latin typeface="+mn-lt"/>
              </a:rPr>
              <a:t>在完成需要分析、设计、上线准备时召开项目汇报向</a:t>
            </a:r>
            <a:r>
              <a:rPr lang="zh-CN" altLang="en-US" sz="1600" kern="0" dirty="0"/>
              <a:t>老师</a:t>
            </a:r>
            <a:r>
              <a:rPr lang="zh-CN" altLang="en-US" sz="1600" kern="0" dirty="0">
                <a:latin typeface="+mn-lt"/>
              </a:rPr>
              <a:t>汇报项目情况</a:t>
            </a:r>
            <a:endParaRPr lang="en-US" altLang="zh-CN" sz="1600" kern="0" dirty="0">
              <a:latin typeface="+mn-lt"/>
            </a:endParaRPr>
          </a:p>
          <a:p>
            <a:pPr marL="166688" indent="-166688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1600" b="1" dirty="0"/>
              <a:t>项目沟通会</a:t>
            </a:r>
            <a:endParaRPr lang="en-US" altLang="zh-CN" sz="1600" b="1" dirty="0"/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kern="0" dirty="0"/>
              <a:t>遇有变更或重大分歧，则根据情况召开沟通会，参与人员根据讨论内容决定</a:t>
            </a:r>
            <a:endParaRPr lang="en-US" altLang="zh-CN" sz="1600" kern="0" dirty="0"/>
          </a:p>
        </p:txBody>
      </p:sp>
      <p:sp>
        <p:nvSpPr>
          <p:cNvPr id="42" name="TextBox 1">
            <a:extLst>
              <a:ext uri="{FF2B5EF4-FFF2-40B4-BE49-F238E27FC236}">
                <a16:creationId xmlns:a16="http://schemas.microsoft.com/office/drawing/2014/main" id="{6941A031-52D0-A723-5F70-8CF230ED1CD2}"/>
              </a:ext>
            </a:extLst>
          </p:cNvPr>
          <p:cNvSpPr txBox="1"/>
          <p:nvPr/>
        </p:nvSpPr>
        <p:spPr>
          <a:xfrm>
            <a:off x="4369397" y="1053530"/>
            <a:ext cx="691276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ct val="50000"/>
              </a:spcBef>
              <a:buFont typeface="Arial" pitchFamily="34" charset="0"/>
              <a:buChar char="•"/>
            </a:pPr>
            <a:r>
              <a:rPr lang="zh-CN" altLang="en-US" sz="1600" b="1" dirty="0"/>
              <a:t>业务沟通</a:t>
            </a:r>
            <a:endParaRPr lang="en-US" altLang="zh-CN" sz="1600" b="1" dirty="0"/>
          </a:p>
          <a:p>
            <a:pPr marL="742950" lvl="1" indent="-285750">
              <a:spcBef>
                <a:spcPct val="50000"/>
              </a:spcBef>
              <a:buFont typeface="Wingdings" pitchFamily="2" charset="2"/>
              <a:buChar char="ü"/>
            </a:pPr>
            <a:r>
              <a:rPr lang="zh-CN" altLang="en-US" sz="1600" kern="0" dirty="0"/>
              <a:t>安排两到三次管理业务沟通会</a:t>
            </a:r>
            <a:endParaRPr lang="en-US" altLang="zh-CN" sz="1600" kern="0" dirty="0"/>
          </a:p>
          <a:p>
            <a:pPr marL="742950" lvl="1" indent="-285750">
              <a:spcBef>
                <a:spcPct val="50000"/>
              </a:spcBef>
              <a:buFont typeface="Wingdings" pitchFamily="2" charset="2"/>
              <a:buChar char="ü"/>
            </a:pPr>
            <a:r>
              <a:rPr lang="zh-CN" altLang="en-US" sz="1600" kern="0" dirty="0"/>
              <a:t>计划一系列的用户宣传活动，逐步宣传介绍系统</a:t>
            </a:r>
            <a:endParaRPr lang="en-US" altLang="zh-CN" sz="1600" kern="0" dirty="0"/>
          </a:p>
          <a:p>
            <a:endParaRPr lang="zh-CN" altLang="en-US" dirty="0"/>
          </a:p>
        </p:txBody>
      </p:sp>
      <p:sp>
        <p:nvSpPr>
          <p:cNvPr id="43" name="AutoShape 3">
            <a:extLst>
              <a:ext uri="{FF2B5EF4-FFF2-40B4-BE49-F238E27FC236}">
                <a16:creationId xmlns:a16="http://schemas.microsoft.com/office/drawing/2014/main" id="{90365979-5267-7771-6D90-88057F7D308B}"/>
              </a:ext>
            </a:extLst>
          </p:cNvPr>
          <p:cNvSpPr/>
          <p:nvPr/>
        </p:nvSpPr>
        <p:spPr>
          <a:xfrm>
            <a:off x="547334" y="4437906"/>
            <a:ext cx="3302000" cy="1888352"/>
          </a:xfrm>
          <a:prstGeom prst="roundRect">
            <a:avLst>
              <a:gd name="adj" fmla="val 3846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AutoShape 5">
            <a:extLst>
              <a:ext uri="{FF2B5EF4-FFF2-40B4-BE49-F238E27FC236}">
                <a16:creationId xmlns:a16="http://schemas.microsoft.com/office/drawing/2014/main" id="{AE141CC4-730B-DD80-EDF9-6DCB3EDAF298}"/>
              </a:ext>
            </a:extLst>
          </p:cNvPr>
          <p:cNvSpPr/>
          <p:nvPr/>
        </p:nvSpPr>
        <p:spPr>
          <a:xfrm>
            <a:off x="-23093" y="4581922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组内代码同步</a:t>
            </a:r>
            <a:endParaRPr lang="en-US" sz="1100" dirty="0"/>
          </a:p>
        </p:txBody>
      </p:sp>
      <p:sp>
        <p:nvSpPr>
          <p:cNvPr id="46" name="AutoShape 6">
            <a:extLst>
              <a:ext uri="{FF2B5EF4-FFF2-40B4-BE49-F238E27FC236}">
                <a16:creationId xmlns:a16="http://schemas.microsoft.com/office/drawing/2014/main" id="{DF7CC559-5338-5DCF-FC57-A79C0DCA52E8}"/>
              </a:ext>
            </a:extLst>
          </p:cNvPr>
          <p:cNvSpPr/>
          <p:nvPr/>
        </p:nvSpPr>
        <p:spPr>
          <a:xfrm>
            <a:off x="737834" y="4802257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主干合并前进行Code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Review，确保独立开发的可视化组件能顺利整合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47" name="AutoShape 7">
            <a:extLst>
              <a:ext uri="{FF2B5EF4-FFF2-40B4-BE49-F238E27FC236}">
                <a16:creationId xmlns:a16="http://schemas.microsoft.com/office/drawing/2014/main" id="{636174D4-0682-45B9-FBDC-10132DD94647}"/>
              </a:ext>
            </a:extLst>
          </p:cNvPr>
          <p:cNvSpPr/>
          <p:nvPr/>
        </p:nvSpPr>
        <p:spPr>
          <a:xfrm>
            <a:off x="4230334" y="4437906"/>
            <a:ext cx="3302000" cy="1888352"/>
          </a:xfrm>
          <a:prstGeom prst="roundRect">
            <a:avLst>
              <a:gd name="adj" fmla="val 3846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9">
            <a:extLst>
              <a:ext uri="{FF2B5EF4-FFF2-40B4-BE49-F238E27FC236}">
                <a16:creationId xmlns:a16="http://schemas.microsoft.com/office/drawing/2014/main" id="{63A36025-CFAE-8C8C-3051-798D01852C97}"/>
              </a:ext>
            </a:extLst>
          </p:cNvPr>
          <p:cNvSpPr/>
          <p:nvPr/>
        </p:nvSpPr>
        <p:spPr>
          <a:xfrm>
            <a:off x="3659907" y="4581922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跨组接口联调</a:t>
            </a:r>
            <a:endParaRPr lang="en-US" sz="1100"/>
          </a:p>
        </p:txBody>
      </p:sp>
      <p:sp>
        <p:nvSpPr>
          <p:cNvPr id="50" name="AutoShape 10">
            <a:extLst>
              <a:ext uri="{FF2B5EF4-FFF2-40B4-BE49-F238E27FC236}">
                <a16:creationId xmlns:a16="http://schemas.microsoft.com/office/drawing/2014/main" id="{E3787F14-9AB8-3FB7-A379-2A6E0C527FDA}"/>
              </a:ext>
            </a:extLst>
          </p:cNvPr>
          <p:cNvSpPr/>
          <p:nvPr/>
        </p:nvSpPr>
        <p:spPr>
          <a:xfrm>
            <a:off x="4420834" y="4802257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与 A-5 后端模块建立标准 API 对接文档，遇数据结构或跨域问题即刻沟通。</a:t>
            </a:r>
            <a:endParaRPr lang="en-US" sz="1100"/>
          </a:p>
        </p:txBody>
      </p:sp>
      <p:sp>
        <p:nvSpPr>
          <p:cNvPr id="51" name="AutoShape 11">
            <a:extLst>
              <a:ext uri="{FF2B5EF4-FFF2-40B4-BE49-F238E27FC236}">
                <a16:creationId xmlns:a16="http://schemas.microsoft.com/office/drawing/2014/main" id="{D9E2518E-F7D9-9BB8-8B1D-29B92476F1B8}"/>
              </a:ext>
            </a:extLst>
          </p:cNvPr>
          <p:cNvSpPr/>
          <p:nvPr/>
        </p:nvSpPr>
        <p:spPr>
          <a:xfrm>
            <a:off x="7913334" y="4437906"/>
            <a:ext cx="3302000" cy="1888352"/>
          </a:xfrm>
          <a:prstGeom prst="roundRect">
            <a:avLst>
              <a:gd name="adj" fmla="val 3846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AutoShape 13">
            <a:extLst>
              <a:ext uri="{FF2B5EF4-FFF2-40B4-BE49-F238E27FC236}">
                <a16:creationId xmlns:a16="http://schemas.microsoft.com/office/drawing/2014/main" id="{C6329A3A-AFDC-FA7B-23DC-897E5FB5018B}"/>
              </a:ext>
            </a:extLst>
          </p:cNvPr>
          <p:cNvSpPr/>
          <p:nvPr/>
        </p:nvSpPr>
        <p:spPr>
          <a:xfrm>
            <a:off x="7249715" y="4581922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UI需求冻结</a:t>
            </a:r>
            <a:endParaRPr lang="en-US" sz="1100" dirty="0"/>
          </a:p>
        </p:txBody>
      </p:sp>
      <p:sp>
        <p:nvSpPr>
          <p:cNvPr id="54" name="AutoShape 14">
            <a:extLst>
              <a:ext uri="{FF2B5EF4-FFF2-40B4-BE49-F238E27FC236}">
                <a16:creationId xmlns:a16="http://schemas.microsoft.com/office/drawing/2014/main" id="{3793300D-D078-C3F9-E597-2BF4454BE121}"/>
              </a:ext>
            </a:extLst>
          </p:cNvPr>
          <p:cNvSpPr/>
          <p:nvPr/>
        </p:nvSpPr>
        <p:spPr>
          <a:xfrm>
            <a:off x="8103834" y="4802257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界面排版需在前期固化，进入 W9 联调期后冻结大型样式变更，确保交付进度。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95587769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005255" y="3269982"/>
            <a:ext cx="184666" cy="3180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aseline="30000"/>
              <a:t> </a:t>
            </a:r>
            <a:endParaRPr lang="zh-CN" altLang="en-US" dirty="0"/>
          </a:p>
        </p:txBody>
      </p:sp>
      <p:pic>
        <p:nvPicPr>
          <p:cNvPr id="3" name="图片 2" descr="未命名 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83097"/>
            <a:ext cx="12218268" cy="54251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1"/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1"/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2"/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2"/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3"/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3"/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4"/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4"/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NUMBER"/>
  <p:tag name="ID" val="553512"/>
  <p:tag name="MH_ORDER" val="1"/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146"/>
  <p:tag name="MH_LIBRARY" val="CONTENTS"/>
  <p:tag name="MH_TYPE" val="ENTRY"/>
  <p:tag name="ID" val="553512"/>
  <p:tag name="MH_ORDER" val="4"/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solidFill>
            <a:srgbClr val="00B0F0"/>
          </a:solidFill>
          <a:prstDash val="lgDash"/>
          <a:miter lim="800000"/>
        </a:ln>
      </a:spPr>
      <a:bodyPr wrap="square">
        <a:spAutoFit/>
      </a:bodyPr>
      <a:lstStyle>
        <a:defPPr eaLnBrk="1" hangingPunct="1">
          <a:defRPr sz="2800" b="1" dirty="0">
            <a:solidFill>
              <a:srgbClr val="00B0F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6058</TotalTime>
  <Words>751</Words>
  <Application>Microsoft Office PowerPoint</Application>
  <PresentationFormat>自定义</PresentationFormat>
  <Paragraphs>121</Paragraphs>
  <Slides>17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Noto Sans SC</vt:lpstr>
      <vt:lpstr>微软雅黑</vt:lpstr>
      <vt:lpstr>义启萌妹体</vt:lpstr>
      <vt:lpstr>Arial</vt:lpstr>
      <vt:lpstr>Calibri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迅联数字化生态解决模式</dc:title>
  <dc:creator>sunyiwen</dc:creator>
  <cp:lastModifiedBy>office</cp:lastModifiedBy>
  <cp:revision>1635</cp:revision>
  <dcterms:created xsi:type="dcterms:W3CDTF">2014-10-10T10:55:00Z</dcterms:created>
  <dcterms:modified xsi:type="dcterms:W3CDTF">2026-03-21T08:27:14Z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2052-10.1.0.7224</vt:lpwstr>
  </property>
</Properties>
</file>